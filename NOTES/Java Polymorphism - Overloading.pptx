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5" r:id="rId4"/>
    <p:sldId id="257" r:id="rId5"/>
    <p:sldId id="261" r:id="rId6"/>
    <p:sldId id="262" r:id="rId7"/>
    <p:sldId id="263" r:id="rId8"/>
    <p:sldId id="264" r:id="rId9"/>
    <p:sldId id="259"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27-07-2022</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27-07-2022</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68243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u="none" strike="noStrike" dirty="0">
                <a:solidFill>
                  <a:srgbClr val="000000"/>
                </a:solidFill>
                <a:effectLst/>
                <a:latin typeface="Calibri" panose="020F0502020204030204" pitchFamily="34" charset="0"/>
                <a:cs typeface="Calibri" panose="020F0502020204030204" pitchFamily="34" charset="0"/>
              </a:rPr>
              <a:t>Polymorphism</a:t>
            </a: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491449"/>
            <a:ext cx="10515600" cy="5149048"/>
          </a:xfrm>
        </p:spPr>
        <p:txBody>
          <a:bodyPr>
            <a:normAutofit/>
          </a:bodyPr>
          <a:lstStyle/>
          <a:p>
            <a:r>
              <a:rPr lang="en-US" sz="1600" dirty="0"/>
              <a:t>In </a:t>
            </a:r>
            <a:r>
              <a:rPr lang="en-US" sz="1600" dirty="0" err="1"/>
              <a:t>greek</a:t>
            </a:r>
            <a:r>
              <a:rPr lang="en-US" sz="1600" dirty="0"/>
              <a:t>, Poly means many and morph means shapes or forms. So. Polymorphism refers to any entity which takes many form.</a:t>
            </a:r>
          </a:p>
          <a:p>
            <a:r>
              <a:rPr lang="en-US" sz="1600" dirty="0"/>
              <a:t>Polymorphism in java refers to any entity whether it is an operator or a constructor or any method which takes many forms or can be used for multiple tasks either while compiling or while running a java program.</a:t>
            </a:r>
          </a:p>
          <a:p>
            <a:pPr marL="0" indent="0">
              <a:buNone/>
            </a:pPr>
            <a:r>
              <a:rPr lang="en-US" sz="1600" dirty="0"/>
              <a:t>There are two types of polymorphism in Java.   </a:t>
            </a:r>
            <a:r>
              <a:rPr lang="en-US" sz="1600" b="1" dirty="0"/>
              <a:t>1) Static Polymorphism       2) Dynamic Polymorphism</a:t>
            </a:r>
          </a:p>
          <a:p>
            <a:pPr marL="0" indent="0">
              <a:buNone/>
            </a:pPr>
            <a:r>
              <a:rPr lang="en-US" sz="1600" b="1" dirty="0"/>
              <a:t>1) Static Polymorphism</a:t>
            </a:r>
          </a:p>
          <a:p>
            <a:r>
              <a:rPr lang="en-US" sz="1600" dirty="0"/>
              <a:t>Any entity which shows polymorphism during compile time is called static polymorphism. Operator Overloading, Constructor Overloading and method overloading are best examples of static polymorphism. Because, they show polymorphism during compilation.</a:t>
            </a:r>
          </a:p>
          <a:p>
            <a:r>
              <a:rPr lang="en-US" sz="1600" dirty="0"/>
              <a:t>In static polymorphism</a:t>
            </a:r>
            <a:r>
              <a:rPr lang="en-US" sz="1600"/>
              <a:t>, object </a:t>
            </a:r>
            <a:r>
              <a:rPr lang="en-US" sz="1600" dirty="0"/>
              <a:t>used is determined during compilation itself. So, it is called static binding or Early Binding.</a:t>
            </a:r>
          </a:p>
          <a:p>
            <a:r>
              <a:rPr lang="en-US" sz="1600" dirty="0"/>
              <a:t>Constructor Overloading : We can include multiple constructors in a class. This is called constructor overloading. Through constructor overloading, we can create objects to the class in multiple ways. This shows the polymorphism.</a:t>
            </a:r>
          </a:p>
          <a:p>
            <a:r>
              <a:rPr lang="en-US" sz="1600" dirty="0"/>
              <a:t>Method Overloading : We can have different forms of same method in the same class. This is called method overloading. Through method overloading we can perform different tasks through different forms of the same method. This shows the polymorphism.</a:t>
            </a:r>
          </a:p>
          <a:p>
            <a:pPr marL="0" indent="0">
              <a:buNone/>
            </a:pPr>
            <a:endParaRPr lang="en-IN" sz="1600" b="1" dirty="0"/>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217502"/>
            <a:ext cx="10515600" cy="48950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u="none" strike="noStrike" dirty="0">
                <a:solidFill>
                  <a:srgbClr val="000000"/>
                </a:solidFill>
                <a:effectLst/>
                <a:latin typeface="Calibri" panose="020F0502020204030204" pitchFamily="34" charset="0"/>
                <a:cs typeface="Calibri" panose="020F0502020204030204" pitchFamily="34" charset="0"/>
              </a:rPr>
              <a:t>Method Overloading</a:t>
            </a: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923827"/>
            <a:ext cx="10515600" cy="5716671"/>
          </a:xfrm>
        </p:spPr>
        <p:txBody>
          <a:bodyPr>
            <a:normAutofit/>
          </a:bodyPr>
          <a:lstStyle/>
          <a:p>
            <a:r>
              <a:rPr lang="en-US" sz="1600" dirty="0"/>
              <a:t>Method overloading means providing two separate methods in a class with the same name but different arguments, while the method return type may or may not be different, which allows us to reuse the same method name.</a:t>
            </a:r>
          </a:p>
          <a:p>
            <a:r>
              <a:rPr lang="en-US" sz="1600" dirty="0"/>
              <a:t>And this becomes very handy for the consumer of our class. They can pass different types of parameters to the same method (in their eyes, but they are actually different) and get the response according to the input. For example, we might have a </a:t>
            </a:r>
            <a:r>
              <a:rPr lang="en-US" sz="1600" dirty="0" err="1"/>
              <a:t>System.out.println</a:t>
            </a:r>
            <a:r>
              <a:rPr lang="en-US" sz="1600" dirty="0"/>
              <a:t>() method that accepts all primitive object types and prints them, but in reality, there several </a:t>
            </a:r>
            <a:r>
              <a:rPr lang="en-US" sz="1600" dirty="0" err="1"/>
              <a:t>PrintStream</a:t>
            </a:r>
            <a:r>
              <a:rPr lang="en-US" sz="1600" dirty="0"/>
              <a:t> classes.</a:t>
            </a:r>
          </a:p>
          <a:p>
            <a:r>
              <a:rPr lang="en-US" sz="1600" dirty="0"/>
              <a:t>While overloading has nothing to deal with polymorphism, Java programmers also refer to method overloading as  Compile Time Polymorphism because the method that is going to get called will be decided at compile time.</a:t>
            </a:r>
          </a:p>
          <a:p>
            <a:r>
              <a:rPr lang="en-US" sz="1600" dirty="0"/>
              <a:t>In the case of method overloading, the compiler decides which method is going to get called based on the reference upon which it is getting called and the method name, return type, and argument list.</a:t>
            </a:r>
          </a:p>
        </p:txBody>
      </p:sp>
    </p:spTree>
    <p:extLst>
      <p:ext uri="{BB962C8B-B14F-4D97-AF65-F5344CB8AC3E}">
        <p14:creationId xmlns:p14="http://schemas.microsoft.com/office/powerpoint/2010/main" val="3324280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41610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u="none" strike="noStrike" dirty="0">
                <a:solidFill>
                  <a:srgbClr val="000000"/>
                </a:solidFill>
                <a:effectLst/>
                <a:latin typeface="Calibri" panose="020F0502020204030204" pitchFamily="34" charset="0"/>
                <a:cs typeface="Calibri" panose="020F0502020204030204" pitchFamily="34" charset="0"/>
              </a:rPr>
              <a:t>Method Overloading Rules</a:t>
            </a: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145220"/>
            <a:ext cx="10515600" cy="5495278"/>
          </a:xfrm>
        </p:spPr>
        <p:txBody>
          <a:bodyPr>
            <a:normAutofit/>
          </a:bodyPr>
          <a:lstStyle/>
          <a:p>
            <a:pPr marL="0" indent="0">
              <a:buNone/>
            </a:pPr>
            <a:r>
              <a:rPr lang="en-US" sz="1600" dirty="0"/>
              <a:t>There are some rules we need to follow to overload a method. Some of them are mandatory while some are optional. </a:t>
            </a:r>
          </a:p>
          <a:p>
            <a:pPr marL="0" indent="0">
              <a:buNone/>
            </a:pPr>
            <a:r>
              <a:rPr lang="en-US" sz="1600" dirty="0"/>
              <a:t>Two methods will be treated as overloaded if both follow the mandatory rules below:</a:t>
            </a:r>
          </a:p>
          <a:p>
            <a:pPr marL="342900" indent="-342900">
              <a:buFont typeface="+mj-lt"/>
              <a:buAutoNum type="arabicPeriod"/>
            </a:pPr>
            <a:r>
              <a:rPr lang="en-US" sz="1600" dirty="0"/>
              <a:t>Both must have the same method name.</a:t>
            </a:r>
          </a:p>
          <a:p>
            <a:pPr marL="342900" indent="-342900">
              <a:buFont typeface="+mj-lt"/>
              <a:buAutoNum type="arabicPeriod"/>
            </a:pPr>
            <a:r>
              <a:rPr lang="en-US" sz="1600" dirty="0"/>
              <a:t>Both must have different argument lists.</a:t>
            </a:r>
          </a:p>
          <a:p>
            <a:pPr marL="0" indent="0">
              <a:buNone/>
            </a:pPr>
            <a:r>
              <a:rPr lang="en-US" sz="1600" dirty="0"/>
              <a:t>And if both methods follow the above mandatory rules, then they may or may not:</a:t>
            </a:r>
          </a:p>
          <a:p>
            <a:r>
              <a:rPr lang="en-US" sz="1600" dirty="0"/>
              <a:t>Have different return types.</a:t>
            </a:r>
          </a:p>
          <a:p>
            <a:r>
              <a:rPr lang="en-US" sz="1600" dirty="0"/>
              <a:t>Have different access modifiers.</a:t>
            </a:r>
          </a:p>
          <a:p>
            <a:r>
              <a:rPr lang="en-US" sz="1600" dirty="0"/>
              <a:t>Throw different checked or unchecked exceptions.</a:t>
            </a:r>
          </a:p>
          <a:p>
            <a:pPr marL="0" indent="0">
              <a:buNone/>
            </a:pPr>
            <a:endParaRPr lang="en-US" sz="1600" dirty="0"/>
          </a:p>
          <a:p>
            <a:pPr marL="0" indent="0">
              <a:buNone/>
            </a:pPr>
            <a:r>
              <a:rPr lang="en-US" sz="1600" dirty="0"/>
              <a:t>Notes:</a:t>
            </a:r>
          </a:p>
          <a:p>
            <a:pPr marL="0" indent="0">
              <a:buNone/>
            </a:pPr>
            <a:r>
              <a:rPr lang="en-US" sz="1600" dirty="0"/>
              <a:t>Usually, method overloading happens inside a single class, but a method can also be treated as overloaded in the subclass of that class — because the subclass inherits one version of the method from the parent class and then can have another overloaded version in its class definition.</a:t>
            </a:r>
            <a:endParaRPr lang="en-IN" sz="1600" dirty="0"/>
          </a:p>
        </p:txBody>
      </p:sp>
    </p:spTree>
    <p:extLst>
      <p:ext uri="{BB962C8B-B14F-4D97-AF65-F5344CB8AC3E}">
        <p14:creationId xmlns:p14="http://schemas.microsoft.com/office/powerpoint/2010/main" val="1560186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221942"/>
            <a:ext cx="10515600" cy="6418555"/>
          </a:xfrm>
        </p:spPr>
        <p:txBody>
          <a:bodyPr>
            <a:normAutofit fontScale="85000" lnSpcReduction="20000"/>
          </a:bodyPr>
          <a:lstStyle/>
          <a:p>
            <a:r>
              <a:rPr lang="en-US" sz="1600" dirty="0"/>
              <a:t>In casting, we have seen super class reference variable can refer to objects of its sub class. This also shows polymorphism. For example,</a:t>
            </a:r>
          </a:p>
          <a:p>
            <a:pPr marL="0" indent="0">
              <a:buNone/>
            </a:pPr>
            <a:r>
              <a:rPr lang="en-US" sz="1600" dirty="0"/>
              <a:t>class A</a:t>
            </a:r>
          </a:p>
          <a:p>
            <a:pPr marL="0" indent="0">
              <a:buNone/>
            </a:pPr>
            <a:r>
              <a:rPr lang="en-US" sz="1600" dirty="0"/>
              <a:t>{</a:t>
            </a:r>
          </a:p>
          <a:p>
            <a:pPr marL="0" indent="0">
              <a:buNone/>
            </a:pPr>
            <a:r>
              <a:rPr lang="en-US" sz="1600" dirty="0"/>
              <a:t>     //Some Statements</a:t>
            </a:r>
          </a:p>
          <a:p>
            <a:pPr marL="0" indent="0">
              <a:buNone/>
            </a:pPr>
            <a:r>
              <a:rPr lang="en-US" sz="1600" dirty="0"/>
              <a:t>}</a:t>
            </a:r>
          </a:p>
          <a:p>
            <a:pPr marL="0" indent="0">
              <a:buNone/>
            </a:pPr>
            <a:r>
              <a:rPr lang="en-US" sz="1600" dirty="0"/>
              <a:t>class B extends A</a:t>
            </a:r>
          </a:p>
          <a:p>
            <a:pPr marL="0" indent="0">
              <a:buNone/>
            </a:pPr>
            <a:r>
              <a:rPr lang="en-US" sz="1600" dirty="0"/>
              <a:t>{</a:t>
            </a:r>
          </a:p>
          <a:p>
            <a:pPr marL="0" indent="0">
              <a:buNone/>
            </a:pPr>
            <a:r>
              <a:rPr lang="en-US" sz="1600" dirty="0"/>
              <a:t>     //Some Statements</a:t>
            </a:r>
          </a:p>
          <a:p>
            <a:pPr marL="0" indent="0">
              <a:buNone/>
            </a:pPr>
            <a:r>
              <a:rPr lang="en-US" sz="1600" dirty="0"/>
              <a:t>}</a:t>
            </a:r>
          </a:p>
          <a:p>
            <a:pPr marL="0" indent="0">
              <a:buNone/>
            </a:pPr>
            <a:r>
              <a:rPr lang="en-US" sz="1600" dirty="0"/>
              <a:t>class C extends B</a:t>
            </a:r>
          </a:p>
          <a:p>
            <a:pPr marL="0" indent="0">
              <a:buNone/>
            </a:pPr>
            <a:r>
              <a:rPr lang="en-US" sz="1600" dirty="0"/>
              <a:t>{</a:t>
            </a:r>
          </a:p>
          <a:p>
            <a:pPr marL="0" indent="0">
              <a:buNone/>
            </a:pPr>
            <a:r>
              <a:rPr lang="en-US" sz="1600" dirty="0"/>
              <a:t>    //Some Statements</a:t>
            </a:r>
          </a:p>
          <a:p>
            <a:pPr marL="0" indent="0">
              <a:buNone/>
            </a:pPr>
            <a:r>
              <a:rPr lang="en-US" sz="1600" dirty="0"/>
              <a:t>}</a:t>
            </a:r>
          </a:p>
          <a:p>
            <a:pPr marL="0" indent="0">
              <a:buNone/>
            </a:pPr>
            <a:r>
              <a:rPr lang="en-US" sz="1600" dirty="0"/>
              <a:t> </a:t>
            </a:r>
          </a:p>
          <a:p>
            <a:pPr marL="0" indent="0">
              <a:buNone/>
            </a:pPr>
            <a:r>
              <a:rPr lang="en-US" sz="1600" dirty="0"/>
              <a:t>public class D</a:t>
            </a:r>
          </a:p>
          <a:p>
            <a:pPr marL="0" indent="0">
              <a:buNone/>
            </a:pPr>
            <a:r>
              <a:rPr lang="en-US" sz="1600" dirty="0"/>
              <a:t>{</a:t>
            </a:r>
          </a:p>
          <a:p>
            <a:pPr marL="0" indent="0">
              <a:buNone/>
            </a:pPr>
            <a:r>
              <a:rPr lang="en-US" sz="1600" dirty="0"/>
              <a:t>    public static void main(String[] </a:t>
            </a:r>
            <a:r>
              <a:rPr lang="en-US" sz="1600" dirty="0" err="1"/>
              <a:t>args</a:t>
            </a:r>
            <a:r>
              <a:rPr lang="en-US" sz="1600" dirty="0"/>
              <a:t>)</a:t>
            </a:r>
          </a:p>
          <a:p>
            <a:pPr marL="0" indent="0">
              <a:buNone/>
            </a:pPr>
            <a:r>
              <a:rPr lang="en-US" sz="1600" dirty="0"/>
              <a:t>    {</a:t>
            </a:r>
          </a:p>
          <a:p>
            <a:pPr marL="0" indent="0">
              <a:buNone/>
            </a:pPr>
            <a:r>
              <a:rPr lang="en-US" sz="1600" dirty="0"/>
              <a:t>        A </a:t>
            </a:r>
            <a:r>
              <a:rPr lang="en-US" sz="1600" dirty="0" err="1"/>
              <a:t>a</a:t>
            </a:r>
            <a:r>
              <a:rPr lang="en-US" sz="1600" dirty="0"/>
              <a:t> = new A();  //A-Class variable refers to A-Class object</a:t>
            </a:r>
          </a:p>
          <a:p>
            <a:pPr marL="0" indent="0">
              <a:buNone/>
            </a:pPr>
            <a:r>
              <a:rPr lang="en-US" sz="1600" dirty="0"/>
              <a:t>        a = new B();    //A-Class variable refers to B-Class object</a:t>
            </a:r>
          </a:p>
          <a:p>
            <a:pPr marL="0" indent="0">
              <a:buNone/>
            </a:pPr>
            <a:r>
              <a:rPr lang="en-US" sz="1600" dirty="0"/>
              <a:t>        a = new C();    //A-Class variable refers to C-Class object</a:t>
            </a:r>
          </a:p>
          <a:p>
            <a:pPr marL="0" indent="0">
              <a:buNone/>
            </a:pPr>
            <a:r>
              <a:rPr lang="en-US" sz="1600" dirty="0"/>
              <a:t>    }</a:t>
            </a:r>
          </a:p>
          <a:p>
            <a:pPr marL="0" indent="0">
              <a:buNone/>
            </a:pPr>
            <a:r>
              <a:rPr lang="en-US" sz="1600" dirty="0"/>
              <a:t>}</a:t>
            </a:r>
            <a:endParaRPr lang="en-IN" sz="1600" dirty="0"/>
          </a:p>
        </p:txBody>
      </p:sp>
    </p:spTree>
    <p:extLst>
      <p:ext uri="{BB962C8B-B14F-4D97-AF65-F5344CB8AC3E}">
        <p14:creationId xmlns:p14="http://schemas.microsoft.com/office/powerpoint/2010/main" val="2827996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239697"/>
            <a:ext cx="10515600" cy="6400801"/>
          </a:xfrm>
        </p:spPr>
        <p:txBody>
          <a:bodyPr>
            <a:normAutofit fontScale="85000" lnSpcReduction="20000"/>
          </a:bodyPr>
          <a:lstStyle/>
          <a:p>
            <a:r>
              <a:rPr lang="en-US" sz="1600" dirty="0"/>
              <a:t>Overloaded methods may have same return types or different return types. It does not effect method overloading.</a:t>
            </a:r>
          </a:p>
          <a:p>
            <a:pPr marL="0" indent="0">
              <a:buNone/>
            </a:pPr>
            <a:r>
              <a:rPr lang="en-IN" sz="1600" dirty="0"/>
              <a:t>public class </a:t>
            </a:r>
            <a:r>
              <a:rPr lang="en-IN" sz="1600" dirty="0" err="1"/>
              <a:t>MethodOverloading</a:t>
            </a:r>
            <a:endParaRPr lang="en-IN" sz="1600" dirty="0"/>
          </a:p>
          <a:p>
            <a:pPr marL="0" indent="0">
              <a:buNone/>
            </a:pPr>
            <a:r>
              <a:rPr lang="en-IN" sz="1600" dirty="0"/>
              <a:t>{</a:t>
            </a:r>
          </a:p>
          <a:p>
            <a:pPr marL="0" indent="0">
              <a:buNone/>
            </a:pPr>
            <a:r>
              <a:rPr lang="en-IN" sz="1600" dirty="0"/>
              <a:t>    void </a:t>
            </a:r>
            <a:r>
              <a:rPr lang="en-IN" sz="1600" dirty="0" err="1"/>
              <a:t>methodOverloaded</a:t>
            </a:r>
            <a:r>
              <a:rPr lang="en-IN" sz="1600" dirty="0"/>
              <a:t>()</a:t>
            </a:r>
          </a:p>
          <a:p>
            <a:pPr marL="0" indent="0">
              <a:buNone/>
            </a:pPr>
            <a:r>
              <a:rPr lang="en-IN" sz="1600" dirty="0"/>
              <a:t>    {</a:t>
            </a:r>
          </a:p>
          <a:p>
            <a:pPr marL="0" indent="0">
              <a:buNone/>
            </a:pPr>
            <a:r>
              <a:rPr lang="en-IN" sz="1600" dirty="0"/>
              <a:t>        //No argument method, return type is void</a:t>
            </a:r>
          </a:p>
          <a:p>
            <a:pPr marL="0" indent="0">
              <a:buNone/>
            </a:pPr>
            <a:r>
              <a:rPr lang="en-IN" sz="1600" dirty="0"/>
              <a:t>    }</a:t>
            </a:r>
          </a:p>
          <a:p>
            <a:pPr marL="0" indent="0">
              <a:buNone/>
            </a:pPr>
            <a:r>
              <a:rPr lang="en-IN" sz="1600" dirty="0"/>
              <a:t>    int </a:t>
            </a:r>
            <a:r>
              <a:rPr lang="en-IN" sz="1600" dirty="0" err="1"/>
              <a:t>methodOverloaded</a:t>
            </a:r>
            <a:r>
              <a:rPr lang="en-IN" sz="1600" dirty="0"/>
              <a:t>(int </a:t>
            </a:r>
            <a:r>
              <a:rPr lang="en-IN" sz="1600" dirty="0" err="1"/>
              <a:t>i</a:t>
            </a:r>
            <a:r>
              <a:rPr lang="en-IN" sz="1600" dirty="0"/>
              <a:t>)</a:t>
            </a:r>
          </a:p>
          <a:p>
            <a:pPr marL="0" indent="0">
              <a:buNone/>
            </a:pPr>
            <a:r>
              <a:rPr lang="en-IN" sz="1600" dirty="0"/>
              <a:t>    {</a:t>
            </a:r>
          </a:p>
          <a:p>
            <a:pPr marL="0" indent="0">
              <a:buNone/>
            </a:pPr>
            <a:r>
              <a:rPr lang="en-IN" sz="1600" dirty="0"/>
              <a:t>        //Returns int type</a:t>
            </a:r>
          </a:p>
          <a:p>
            <a:pPr marL="0" indent="0">
              <a:buNone/>
            </a:pPr>
            <a:r>
              <a:rPr lang="en-IN" sz="1600" dirty="0"/>
              <a:t>        return </a:t>
            </a:r>
            <a:r>
              <a:rPr lang="en-IN" sz="1600" dirty="0" err="1"/>
              <a:t>i</a:t>
            </a:r>
            <a:r>
              <a:rPr lang="en-IN" sz="1600" dirty="0"/>
              <a:t>;</a:t>
            </a:r>
          </a:p>
          <a:p>
            <a:pPr marL="0" indent="0">
              <a:buNone/>
            </a:pPr>
            <a:r>
              <a:rPr lang="en-IN" sz="1600" dirty="0"/>
              <a:t>    }</a:t>
            </a:r>
          </a:p>
          <a:p>
            <a:pPr marL="0" indent="0">
              <a:buNone/>
            </a:pPr>
            <a:r>
              <a:rPr lang="en-IN" sz="1600" dirty="0"/>
              <a:t>    int </a:t>
            </a:r>
            <a:r>
              <a:rPr lang="en-IN" sz="1600" dirty="0" err="1"/>
              <a:t>methodOverloaded</a:t>
            </a:r>
            <a:r>
              <a:rPr lang="en-IN" sz="1600" dirty="0"/>
              <a:t>(double d)</a:t>
            </a:r>
          </a:p>
          <a:p>
            <a:pPr marL="0" indent="0">
              <a:buNone/>
            </a:pPr>
            <a:r>
              <a:rPr lang="en-IN" sz="1600" dirty="0"/>
              <a:t>    {</a:t>
            </a:r>
          </a:p>
          <a:p>
            <a:pPr marL="0" indent="0">
              <a:buNone/>
            </a:pPr>
            <a:r>
              <a:rPr lang="en-IN" sz="1600" dirty="0"/>
              <a:t>        //Same return type as of above method</a:t>
            </a:r>
          </a:p>
          <a:p>
            <a:pPr marL="0" indent="0">
              <a:buNone/>
            </a:pPr>
            <a:r>
              <a:rPr lang="en-IN" sz="1600" dirty="0"/>
              <a:t>        return 0;</a:t>
            </a:r>
          </a:p>
          <a:p>
            <a:pPr marL="0" indent="0">
              <a:buNone/>
            </a:pPr>
            <a:r>
              <a:rPr lang="en-IN" sz="1600" dirty="0"/>
              <a:t>    }</a:t>
            </a:r>
          </a:p>
          <a:p>
            <a:pPr marL="0" indent="0">
              <a:buNone/>
            </a:pPr>
            <a:endParaRPr lang="en-IN" sz="1600" dirty="0"/>
          </a:p>
          <a:p>
            <a:pPr marL="0" indent="0">
              <a:buNone/>
            </a:pPr>
            <a:r>
              <a:rPr lang="en-IN" sz="1600" dirty="0"/>
              <a:t>    void </a:t>
            </a:r>
            <a:r>
              <a:rPr lang="en-IN" sz="1600" dirty="0" err="1"/>
              <a:t>methodOverloaded</a:t>
            </a:r>
            <a:r>
              <a:rPr lang="en-IN" sz="1600" dirty="0"/>
              <a:t>(double d)</a:t>
            </a:r>
          </a:p>
          <a:p>
            <a:pPr marL="0" indent="0">
              <a:buNone/>
            </a:pPr>
            <a:r>
              <a:rPr lang="en-IN" sz="1600" dirty="0"/>
              <a:t>    {</a:t>
            </a:r>
          </a:p>
          <a:p>
            <a:pPr marL="0" indent="0">
              <a:buNone/>
            </a:pPr>
            <a:r>
              <a:rPr lang="en-IN" sz="1600" dirty="0"/>
              <a:t>        //Duplicate method because it has same method signature as of above method</a:t>
            </a:r>
          </a:p>
          <a:p>
            <a:pPr marL="0" indent="0">
              <a:buNone/>
            </a:pPr>
            <a:r>
              <a:rPr lang="en-IN" sz="1600" dirty="0"/>
              <a:t>    }</a:t>
            </a:r>
          </a:p>
          <a:p>
            <a:pPr marL="0" indent="0">
              <a:buNone/>
            </a:pPr>
            <a:r>
              <a:rPr lang="en-IN" sz="1600" dirty="0"/>
              <a:t>}</a:t>
            </a:r>
          </a:p>
        </p:txBody>
      </p:sp>
    </p:spTree>
    <p:extLst>
      <p:ext uri="{BB962C8B-B14F-4D97-AF65-F5344CB8AC3E}">
        <p14:creationId xmlns:p14="http://schemas.microsoft.com/office/powerpoint/2010/main" val="3942740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239697"/>
            <a:ext cx="10515600" cy="6400801"/>
          </a:xfrm>
        </p:spPr>
        <p:txBody>
          <a:bodyPr>
            <a:normAutofit lnSpcReduction="10000"/>
          </a:bodyPr>
          <a:lstStyle/>
          <a:p>
            <a:r>
              <a:rPr lang="en-US" sz="1600" dirty="0"/>
              <a:t>Overloaded methods may be static or non-static. This also does not effect method overloading</a:t>
            </a:r>
          </a:p>
          <a:p>
            <a:pPr marL="0" indent="0">
              <a:buNone/>
            </a:pPr>
            <a:r>
              <a:rPr lang="en-IN" sz="1600" dirty="0"/>
              <a:t>public class </a:t>
            </a:r>
            <a:r>
              <a:rPr lang="en-IN" sz="1600" dirty="0" err="1"/>
              <a:t>MethodOverloading</a:t>
            </a:r>
            <a:endParaRPr lang="en-IN" sz="1600" dirty="0"/>
          </a:p>
          <a:p>
            <a:pPr marL="0" indent="0">
              <a:buNone/>
            </a:pPr>
            <a:r>
              <a:rPr lang="en-IN" sz="1600" dirty="0"/>
              <a:t>{</a:t>
            </a:r>
          </a:p>
          <a:p>
            <a:pPr marL="0" indent="0">
              <a:buNone/>
            </a:pPr>
            <a:r>
              <a:rPr lang="en-IN" sz="1600" dirty="0"/>
              <a:t>    private static void </a:t>
            </a:r>
            <a:r>
              <a:rPr lang="en-IN" sz="1600" dirty="0" err="1"/>
              <a:t>methodOverloaded</a:t>
            </a:r>
            <a:r>
              <a:rPr lang="en-IN" sz="1600" dirty="0"/>
              <a:t>()</a:t>
            </a:r>
          </a:p>
          <a:p>
            <a:pPr marL="0" indent="0">
              <a:buNone/>
            </a:pPr>
            <a:r>
              <a:rPr lang="en-IN" sz="1600" dirty="0"/>
              <a:t>    {        //No argument, private static method    }</a:t>
            </a:r>
          </a:p>
          <a:p>
            <a:pPr marL="0" indent="0">
              <a:buNone/>
            </a:pPr>
            <a:r>
              <a:rPr lang="en-IN" sz="1600" dirty="0"/>
              <a:t> </a:t>
            </a:r>
          </a:p>
          <a:p>
            <a:pPr marL="0" indent="0">
              <a:buNone/>
            </a:pPr>
            <a:r>
              <a:rPr lang="en-IN" sz="1600" dirty="0"/>
              <a:t>    private int </a:t>
            </a:r>
            <a:r>
              <a:rPr lang="en-IN" sz="1600" dirty="0" err="1"/>
              <a:t>methodOverloaded</a:t>
            </a:r>
            <a:r>
              <a:rPr lang="en-IN" sz="1600" dirty="0"/>
              <a:t>(int </a:t>
            </a:r>
            <a:r>
              <a:rPr lang="en-IN" sz="1600" dirty="0" err="1"/>
              <a:t>i</a:t>
            </a:r>
            <a:r>
              <a:rPr lang="en-IN" sz="1600" dirty="0"/>
              <a:t>)</a:t>
            </a:r>
          </a:p>
          <a:p>
            <a:pPr marL="0" indent="0">
              <a:buNone/>
            </a:pPr>
            <a:r>
              <a:rPr lang="en-IN" sz="1600" dirty="0"/>
              <a:t>    {        //One argument private non-static method        return </a:t>
            </a:r>
            <a:r>
              <a:rPr lang="en-IN" sz="1600" dirty="0" err="1"/>
              <a:t>i</a:t>
            </a:r>
            <a:r>
              <a:rPr lang="en-IN" sz="1600" dirty="0"/>
              <a:t>;    }</a:t>
            </a:r>
          </a:p>
          <a:p>
            <a:pPr marL="0" indent="0">
              <a:buNone/>
            </a:pPr>
            <a:endParaRPr lang="en-IN" sz="1600" dirty="0"/>
          </a:p>
          <a:p>
            <a:pPr marL="0" indent="0">
              <a:buNone/>
            </a:pPr>
            <a:r>
              <a:rPr lang="en-IN" sz="1600" dirty="0"/>
              <a:t>    static int </a:t>
            </a:r>
            <a:r>
              <a:rPr lang="en-IN" sz="1600" dirty="0" err="1"/>
              <a:t>methodOverloaded</a:t>
            </a:r>
            <a:r>
              <a:rPr lang="en-IN" sz="1600" dirty="0"/>
              <a:t>(double d)</a:t>
            </a:r>
          </a:p>
          <a:p>
            <a:pPr marL="0" indent="0">
              <a:buNone/>
            </a:pPr>
            <a:r>
              <a:rPr lang="en-IN" sz="1600" dirty="0"/>
              <a:t>    {</a:t>
            </a:r>
          </a:p>
          <a:p>
            <a:pPr marL="0" indent="0">
              <a:buNone/>
            </a:pPr>
            <a:r>
              <a:rPr lang="en-IN" sz="1600" dirty="0"/>
              <a:t>        //static Method</a:t>
            </a:r>
          </a:p>
          <a:p>
            <a:pPr marL="0" indent="0">
              <a:buNone/>
            </a:pPr>
            <a:r>
              <a:rPr lang="en-IN" sz="1600" dirty="0"/>
              <a:t>        return 0;</a:t>
            </a:r>
          </a:p>
          <a:p>
            <a:pPr marL="0" indent="0">
              <a:buNone/>
            </a:pPr>
            <a:r>
              <a:rPr lang="en-IN" sz="1600" dirty="0"/>
              <a:t>    }</a:t>
            </a:r>
          </a:p>
          <a:p>
            <a:pPr marL="0" indent="0">
              <a:buNone/>
            </a:pPr>
            <a:r>
              <a:rPr lang="en-IN" sz="1600" dirty="0"/>
              <a:t>    public void </a:t>
            </a:r>
            <a:r>
              <a:rPr lang="en-IN" sz="1600" dirty="0" err="1"/>
              <a:t>methodOverloaded</a:t>
            </a:r>
            <a:r>
              <a:rPr lang="en-IN" sz="1600" dirty="0"/>
              <a:t>(int </a:t>
            </a:r>
            <a:r>
              <a:rPr lang="en-IN" sz="1600" dirty="0" err="1"/>
              <a:t>i</a:t>
            </a:r>
            <a:r>
              <a:rPr lang="en-IN" sz="1600" dirty="0"/>
              <a:t>, double d)</a:t>
            </a:r>
          </a:p>
          <a:p>
            <a:pPr marL="0" indent="0">
              <a:buNone/>
            </a:pPr>
            <a:r>
              <a:rPr lang="en-IN" sz="1600" dirty="0"/>
              <a:t>    {</a:t>
            </a:r>
          </a:p>
          <a:p>
            <a:pPr marL="0" indent="0">
              <a:buNone/>
            </a:pPr>
            <a:r>
              <a:rPr lang="en-IN" sz="1600" dirty="0"/>
              <a:t>        //Public non-static Method</a:t>
            </a:r>
          </a:p>
          <a:p>
            <a:pPr marL="0" indent="0">
              <a:buNone/>
            </a:pPr>
            <a:r>
              <a:rPr lang="en-IN" sz="1600" dirty="0"/>
              <a:t>    }</a:t>
            </a:r>
          </a:p>
          <a:p>
            <a:pPr marL="0" indent="0">
              <a:buNone/>
            </a:pPr>
            <a:r>
              <a:rPr lang="en-IN" sz="1600" dirty="0"/>
              <a:t>}</a:t>
            </a:r>
          </a:p>
          <a:p>
            <a:pPr marL="0" indent="0">
              <a:buNone/>
            </a:pPr>
            <a:endParaRPr lang="en-IN" sz="1600" dirty="0"/>
          </a:p>
        </p:txBody>
      </p:sp>
    </p:spTree>
    <p:extLst>
      <p:ext uri="{BB962C8B-B14F-4D97-AF65-F5344CB8AC3E}">
        <p14:creationId xmlns:p14="http://schemas.microsoft.com/office/powerpoint/2010/main" val="428978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239697"/>
            <a:ext cx="10515600" cy="6400801"/>
          </a:xfrm>
        </p:spPr>
        <p:txBody>
          <a:bodyPr>
            <a:normAutofit fontScale="85000" lnSpcReduction="20000"/>
          </a:bodyPr>
          <a:lstStyle/>
          <a:p>
            <a:r>
              <a:rPr lang="en-US" sz="1600" dirty="0"/>
              <a:t>Important Note :</a:t>
            </a:r>
          </a:p>
          <a:p>
            <a:r>
              <a:rPr lang="en-US" sz="1600" dirty="0"/>
              <a:t> If two methods have same signature and different return types, then those methods will not be treated as two different methods or methods overloaded. For duplication, compiler checks only method signature not return types. If method signature is same, straight away it gives duplicate method error.</a:t>
            </a:r>
          </a:p>
          <a:p>
            <a:r>
              <a:rPr lang="en-US" sz="1600" dirty="0"/>
              <a:t>Overloaded methods may have same access modifiers or different access modifiers. It also does not effect method overloading.</a:t>
            </a:r>
          </a:p>
          <a:p>
            <a:pPr marL="0" indent="0">
              <a:buNone/>
            </a:pPr>
            <a:r>
              <a:rPr lang="en-IN" sz="1600" dirty="0"/>
              <a:t>public class </a:t>
            </a:r>
            <a:r>
              <a:rPr lang="en-IN" sz="1600" dirty="0" err="1"/>
              <a:t>MethodOverloading</a:t>
            </a:r>
            <a:endParaRPr lang="en-IN" sz="1600" dirty="0"/>
          </a:p>
          <a:p>
            <a:pPr marL="0" indent="0">
              <a:buNone/>
            </a:pPr>
            <a:r>
              <a:rPr lang="en-IN" sz="1600" dirty="0"/>
              <a:t>{</a:t>
            </a:r>
          </a:p>
          <a:p>
            <a:pPr marL="0" indent="0">
              <a:buNone/>
            </a:pPr>
            <a:r>
              <a:rPr lang="en-IN" sz="1600" dirty="0"/>
              <a:t>    private void </a:t>
            </a:r>
            <a:r>
              <a:rPr lang="en-IN" sz="1600" dirty="0" err="1"/>
              <a:t>methodOverloaded</a:t>
            </a:r>
            <a:r>
              <a:rPr lang="en-IN" sz="1600" dirty="0"/>
              <a:t>()</a:t>
            </a:r>
          </a:p>
          <a:p>
            <a:pPr marL="0" indent="0">
              <a:buNone/>
            </a:pPr>
            <a:r>
              <a:rPr lang="en-IN" sz="1600" dirty="0"/>
              <a:t>    {        //No argument, private method</a:t>
            </a:r>
          </a:p>
          <a:p>
            <a:pPr marL="0" indent="0">
              <a:buNone/>
            </a:pPr>
            <a:r>
              <a:rPr lang="en-IN" sz="1600" dirty="0"/>
              <a:t>    }</a:t>
            </a:r>
          </a:p>
          <a:p>
            <a:pPr marL="0" indent="0">
              <a:buNone/>
            </a:pPr>
            <a:r>
              <a:rPr lang="en-IN" sz="1600" dirty="0"/>
              <a:t>    private int </a:t>
            </a:r>
            <a:r>
              <a:rPr lang="en-IN" sz="1600" dirty="0" err="1"/>
              <a:t>methodOverloaded</a:t>
            </a:r>
            <a:r>
              <a:rPr lang="en-IN" sz="1600" dirty="0"/>
              <a:t>(int </a:t>
            </a:r>
            <a:r>
              <a:rPr lang="en-IN" sz="1600" dirty="0" err="1"/>
              <a:t>i</a:t>
            </a:r>
            <a:r>
              <a:rPr lang="en-IN" sz="1600" dirty="0"/>
              <a:t>)</a:t>
            </a:r>
          </a:p>
          <a:p>
            <a:pPr marL="0" indent="0">
              <a:buNone/>
            </a:pPr>
            <a:r>
              <a:rPr lang="en-IN" sz="1600" dirty="0"/>
              <a:t>    {        //One argument private method</a:t>
            </a:r>
          </a:p>
          <a:p>
            <a:pPr marL="0" indent="0">
              <a:buNone/>
            </a:pPr>
            <a:r>
              <a:rPr lang="en-IN" sz="1600" dirty="0"/>
              <a:t>        return </a:t>
            </a:r>
            <a:r>
              <a:rPr lang="en-IN" sz="1600" dirty="0" err="1"/>
              <a:t>i</a:t>
            </a:r>
            <a:r>
              <a:rPr lang="en-IN" sz="1600" dirty="0"/>
              <a:t>;</a:t>
            </a:r>
          </a:p>
          <a:p>
            <a:pPr marL="0" indent="0">
              <a:buNone/>
            </a:pPr>
            <a:r>
              <a:rPr lang="en-IN" sz="1600" dirty="0"/>
              <a:t>    } </a:t>
            </a:r>
          </a:p>
          <a:p>
            <a:pPr marL="0" indent="0">
              <a:buNone/>
            </a:pPr>
            <a:r>
              <a:rPr lang="en-IN" sz="1600" dirty="0"/>
              <a:t>    protected int </a:t>
            </a:r>
            <a:r>
              <a:rPr lang="en-IN" sz="1600" dirty="0" err="1"/>
              <a:t>methodOverloaded</a:t>
            </a:r>
            <a:r>
              <a:rPr lang="en-IN" sz="1600" dirty="0"/>
              <a:t>(double d)</a:t>
            </a:r>
          </a:p>
          <a:p>
            <a:pPr marL="0" indent="0">
              <a:buNone/>
            </a:pPr>
            <a:r>
              <a:rPr lang="en-IN" sz="1600" dirty="0"/>
              <a:t>    {        //Protected Method</a:t>
            </a:r>
          </a:p>
          <a:p>
            <a:pPr marL="0" indent="0">
              <a:buNone/>
            </a:pPr>
            <a:r>
              <a:rPr lang="en-IN" sz="1600" dirty="0"/>
              <a:t>        return 0;</a:t>
            </a:r>
          </a:p>
          <a:p>
            <a:pPr marL="0" indent="0">
              <a:buNone/>
            </a:pPr>
            <a:r>
              <a:rPr lang="en-IN" sz="1600" dirty="0"/>
              <a:t>    }</a:t>
            </a:r>
          </a:p>
          <a:p>
            <a:pPr marL="0" indent="0">
              <a:buNone/>
            </a:pPr>
            <a:r>
              <a:rPr lang="en-IN" sz="1600" dirty="0"/>
              <a:t>    public void </a:t>
            </a:r>
            <a:r>
              <a:rPr lang="en-IN" sz="1600" dirty="0" err="1"/>
              <a:t>methodOverloaded</a:t>
            </a:r>
            <a:r>
              <a:rPr lang="en-IN" sz="1600" dirty="0"/>
              <a:t>(int </a:t>
            </a:r>
            <a:r>
              <a:rPr lang="en-IN" sz="1600" dirty="0" err="1"/>
              <a:t>i</a:t>
            </a:r>
            <a:r>
              <a:rPr lang="en-IN" sz="1600" dirty="0"/>
              <a:t>, double d)</a:t>
            </a:r>
          </a:p>
          <a:p>
            <a:pPr marL="0" indent="0">
              <a:buNone/>
            </a:pPr>
            <a:r>
              <a:rPr lang="en-IN" sz="1600" dirty="0"/>
              <a:t>    {</a:t>
            </a:r>
          </a:p>
          <a:p>
            <a:pPr marL="0" indent="0">
              <a:buNone/>
            </a:pPr>
            <a:r>
              <a:rPr lang="en-IN" sz="1600" dirty="0"/>
              <a:t>        //Public Method</a:t>
            </a:r>
          </a:p>
          <a:p>
            <a:pPr marL="0" indent="0">
              <a:buNone/>
            </a:pPr>
            <a:r>
              <a:rPr lang="en-IN" sz="1600" dirty="0"/>
              <a:t>    }</a:t>
            </a:r>
          </a:p>
          <a:p>
            <a:pPr marL="0" indent="0">
              <a:buNone/>
            </a:pPr>
            <a:r>
              <a:rPr lang="en-IN" sz="1600" dirty="0"/>
              <a:t>}</a:t>
            </a:r>
          </a:p>
        </p:txBody>
      </p:sp>
    </p:spTree>
    <p:extLst>
      <p:ext uri="{BB962C8B-B14F-4D97-AF65-F5344CB8AC3E}">
        <p14:creationId xmlns:p14="http://schemas.microsoft.com/office/powerpoint/2010/main" val="1117014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239697"/>
            <a:ext cx="10515600" cy="6400801"/>
          </a:xfrm>
        </p:spPr>
        <p:txBody>
          <a:bodyPr>
            <a:normAutofit fontScale="85000" lnSpcReduction="20000"/>
          </a:bodyPr>
          <a:lstStyle/>
          <a:p>
            <a:r>
              <a:rPr lang="en-US" sz="1600" dirty="0"/>
              <a:t>Overloaded methods may be static or non-static. This also does not effect method overloading.</a:t>
            </a:r>
          </a:p>
          <a:p>
            <a:pPr marL="0" indent="0">
              <a:buNone/>
            </a:pPr>
            <a:r>
              <a:rPr lang="en-IN" sz="1600" dirty="0"/>
              <a:t>public class </a:t>
            </a:r>
            <a:r>
              <a:rPr lang="en-IN" sz="1600" dirty="0" err="1"/>
              <a:t>MethodOverloading</a:t>
            </a:r>
            <a:endParaRPr lang="en-IN" sz="1600" dirty="0"/>
          </a:p>
          <a:p>
            <a:pPr marL="0" indent="0">
              <a:buNone/>
            </a:pPr>
            <a:r>
              <a:rPr lang="en-IN" sz="1600" dirty="0"/>
              <a:t>{</a:t>
            </a:r>
          </a:p>
          <a:p>
            <a:pPr marL="0" indent="0">
              <a:buNone/>
            </a:pPr>
            <a:r>
              <a:rPr lang="en-IN" sz="1600" dirty="0"/>
              <a:t>    private static void </a:t>
            </a:r>
            <a:r>
              <a:rPr lang="en-IN" sz="1600" dirty="0" err="1"/>
              <a:t>methodOverloaded</a:t>
            </a:r>
            <a:r>
              <a:rPr lang="en-IN" sz="1600" dirty="0"/>
              <a:t>()</a:t>
            </a:r>
          </a:p>
          <a:p>
            <a:pPr marL="0" indent="0">
              <a:buNone/>
            </a:pPr>
            <a:r>
              <a:rPr lang="en-IN" sz="1600" dirty="0"/>
              <a:t>    {        //No argument, private static method</a:t>
            </a:r>
          </a:p>
          <a:p>
            <a:pPr marL="0" indent="0">
              <a:buNone/>
            </a:pPr>
            <a:r>
              <a:rPr lang="en-IN" sz="1600" dirty="0"/>
              <a:t>    }</a:t>
            </a:r>
          </a:p>
          <a:p>
            <a:pPr marL="0" indent="0">
              <a:buNone/>
            </a:pPr>
            <a:r>
              <a:rPr lang="en-IN" sz="1600" dirty="0"/>
              <a:t>    private int </a:t>
            </a:r>
            <a:r>
              <a:rPr lang="en-IN" sz="1600" dirty="0" err="1"/>
              <a:t>methodOverloaded</a:t>
            </a:r>
            <a:r>
              <a:rPr lang="en-IN" sz="1600" dirty="0"/>
              <a:t>(int </a:t>
            </a:r>
            <a:r>
              <a:rPr lang="en-IN" sz="1600" dirty="0" err="1"/>
              <a:t>i</a:t>
            </a:r>
            <a:r>
              <a:rPr lang="en-IN" sz="1600" dirty="0"/>
              <a:t>)</a:t>
            </a:r>
          </a:p>
          <a:p>
            <a:pPr marL="0" indent="0">
              <a:buNone/>
            </a:pPr>
            <a:r>
              <a:rPr lang="en-IN" sz="1600" dirty="0"/>
              <a:t>    {</a:t>
            </a:r>
          </a:p>
          <a:p>
            <a:pPr marL="0" indent="0">
              <a:buNone/>
            </a:pPr>
            <a:r>
              <a:rPr lang="en-IN" sz="1600" dirty="0"/>
              <a:t>        //One argument private non-static method</a:t>
            </a:r>
          </a:p>
          <a:p>
            <a:pPr marL="0" indent="0">
              <a:buNone/>
            </a:pPr>
            <a:r>
              <a:rPr lang="en-IN" sz="1600" dirty="0"/>
              <a:t>        return </a:t>
            </a:r>
            <a:r>
              <a:rPr lang="en-IN" sz="1600" dirty="0" err="1"/>
              <a:t>i</a:t>
            </a:r>
            <a:r>
              <a:rPr lang="en-IN" sz="1600" dirty="0"/>
              <a:t>;</a:t>
            </a:r>
          </a:p>
          <a:p>
            <a:pPr marL="0" indent="0">
              <a:buNone/>
            </a:pPr>
            <a:r>
              <a:rPr lang="en-IN" sz="1600" dirty="0"/>
              <a:t>    }</a:t>
            </a:r>
          </a:p>
          <a:p>
            <a:pPr marL="0" indent="0">
              <a:buNone/>
            </a:pPr>
            <a:r>
              <a:rPr lang="en-IN" sz="1600" dirty="0"/>
              <a:t>    static int </a:t>
            </a:r>
            <a:r>
              <a:rPr lang="en-IN" sz="1600" dirty="0" err="1"/>
              <a:t>methodOverloaded</a:t>
            </a:r>
            <a:r>
              <a:rPr lang="en-IN" sz="1600" dirty="0"/>
              <a:t>(double d)</a:t>
            </a:r>
          </a:p>
          <a:p>
            <a:pPr marL="0" indent="0">
              <a:buNone/>
            </a:pPr>
            <a:r>
              <a:rPr lang="en-IN" sz="1600" dirty="0"/>
              <a:t>    {</a:t>
            </a:r>
          </a:p>
          <a:p>
            <a:pPr marL="0" indent="0">
              <a:buNone/>
            </a:pPr>
            <a:r>
              <a:rPr lang="en-IN" sz="1600" dirty="0"/>
              <a:t>        //static Method</a:t>
            </a:r>
          </a:p>
          <a:p>
            <a:pPr marL="0" indent="0">
              <a:buNone/>
            </a:pPr>
            <a:r>
              <a:rPr lang="en-IN" sz="1600" dirty="0"/>
              <a:t>        return 0;</a:t>
            </a:r>
          </a:p>
          <a:p>
            <a:pPr marL="0" indent="0">
              <a:buNone/>
            </a:pPr>
            <a:r>
              <a:rPr lang="en-IN" sz="1600" dirty="0"/>
              <a:t>    }</a:t>
            </a:r>
          </a:p>
          <a:p>
            <a:pPr marL="0" indent="0">
              <a:buNone/>
            </a:pPr>
            <a:r>
              <a:rPr lang="en-IN" sz="1600" dirty="0"/>
              <a:t>    public void </a:t>
            </a:r>
            <a:r>
              <a:rPr lang="en-IN" sz="1600" dirty="0" err="1"/>
              <a:t>methodOverloaded</a:t>
            </a:r>
            <a:r>
              <a:rPr lang="en-IN" sz="1600" dirty="0"/>
              <a:t>(int </a:t>
            </a:r>
            <a:r>
              <a:rPr lang="en-IN" sz="1600" dirty="0" err="1"/>
              <a:t>i</a:t>
            </a:r>
            <a:r>
              <a:rPr lang="en-IN" sz="1600" dirty="0"/>
              <a:t>, double d)</a:t>
            </a:r>
          </a:p>
          <a:p>
            <a:pPr marL="0" indent="0">
              <a:buNone/>
            </a:pPr>
            <a:r>
              <a:rPr lang="en-IN" sz="1600" dirty="0"/>
              <a:t>    {</a:t>
            </a:r>
          </a:p>
          <a:p>
            <a:pPr marL="0" indent="0">
              <a:buNone/>
            </a:pPr>
            <a:r>
              <a:rPr lang="en-IN" sz="1600" dirty="0"/>
              <a:t>        //Public non-static Method</a:t>
            </a:r>
          </a:p>
          <a:p>
            <a:pPr marL="0" indent="0">
              <a:buNone/>
            </a:pPr>
            <a:r>
              <a:rPr lang="en-IN" sz="1600" dirty="0"/>
              <a:t>    }</a:t>
            </a:r>
          </a:p>
          <a:p>
            <a:pPr marL="0" indent="0">
              <a:buNone/>
            </a:pPr>
            <a:r>
              <a:rPr lang="en-IN" sz="1600" dirty="0"/>
              <a:t>}</a:t>
            </a:r>
          </a:p>
          <a:p>
            <a:r>
              <a:rPr lang="en-US" sz="1600" dirty="0"/>
              <a:t>From the above examples, it is clear that compiler will check only method signature for method overloading or for duplicate methods. It does not check return types, access modifiers and static or non-static.</a:t>
            </a:r>
            <a:endParaRPr lang="en-IN" sz="1600" dirty="0"/>
          </a:p>
        </p:txBody>
      </p:sp>
    </p:spTree>
    <p:extLst>
      <p:ext uri="{BB962C8B-B14F-4D97-AF65-F5344CB8AC3E}">
        <p14:creationId xmlns:p14="http://schemas.microsoft.com/office/powerpoint/2010/main" val="3432930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217504"/>
            <a:ext cx="10515600" cy="661386"/>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br>
              <a:rPr lang="en-IN" b="1" i="0" u="none" strike="noStrike" dirty="0">
                <a:solidFill>
                  <a:srgbClr val="000000"/>
                </a:solidFill>
                <a:effectLst/>
                <a:latin typeface="Calibri" panose="020F0502020204030204" pitchFamily="34" charset="0"/>
                <a:cs typeface="Calibri" panose="020F0502020204030204" pitchFamily="34" charset="0"/>
              </a:rPr>
            </a:br>
            <a:r>
              <a:rPr lang="en-IN" b="1" dirty="0">
                <a:latin typeface="+mn-lt"/>
                <a:ea typeface="+mn-ea"/>
                <a:cs typeface="+mn-cs"/>
              </a:rPr>
              <a:t>Type widening</a:t>
            </a:r>
            <a:br>
              <a:rPr lang="en-IN" b="1" i="0" dirty="0">
                <a:solidFill>
                  <a:srgbClr val="B34D37"/>
                </a:solidFill>
                <a:effectLst/>
                <a:latin typeface="Open Sans" panose="020B0606030504020204" pitchFamily="34" charset="0"/>
              </a:rPr>
            </a:b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109709"/>
            <a:ext cx="10515600" cy="5530788"/>
          </a:xfrm>
        </p:spPr>
        <p:txBody>
          <a:bodyPr>
            <a:normAutofit/>
          </a:bodyPr>
          <a:lstStyle/>
          <a:p>
            <a:r>
              <a:rPr lang="en-US" sz="1600" dirty="0"/>
              <a:t>One given type is implicitly promoted to another one when there’s no matching between the types of the arguments passed to the overloaded method and a specific method implementation.</a:t>
            </a:r>
          </a:p>
          <a:p>
            <a:r>
              <a:rPr lang="en-US" sz="1600" dirty="0"/>
              <a:t>The following images illustrates the order of the primitive types when widened:</a:t>
            </a:r>
          </a:p>
          <a:p>
            <a:endParaRPr lang="en-IN" sz="1600" b="1" dirty="0"/>
          </a:p>
        </p:txBody>
      </p:sp>
      <p:pic>
        <p:nvPicPr>
          <p:cNvPr id="5" name="Picture 4">
            <a:extLst>
              <a:ext uri="{FF2B5EF4-FFF2-40B4-BE49-F238E27FC236}">
                <a16:creationId xmlns:a16="http://schemas.microsoft.com/office/drawing/2014/main" id="{8A89258B-2B40-46B0-8F7E-3EAE2027C470}"/>
              </a:ext>
            </a:extLst>
          </p:cNvPr>
          <p:cNvPicPr>
            <a:picLocks noChangeAspect="1"/>
          </p:cNvPicPr>
          <p:nvPr/>
        </p:nvPicPr>
        <p:blipFill>
          <a:blip r:embed="rId2"/>
          <a:stretch>
            <a:fillRect/>
          </a:stretch>
        </p:blipFill>
        <p:spPr>
          <a:xfrm>
            <a:off x="1504950" y="1957387"/>
            <a:ext cx="9182100" cy="2943225"/>
          </a:xfrm>
          <a:prstGeom prst="rect">
            <a:avLst/>
          </a:prstGeom>
        </p:spPr>
      </p:pic>
    </p:spTree>
    <p:extLst>
      <p:ext uri="{BB962C8B-B14F-4D97-AF65-F5344CB8AC3E}">
        <p14:creationId xmlns:p14="http://schemas.microsoft.com/office/powerpoint/2010/main" val="1336591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59798"/>
            <a:ext cx="10515600" cy="6480700"/>
          </a:xfrm>
        </p:spPr>
        <p:txBody>
          <a:bodyPr>
            <a:normAutofit/>
          </a:bodyPr>
          <a:lstStyle/>
          <a:p>
            <a:pPr marL="0" indent="0">
              <a:buNone/>
            </a:pPr>
            <a:r>
              <a:rPr lang="en-US" sz="1600" b="1" dirty="0"/>
              <a:t>What will be the output of this program</a:t>
            </a:r>
          </a:p>
          <a:p>
            <a:pPr marL="0" indent="0">
              <a:buNone/>
            </a:pPr>
            <a:r>
              <a:rPr lang="en-US" sz="1600" dirty="0"/>
              <a:t>class Scratch {</a:t>
            </a:r>
          </a:p>
          <a:p>
            <a:pPr marL="0" indent="0">
              <a:buNone/>
            </a:pPr>
            <a:r>
              <a:rPr lang="en-US" sz="1600" dirty="0"/>
              <a:t>    static String x = "";</a:t>
            </a:r>
          </a:p>
          <a:p>
            <a:pPr marL="0" indent="0">
              <a:buNone/>
            </a:pPr>
            <a:r>
              <a:rPr lang="en-US" sz="1600" dirty="0"/>
              <a:t>    public static void main(String... </a:t>
            </a:r>
            <a:r>
              <a:rPr lang="en-US" sz="1600" dirty="0" err="1"/>
              <a:t>doYourBest</a:t>
            </a:r>
            <a:r>
              <a:rPr lang="en-US" sz="1600" dirty="0"/>
              <a:t>) {</a:t>
            </a:r>
          </a:p>
          <a:p>
            <a:pPr marL="0" indent="0">
              <a:buNone/>
            </a:pPr>
            <a:r>
              <a:rPr lang="en-US" sz="1600" dirty="0"/>
              <a:t>        </a:t>
            </a:r>
            <a:r>
              <a:rPr lang="en-US" sz="1600" dirty="0" err="1"/>
              <a:t>executeAction</a:t>
            </a:r>
            <a:r>
              <a:rPr lang="en-US" sz="1600" dirty="0"/>
              <a:t>(1);</a:t>
            </a:r>
          </a:p>
          <a:p>
            <a:pPr marL="0" indent="0">
              <a:buNone/>
            </a:pPr>
            <a:r>
              <a:rPr lang="en-US" sz="1600" dirty="0"/>
              <a:t>        </a:t>
            </a:r>
            <a:r>
              <a:rPr lang="en-US" sz="1600" dirty="0" err="1"/>
              <a:t>executeAction</a:t>
            </a:r>
            <a:r>
              <a:rPr lang="en-US" sz="1600" dirty="0"/>
              <a:t>(1.0);</a:t>
            </a:r>
          </a:p>
          <a:p>
            <a:pPr marL="0" indent="0">
              <a:buNone/>
            </a:pPr>
            <a:r>
              <a:rPr lang="en-US" sz="1600" dirty="0"/>
              <a:t>        </a:t>
            </a:r>
            <a:r>
              <a:rPr lang="en-US" sz="1600" dirty="0" err="1"/>
              <a:t>executeAction</a:t>
            </a:r>
            <a:r>
              <a:rPr lang="en-US" sz="1600" dirty="0"/>
              <a:t>(</a:t>
            </a:r>
            <a:r>
              <a:rPr lang="en-US" sz="1600" dirty="0" err="1"/>
              <a:t>Double.valueOf</a:t>
            </a:r>
            <a:r>
              <a:rPr lang="en-US" sz="1600" dirty="0"/>
              <a:t>("5"));</a:t>
            </a:r>
          </a:p>
          <a:p>
            <a:pPr marL="0" indent="0">
              <a:buNone/>
            </a:pPr>
            <a:r>
              <a:rPr lang="en-US" sz="1600" dirty="0"/>
              <a:t>        </a:t>
            </a:r>
            <a:r>
              <a:rPr lang="en-US" sz="1600" dirty="0" err="1"/>
              <a:t>executeAction</a:t>
            </a:r>
            <a:r>
              <a:rPr lang="en-US" sz="1600" dirty="0"/>
              <a:t>(1L);</a:t>
            </a:r>
          </a:p>
          <a:p>
            <a:pPr marL="0" indent="0">
              <a:buNone/>
            </a:pPr>
            <a:endParaRPr lang="en-US" sz="1600" dirty="0"/>
          </a:p>
          <a:p>
            <a:pPr marL="0" indent="0">
              <a:buNone/>
            </a:pPr>
            <a:r>
              <a:rPr lang="en-US" sz="1600" dirty="0"/>
              <a:t>        </a:t>
            </a:r>
            <a:r>
              <a:rPr lang="en-US" sz="1600" dirty="0" err="1"/>
              <a:t>System.out.println</a:t>
            </a:r>
            <a:r>
              <a:rPr lang="en-US" sz="1600" dirty="0"/>
              <a:t>(x);</a:t>
            </a:r>
          </a:p>
          <a:p>
            <a:pPr marL="0" indent="0">
              <a:buNone/>
            </a:pPr>
            <a:r>
              <a:rPr lang="en-US" sz="1600" dirty="0"/>
              <a:t>    }</a:t>
            </a:r>
          </a:p>
          <a:p>
            <a:pPr marL="0" indent="0">
              <a:buNone/>
            </a:pPr>
            <a:r>
              <a:rPr lang="en-US" sz="1600" dirty="0"/>
              <a:t>    static void </a:t>
            </a:r>
            <a:r>
              <a:rPr lang="en-US" sz="1600" dirty="0" err="1"/>
              <a:t>executeAction</a:t>
            </a:r>
            <a:r>
              <a:rPr lang="en-US" sz="1600" dirty="0"/>
              <a:t>(short var)   {x += "d"; }</a:t>
            </a:r>
          </a:p>
          <a:p>
            <a:pPr marL="0" indent="0">
              <a:buNone/>
            </a:pPr>
            <a:r>
              <a:rPr lang="en-US" sz="1600" dirty="0"/>
              <a:t>    static void </a:t>
            </a:r>
            <a:r>
              <a:rPr lang="en-US" sz="1600" dirty="0" err="1"/>
              <a:t>executeAction</a:t>
            </a:r>
            <a:r>
              <a:rPr lang="en-US" sz="1600" dirty="0"/>
              <a:t>(float var)   {x += "e"; }</a:t>
            </a:r>
          </a:p>
          <a:p>
            <a:pPr marL="0" indent="0">
              <a:buNone/>
            </a:pPr>
            <a:r>
              <a:rPr lang="en-US" sz="1600" dirty="0"/>
              <a:t>    static void </a:t>
            </a:r>
            <a:r>
              <a:rPr lang="en-US" sz="1600" dirty="0" err="1"/>
              <a:t>executeAction</a:t>
            </a:r>
            <a:r>
              <a:rPr lang="en-US" sz="1600" dirty="0"/>
              <a:t>(double var)  {x += "f"; }</a:t>
            </a:r>
          </a:p>
          <a:p>
            <a:pPr marL="0" indent="0">
              <a:buNone/>
            </a:pPr>
            <a:r>
              <a:rPr lang="en-US" sz="1600" dirty="0"/>
              <a:t>}</a:t>
            </a:r>
            <a:endParaRPr lang="en-IN" sz="1600" b="1" dirty="0"/>
          </a:p>
        </p:txBody>
      </p:sp>
    </p:spTree>
    <p:extLst>
      <p:ext uri="{BB962C8B-B14F-4D97-AF65-F5344CB8AC3E}">
        <p14:creationId xmlns:p14="http://schemas.microsoft.com/office/powerpoint/2010/main" val="15861416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5576</TotalTime>
  <Words>1342</Words>
  <Application>Microsoft Office PowerPoint</Application>
  <PresentationFormat>Widescreen</PresentationFormat>
  <Paragraphs>152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Open Sans</vt:lpstr>
      <vt:lpstr>Titillium Web</vt:lpstr>
      <vt:lpstr>Office Theme</vt:lpstr>
      <vt:lpstr> Polymorphism </vt:lpstr>
      <vt:lpstr> Method Overloading </vt:lpstr>
      <vt:lpstr> Method Overloading Rules </vt:lpstr>
      <vt:lpstr>PowerPoint Presentation</vt:lpstr>
      <vt:lpstr>PowerPoint Presentation</vt:lpstr>
      <vt:lpstr>PowerPoint Presentation</vt:lpstr>
      <vt:lpstr>PowerPoint Presentation</vt:lpstr>
      <vt:lpstr>PowerPoint Presentation</vt:lpstr>
      <vt:lpstr>  Type widening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73</cp:revision>
  <dcterms:created xsi:type="dcterms:W3CDTF">2021-08-12T14:59:47Z</dcterms:created>
  <dcterms:modified xsi:type="dcterms:W3CDTF">2022-07-28T11:02:44Z</dcterms:modified>
</cp:coreProperties>
</file>