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B59D-E7DA-4B57-BFAC-067BBE37DD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A9263D-CF3F-4BBF-8725-4DDFF987C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A256EE-ADB6-48D2-B2BA-59319EB95FAC}"/>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5" name="Footer Placeholder 4">
            <a:extLst>
              <a:ext uri="{FF2B5EF4-FFF2-40B4-BE49-F238E27FC236}">
                <a16:creationId xmlns:a16="http://schemas.microsoft.com/office/drawing/2014/main" id="{FA0FF82E-46C0-4791-B94F-8AAFDA463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3F28C-0C29-45F9-B5A6-61E18650702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75842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769D-BFDD-4F18-B71E-5B2991F185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E71FCC-F6BB-46E1-B0C8-16FE08B6CF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2CFABD-47C7-404F-9FEA-B149CACFFD36}"/>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5" name="Footer Placeholder 4">
            <a:extLst>
              <a:ext uri="{FF2B5EF4-FFF2-40B4-BE49-F238E27FC236}">
                <a16:creationId xmlns:a16="http://schemas.microsoft.com/office/drawing/2014/main" id="{EB88F9A5-87FD-4115-A01C-B96657405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C801E-2D39-4A77-8C1E-EAECECEB367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24729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DC88-AB71-4F21-81DF-5F87D7D79B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613F50-E715-42BF-84A6-E75758AB48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B8B33-E08C-4CA0-9CC3-806F113BEA1A}"/>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5" name="Footer Placeholder 4">
            <a:extLst>
              <a:ext uri="{FF2B5EF4-FFF2-40B4-BE49-F238E27FC236}">
                <a16:creationId xmlns:a16="http://schemas.microsoft.com/office/drawing/2014/main" id="{E1E2A163-F793-4223-BB34-95E1158A3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28612-989E-4103-8C0A-AE8545359EA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038909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6E7C-81BD-41C5-A452-6EAE546BEA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A3E81-14F8-423D-89EE-2F45CDA78C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B42597-3B5D-4601-A6D6-EBC51E025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D93759-B0B1-420D-802F-2A00B6E7E36B}"/>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6" name="Footer Placeholder 5">
            <a:extLst>
              <a:ext uri="{FF2B5EF4-FFF2-40B4-BE49-F238E27FC236}">
                <a16:creationId xmlns:a16="http://schemas.microsoft.com/office/drawing/2014/main" id="{25B0346A-06DC-4552-B787-4C8B08AB2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BF1500-8649-42D5-9FDA-C1D17C4D94F0}"/>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03439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F412-893B-4BAD-9222-2B1499D076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5A0AF1-2C0F-4F48-95A7-587ADBDD5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A275F0-B4A2-4CC0-8567-B5C1F6B1C3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64487-5112-4E99-97F5-E6FB03C999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F1B33D-9DA7-4A41-9D7E-55B54A350D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059A3A-2B9F-44EF-8BEB-A56BB5ED834E}"/>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8" name="Footer Placeholder 7">
            <a:extLst>
              <a:ext uri="{FF2B5EF4-FFF2-40B4-BE49-F238E27FC236}">
                <a16:creationId xmlns:a16="http://schemas.microsoft.com/office/drawing/2014/main" id="{DBC381BD-6C74-4F7F-A9BE-9676A13034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8E0753-A0F0-4FB0-B4C8-1CE1FB32430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91625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6D91-5FCC-4172-82EC-B8B46E21C6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1A1DF3-2E3D-456D-948C-D24614EC4E63}"/>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4" name="Footer Placeholder 3">
            <a:extLst>
              <a:ext uri="{FF2B5EF4-FFF2-40B4-BE49-F238E27FC236}">
                <a16:creationId xmlns:a16="http://schemas.microsoft.com/office/drawing/2014/main" id="{FFF6B5A1-AAE5-4FB6-8D27-7FA65D4FF0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25F4B5-2898-429F-A970-BD324CCD4D5F}"/>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19421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BD9A7A-58E5-458E-B4CB-AAD67A5EFFA5}"/>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3" name="Footer Placeholder 2">
            <a:extLst>
              <a:ext uri="{FF2B5EF4-FFF2-40B4-BE49-F238E27FC236}">
                <a16:creationId xmlns:a16="http://schemas.microsoft.com/office/drawing/2014/main" id="{C5C573B6-26EF-4C85-9BFA-8E2C47573B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0196F7-8B52-4A6B-88CC-0016D2E9145D}"/>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667179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3CEF-4060-42D5-9F68-DE162E393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8DD1A7-6A23-4F5F-BA62-68195DB5A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1F8DE1-12BC-40D5-B4EC-82693692D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9A25DB-4F54-4E03-B958-776A1ED550DA}"/>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6" name="Footer Placeholder 5">
            <a:extLst>
              <a:ext uri="{FF2B5EF4-FFF2-40B4-BE49-F238E27FC236}">
                <a16:creationId xmlns:a16="http://schemas.microsoft.com/office/drawing/2014/main" id="{AB9EE867-6B1D-4AB1-823C-4C55C05542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58D8D8-5BAA-4C89-86FF-156DE9FF60D2}"/>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240817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4267-CB7C-486F-B7E5-A67402E52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CC613C-82B2-4DA7-8479-FE33C936FB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B1EB17-1800-4819-9A81-43527BD60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6F945-E87E-4530-826D-37E9CD42F531}"/>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6" name="Footer Placeholder 5">
            <a:extLst>
              <a:ext uri="{FF2B5EF4-FFF2-40B4-BE49-F238E27FC236}">
                <a16:creationId xmlns:a16="http://schemas.microsoft.com/office/drawing/2014/main" id="{8CA5A578-E4DC-4ADA-A3C8-CC1F75DCC3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95C3EA-F3A9-43A4-B771-E7310A6CE29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93361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D649-0B86-4932-A3F3-2FE55007CB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4D4290-2212-455F-8CFA-5A5F8721C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A63E5-67C8-4D42-9B0C-B6DC98350156}"/>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5" name="Footer Placeholder 4">
            <a:extLst>
              <a:ext uri="{FF2B5EF4-FFF2-40B4-BE49-F238E27FC236}">
                <a16:creationId xmlns:a16="http://schemas.microsoft.com/office/drawing/2014/main" id="{CF9C1DB8-AB24-4B9A-987D-B58E0B269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D6F6B7-C0C5-4DA4-85BD-BA138E178698}"/>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1737326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3A7B-802E-420A-9054-9999508BF2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B54851-8002-4904-9716-F86E789C92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E64EF9-F89F-4495-AF22-E6571AACCFF7}"/>
              </a:ext>
            </a:extLst>
          </p:cNvPr>
          <p:cNvSpPr>
            <a:spLocks noGrp="1"/>
          </p:cNvSpPr>
          <p:nvPr>
            <p:ph type="dt" sz="half" idx="10"/>
          </p:nvPr>
        </p:nvSpPr>
        <p:spPr/>
        <p:txBody>
          <a:bodyPr/>
          <a:lstStyle/>
          <a:p>
            <a:fld id="{A9A6D8C6-D499-4CD7-9080-1E49221F37AC}" type="datetimeFigureOut">
              <a:rPr lang="en-IN" smtClean="0"/>
              <a:t>17-08-2021</a:t>
            </a:fld>
            <a:endParaRPr lang="en-IN"/>
          </a:p>
        </p:txBody>
      </p:sp>
      <p:sp>
        <p:nvSpPr>
          <p:cNvPr id="5" name="Footer Placeholder 4">
            <a:extLst>
              <a:ext uri="{FF2B5EF4-FFF2-40B4-BE49-F238E27FC236}">
                <a16:creationId xmlns:a16="http://schemas.microsoft.com/office/drawing/2014/main" id="{FF5C9A7B-9DBF-4061-A285-6A47367E2C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325262-DBEE-43EC-817A-584E0D57329E}"/>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56421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AAC875-E80F-4309-96CB-689383C5A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443B97-0C9D-4EDE-8B0A-9A8B5E148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2391E8-6A8E-49B6-83EA-13F47E755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6D8C6-D499-4CD7-9080-1E49221F37AC}" type="datetimeFigureOut">
              <a:rPr lang="en-IN" smtClean="0"/>
              <a:t>17-08-2021</a:t>
            </a:fld>
            <a:endParaRPr lang="en-IN"/>
          </a:p>
        </p:txBody>
      </p:sp>
      <p:sp>
        <p:nvSpPr>
          <p:cNvPr id="5" name="Footer Placeholder 4">
            <a:extLst>
              <a:ext uri="{FF2B5EF4-FFF2-40B4-BE49-F238E27FC236}">
                <a16:creationId xmlns:a16="http://schemas.microsoft.com/office/drawing/2014/main" id="{27983029-60F6-4D33-B1B3-66F771FB3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4D5A56-975D-4176-A871-66C018D2F0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45B19-1A90-476D-85DA-9750C8D70378}" type="slidenum">
              <a:rPr lang="en-IN" smtClean="0"/>
              <a:t>‹#›</a:t>
            </a:fld>
            <a:endParaRPr lang="en-IN"/>
          </a:p>
        </p:txBody>
      </p:sp>
    </p:spTree>
    <p:extLst>
      <p:ext uri="{BB962C8B-B14F-4D97-AF65-F5344CB8AC3E}">
        <p14:creationId xmlns:p14="http://schemas.microsoft.com/office/powerpoint/2010/main" val="89426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rite.geeksforgeeks.org/overriding-in-java/" TargetMode="External"/><Relationship Id="rId2" Type="http://schemas.openxmlformats.org/officeDocument/2006/relationships/hyperlink" Target="https://www.geeksforgeeks.org/abstract-keyword-in-java/" TargetMode="External"/><Relationship Id="rId1" Type="http://schemas.openxmlformats.org/officeDocument/2006/relationships/slideLayout" Target="../slideLayouts/slideLayout2.xml"/><Relationship Id="rId4" Type="http://schemas.openxmlformats.org/officeDocument/2006/relationships/hyperlink" Target="https://www.geeksforgeeks.org/new-operator-jav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rite.geeksforgeeks.org/encapsulation-in-jav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365125"/>
            <a:ext cx="10515600" cy="975403"/>
          </a:xfrm>
        </p:spPr>
        <p:txBody>
          <a:bodyPr/>
          <a:lstStyle/>
          <a:p>
            <a:r>
              <a:rPr lang="en-IN" b="1" dirty="0"/>
              <a:t>Abstraction</a:t>
            </a:r>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526959"/>
            <a:ext cx="10515600" cy="5113538"/>
          </a:xfrm>
        </p:spPr>
        <p:txBody>
          <a:bodyPr>
            <a:normAutofit lnSpcReduction="10000"/>
          </a:bodyPr>
          <a:lstStyle/>
          <a:p>
            <a:r>
              <a:rPr lang="en-US" sz="1600" dirty="0"/>
              <a:t>Data Abstraction is the property by virtue of which only the essential details are displayed to the user.</a:t>
            </a:r>
          </a:p>
          <a:p>
            <a:r>
              <a:rPr lang="en-US" sz="1600" dirty="0"/>
              <a:t>Data Abstraction may also be defined as the process of identifying only the required characteristics of an object ignoring the irrelevant details.</a:t>
            </a:r>
          </a:p>
          <a:p>
            <a:pPr marL="0" indent="0">
              <a:buNone/>
            </a:pPr>
            <a:r>
              <a:rPr lang="en-US" sz="1600" dirty="0"/>
              <a:t>Abstract classes and Abstract methods :</a:t>
            </a:r>
          </a:p>
          <a:p>
            <a:pPr algn="just" fontAlgn="base">
              <a:buFont typeface="+mj-lt"/>
              <a:buAutoNum type="arabicPeriod"/>
            </a:pPr>
            <a:r>
              <a:rPr lang="en-US" sz="1600" dirty="0"/>
              <a:t>An abstract class is a class that is declared with </a:t>
            </a:r>
            <a:r>
              <a:rPr lang="en-US" sz="1600" dirty="0">
                <a:hlinkClick r:id="rId2">
                  <a:extLst>
                    <a:ext uri="{A12FA001-AC4F-418D-AE19-62706E023703}">
                      <ahyp:hlinkClr xmlns:ahyp="http://schemas.microsoft.com/office/drawing/2018/hyperlinkcolor" val="tx"/>
                    </a:ext>
                  </a:extLst>
                </a:hlinkClick>
              </a:rPr>
              <a:t>abstract keyword.</a:t>
            </a:r>
            <a:endParaRPr lang="en-US" sz="1600" dirty="0"/>
          </a:p>
          <a:p>
            <a:pPr algn="just" fontAlgn="base">
              <a:buFont typeface="+mj-lt"/>
              <a:buAutoNum type="arabicPeriod"/>
            </a:pPr>
            <a:r>
              <a:rPr lang="en-US" sz="1600" dirty="0"/>
              <a:t>An abstract method is a method that is declared without implementation.</a:t>
            </a:r>
          </a:p>
          <a:p>
            <a:pPr algn="just" fontAlgn="base">
              <a:buFont typeface="+mj-lt"/>
              <a:buAutoNum type="arabicPeriod"/>
            </a:pPr>
            <a:r>
              <a:rPr lang="en-US" sz="1600" dirty="0"/>
              <a:t>An abstract class may or may not have all abstract methods. Some of them can be concrete methods</a:t>
            </a:r>
          </a:p>
          <a:p>
            <a:pPr algn="just" fontAlgn="base">
              <a:buFont typeface="+mj-lt"/>
              <a:buAutoNum type="arabicPeriod"/>
            </a:pPr>
            <a:r>
              <a:rPr lang="en-US" sz="1600" dirty="0"/>
              <a:t>A method defined abstract must always be redefined in the subclass, thus making </a:t>
            </a:r>
            <a:r>
              <a:rPr lang="en-US" sz="1600" dirty="0">
                <a:hlinkClick r:id="rId3">
                  <a:extLst>
                    <a:ext uri="{A12FA001-AC4F-418D-AE19-62706E023703}">
                      <ahyp:hlinkClr xmlns:ahyp="http://schemas.microsoft.com/office/drawing/2018/hyperlinkcolor" val="tx"/>
                    </a:ext>
                  </a:extLst>
                </a:hlinkClick>
              </a:rPr>
              <a:t>overriding</a:t>
            </a:r>
            <a:r>
              <a:rPr lang="en-US" sz="1600" dirty="0"/>
              <a:t> compulsory OR either make subclass itself abstract.</a:t>
            </a:r>
          </a:p>
          <a:p>
            <a:pPr algn="just" fontAlgn="base">
              <a:buFont typeface="+mj-lt"/>
              <a:buAutoNum type="arabicPeriod"/>
            </a:pPr>
            <a:r>
              <a:rPr lang="en-US" sz="1600" dirty="0"/>
              <a:t>Any class that contains one or more abstract methods must also be declared with abstract keyword.</a:t>
            </a:r>
          </a:p>
          <a:p>
            <a:pPr algn="just" fontAlgn="base">
              <a:buFont typeface="+mj-lt"/>
              <a:buAutoNum type="arabicPeriod"/>
            </a:pPr>
            <a:r>
              <a:rPr lang="en-US" sz="1600" dirty="0"/>
              <a:t>There can be no object of an abstract class. That is, an abstract class can not be directly instantiated with the </a:t>
            </a:r>
            <a:r>
              <a:rPr lang="en-US" sz="1600" dirty="0">
                <a:hlinkClick r:id="rId4">
                  <a:extLst>
                    <a:ext uri="{A12FA001-AC4F-418D-AE19-62706E023703}">
                      <ahyp:hlinkClr xmlns:ahyp="http://schemas.microsoft.com/office/drawing/2018/hyperlinkcolor" val="tx"/>
                    </a:ext>
                  </a:extLst>
                </a:hlinkClick>
              </a:rPr>
              <a:t>new operator</a:t>
            </a:r>
            <a:r>
              <a:rPr lang="en-US" sz="1600" dirty="0"/>
              <a:t>.</a:t>
            </a:r>
          </a:p>
          <a:p>
            <a:pPr algn="just" fontAlgn="base">
              <a:buFont typeface="+mj-lt"/>
              <a:buAutoNum type="arabicPeriod"/>
            </a:pPr>
            <a:r>
              <a:rPr lang="en-US" sz="1600" dirty="0"/>
              <a:t>An abstract class can have parameterized constructors and default constructor is always present in an abstract class.</a:t>
            </a:r>
          </a:p>
          <a:p>
            <a:pPr algn="just" fontAlgn="base">
              <a:buFont typeface="+mj-lt"/>
              <a:buAutoNum type="arabicPeriod"/>
            </a:pPr>
            <a:endParaRPr lang="en-US" sz="1400" dirty="0"/>
          </a:p>
          <a:p>
            <a:pPr marL="0" indent="0" algn="just" fontAlgn="base">
              <a:buNone/>
            </a:pPr>
            <a:r>
              <a:rPr lang="en-US" sz="1600" b="1" dirty="0"/>
              <a:t>When to use abstract classes and abstract methods with an example</a:t>
            </a:r>
          </a:p>
          <a:p>
            <a:pPr algn="just" fontAlgn="base"/>
            <a:r>
              <a:rPr lang="en-US" sz="1600" dirty="0"/>
              <a:t>There are situations in which we will want to define a superclass that declares the structure of a given abstraction without providing a complete implementation of every method. That is, sometimes we will want to create a superclass that only defines a generalization form that will be shared by all of its subclasses, leaving it to each subclass to fill in the details.</a:t>
            </a:r>
          </a:p>
          <a:p>
            <a:pPr marL="0" indent="0">
              <a:buNone/>
            </a:pPr>
            <a:endParaRPr lang="en-IN" sz="1600" b="1" dirty="0"/>
          </a:p>
        </p:txBody>
      </p:sp>
    </p:spTree>
    <p:extLst>
      <p:ext uri="{BB962C8B-B14F-4D97-AF65-F5344CB8AC3E}">
        <p14:creationId xmlns:p14="http://schemas.microsoft.com/office/powerpoint/2010/main" val="306257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365125"/>
            <a:ext cx="10515600" cy="664685"/>
          </a:xfrm>
        </p:spPr>
        <p:txBody>
          <a:bodyPr>
            <a:normAutofit fontScale="90000"/>
          </a:bodyPr>
          <a:lstStyle/>
          <a:p>
            <a:r>
              <a:rPr lang="en-US" sz="3200" b="1" dirty="0"/>
              <a:t>Let’s discuss some rules need to follow while using abstract classes and abstract methods.</a:t>
            </a:r>
            <a:endParaRPr lang="en-IN" sz="3200"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233996"/>
            <a:ext cx="10515600" cy="5779363"/>
          </a:xfrm>
        </p:spPr>
        <p:txBody>
          <a:bodyPr>
            <a:normAutofit fontScale="25000" lnSpcReduction="20000"/>
          </a:bodyPr>
          <a:lstStyle/>
          <a:p>
            <a:pPr marL="0" indent="0" algn="just" fontAlgn="base">
              <a:buNone/>
            </a:pPr>
            <a:r>
              <a:rPr lang="en-US" sz="5600" dirty="0">
                <a:solidFill>
                  <a:srgbClr val="000000"/>
                </a:solidFill>
                <a:latin typeface="Calibri Light" panose="020F0302020204030204" pitchFamily="34" charset="0"/>
                <a:cs typeface="Calibri Light" panose="020F0302020204030204" pitchFamily="34" charset="0"/>
              </a:rPr>
              <a:t>1</a:t>
            </a:r>
            <a:r>
              <a:rPr lang="en-US" sz="6400" dirty="0"/>
              <a:t>) Abstract classes and abstract methods are declared using ‘abstract‘ keyword. We can’t create objects to those classes which are declared as abstract. But, we can create objects to sub classes of abstract class, provided they must implement abstract methods.</a:t>
            </a:r>
          </a:p>
          <a:p>
            <a:pPr marL="0" indent="0" algn="just" fontAlgn="base">
              <a:buNone/>
            </a:pPr>
            <a:r>
              <a:rPr lang="en-US" sz="6400" dirty="0"/>
              <a:t>abstract class </a:t>
            </a:r>
            <a:r>
              <a:rPr lang="en-US" sz="6400" dirty="0" err="1"/>
              <a:t>AbstractClass</a:t>
            </a:r>
            <a:endParaRPr lang="en-US" sz="6400" dirty="0"/>
          </a:p>
          <a:p>
            <a:pPr marL="0" indent="0" algn="just" fontAlgn="base">
              <a:buNone/>
            </a:pPr>
            <a:r>
              <a:rPr lang="en-US" sz="6400" dirty="0"/>
              <a:t>{     abstract void </a:t>
            </a:r>
            <a:r>
              <a:rPr lang="en-US" sz="6400" dirty="0" err="1"/>
              <a:t>abstractMethod</a:t>
            </a:r>
            <a:r>
              <a:rPr lang="en-US" sz="6400" dirty="0"/>
              <a:t>(); }</a:t>
            </a:r>
          </a:p>
          <a:p>
            <a:pPr marL="0" indent="0" algn="just" fontAlgn="base">
              <a:buNone/>
            </a:pPr>
            <a:r>
              <a:rPr lang="en-US" sz="6400" dirty="0"/>
              <a:t>class </a:t>
            </a:r>
            <a:r>
              <a:rPr lang="en-US" sz="6400" dirty="0" err="1"/>
              <a:t>ConcreteClass</a:t>
            </a:r>
            <a:r>
              <a:rPr lang="en-US" sz="6400" dirty="0"/>
              <a:t> extends </a:t>
            </a:r>
            <a:r>
              <a:rPr lang="en-US" sz="6400" dirty="0" err="1"/>
              <a:t>AbstractClass</a:t>
            </a:r>
            <a:endParaRPr lang="en-US" sz="6400" dirty="0"/>
          </a:p>
          <a:p>
            <a:pPr marL="0" indent="0" algn="just" fontAlgn="base">
              <a:buNone/>
            </a:pPr>
            <a:r>
              <a:rPr lang="en-US" sz="6400" dirty="0"/>
              <a:t>{</a:t>
            </a:r>
          </a:p>
          <a:p>
            <a:pPr marL="0" indent="0" algn="just" fontAlgn="base">
              <a:buNone/>
            </a:pPr>
            <a:r>
              <a:rPr lang="en-US" sz="6400" dirty="0"/>
              <a:t>    void </a:t>
            </a:r>
            <a:r>
              <a:rPr lang="en-US" sz="6400" dirty="0" err="1"/>
              <a:t>abstractMethod</a:t>
            </a:r>
            <a:r>
              <a:rPr lang="en-US" sz="6400" dirty="0"/>
              <a:t>()    {	 </a:t>
            </a:r>
            <a:r>
              <a:rPr lang="en-US" sz="6400" dirty="0" err="1"/>
              <a:t>System.out.println</a:t>
            </a:r>
            <a:r>
              <a:rPr lang="en-US" sz="6400" dirty="0"/>
              <a:t>(“Abstract Method Implemented”);</a:t>
            </a:r>
          </a:p>
          <a:p>
            <a:pPr marL="0" indent="0" algn="just" fontAlgn="base">
              <a:buNone/>
            </a:pPr>
            <a:r>
              <a:rPr lang="en-US" sz="6400" dirty="0"/>
              <a:t>          }</a:t>
            </a:r>
          </a:p>
          <a:p>
            <a:pPr marL="0" indent="0" algn="just" fontAlgn="base">
              <a:buNone/>
            </a:pPr>
            <a:r>
              <a:rPr lang="en-US" sz="6400" dirty="0"/>
              <a:t>}</a:t>
            </a:r>
          </a:p>
          <a:p>
            <a:pPr marL="0" indent="0" algn="just" fontAlgn="base">
              <a:buNone/>
            </a:pPr>
            <a:r>
              <a:rPr lang="en-US" sz="6400" dirty="0"/>
              <a:t>public class Abstraction</a:t>
            </a:r>
          </a:p>
          <a:p>
            <a:pPr marL="0" indent="0" algn="just" fontAlgn="base">
              <a:buNone/>
            </a:pPr>
            <a:r>
              <a:rPr lang="en-US" sz="6400" dirty="0"/>
              <a:t>{    public static void main(String[] </a:t>
            </a:r>
            <a:r>
              <a:rPr lang="en-US" sz="6400" dirty="0" err="1"/>
              <a:t>args</a:t>
            </a:r>
            <a:r>
              <a:rPr lang="en-US" sz="6400" dirty="0"/>
              <a:t>)</a:t>
            </a:r>
          </a:p>
          <a:p>
            <a:pPr marL="0" indent="0" algn="just" fontAlgn="base">
              <a:buNone/>
            </a:pPr>
            <a:r>
              <a:rPr lang="en-US" sz="6400" dirty="0"/>
              <a:t>    {</a:t>
            </a:r>
          </a:p>
          <a:p>
            <a:pPr marL="0" indent="0" algn="just" fontAlgn="base">
              <a:buNone/>
            </a:pPr>
            <a:r>
              <a:rPr lang="en-US" sz="6400" dirty="0"/>
              <a:t>        //</a:t>
            </a:r>
            <a:r>
              <a:rPr lang="en-US" sz="6400" dirty="0" err="1"/>
              <a:t>AbstractClass</a:t>
            </a:r>
            <a:r>
              <a:rPr lang="en-US" sz="6400" dirty="0"/>
              <a:t> A = new </a:t>
            </a:r>
            <a:r>
              <a:rPr lang="en-US" sz="6400" dirty="0" err="1"/>
              <a:t>AbstractClass</a:t>
            </a:r>
            <a:r>
              <a:rPr lang="en-US" sz="6400" dirty="0"/>
              <a:t>();  Can't create objects to Abstract class</a:t>
            </a:r>
          </a:p>
          <a:p>
            <a:pPr marL="0" indent="0" algn="just" fontAlgn="base">
              <a:buNone/>
            </a:pPr>
            <a:r>
              <a:rPr lang="en-US" sz="6400" dirty="0"/>
              <a:t>        </a:t>
            </a:r>
            <a:r>
              <a:rPr lang="en-US" sz="6400" dirty="0" err="1"/>
              <a:t>ConcreteClass</a:t>
            </a:r>
            <a:r>
              <a:rPr lang="en-US" sz="6400" dirty="0"/>
              <a:t> C = new </a:t>
            </a:r>
            <a:r>
              <a:rPr lang="en-US" sz="6400" dirty="0" err="1"/>
              <a:t>ConcreteClass</a:t>
            </a:r>
            <a:r>
              <a:rPr lang="en-US" sz="6400" dirty="0"/>
              <a:t>();</a:t>
            </a:r>
          </a:p>
          <a:p>
            <a:pPr marL="0" indent="0" algn="just" fontAlgn="base">
              <a:buNone/>
            </a:pPr>
            <a:r>
              <a:rPr lang="en-US" sz="6400" dirty="0"/>
              <a:t>        //</a:t>
            </a:r>
            <a:r>
              <a:rPr lang="en-US" sz="6400" dirty="0" err="1"/>
              <a:t>ConcreteClass</a:t>
            </a:r>
            <a:r>
              <a:rPr lang="en-US" sz="6400" dirty="0"/>
              <a:t> implements abstract method,</a:t>
            </a:r>
          </a:p>
          <a:p>
            <a:pPr marL="0" indent="0" algn="just" fontAlgn="base">
              <a:buNone/>
            </a:pPr>
            <a:r>
              <a:rPr lang="en-US" sz="6400" dirty="0"/>
              <a:t>        //so we can create object to </a:t>
            </a:r>
            <a:r>
              <a:rPr lang="en-US" sz="6400" dirty="0" err="1"/>
              <a:t>ConcreteClass</a:t>
            </a:r>
            <a:endParaRPr lang="en-US" sz="6400" dirty="0"/>
          </a:p>
          <a:p>
            <a:pPr marL="0" indent="0" algn="just" fontAlgn="base">
              <a:buNone/>
            </a:pPr>
            <a:r>
              <a:rPr lang="en-US" sz="6400" dirty="0"/>
              <a:t>        </a:t>
            </a:r>
            <a:r>
              <a:rPr lang="en-US" sz="6400" dirty="0" err="1"/>
              <a:t>AbstractClass</a:t>
            </a:r>
            <a:r>
              <a:rPr lang="en-US" sz="6400" dirty="0"/>
              <a:t> A1 = C;</a:t>
            </a:r>
          </a:p>
          <a:p>
            <a:pPr marL="0" indent="0" algn="just" fontAlgn="base">
              <a:buNone/>
            </a:pPr>
            <a:r>
              <a:rPr lang="en-US" sz="6400" dirty="0"/>
              <a:t>       //</a:t>
            </a:r>
            <a:r>
              <a:rPr lang="en-US" sz="6400" dirty="0" err="1"/>
              <a:t>ConcreteClass</a:t>
            </a:r>
            <a:r>
              <a:rPr lang="en-US" sz="6400" dirty="0"/>
              <a:t> object is auto-upcasted to </a:t>
            </a:r>
            <a:r>
              <a:rPr lang="en-US" sz="6400" dirty="0" err="1"/>
              <a:t>AbsractClass</a:t>
            </a:r>
            <a:endParaRPr lang="en-US" sz="6400" dirty="0"/>
          </a:p>
          <a:p>
            <a:pPr marL="0" indent="0" algn="just" fontAlgn="base">
              <a:buNone/>
            </a:pPr>
            <a:r>
              <a:rPr lang="en-US" sz="6400" dirty="0"/>
              <a:t>    }</a:t>
            </a:r>
          </a:p>
          <a:p>
            <a:pPr marL="0" indent="0" algn="just" fontAlgn="base">
              <a:buNone/>
            </a:pPr>
            <a:r>
              <a:rPr lang="en-US" sz="6400" dirty="0"/>
              <a:t>}</a:t>
            </a:r>
          </a:p>
          <a:p>
            <a:pPr marL="0" indent="0" algn="just" fontAlgn="base">
              <a:buNone/>
            </a:pPr>
            <a:endParaRPr lang="en-US" sz="1400" dirty="0"/>
          </a:p>
          <a:p>
            <a:endParaRPr lang="en-IN" sz="1400" dirty="0"/>
          </a:p>
        </p:txBody>
      </p:sp>
    </p:spTree>
    <p:extLst>
      <p:ext uri="{BB962C8B-B14F-4D97-AF65-F5344CB8AC3E}">
        <p14:creationId xmlns:p14="http://schemas.microsoft.com/office/powerpoint/2010/main" val="4014382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687279" y="550414"/>
            <a:ext cx="10515600" cy="5850385"/>
          </a:xfrm>
        </p:spPr>
        <p:txBody>
          <a:bodyPr>
            <a:normAutofit/>
          </a:bodyPr>
          <a:lstStyle/>
          <a:p>
            <a:pPr algn="just" fontAlgn="base"/>
            <a:r>
              <a:rPr lang="en-US" sz="1600" dirty="0"/>
              <a:t>The methods which are not implemented or which don’t have definitions must be declared with ‘abstract’ keyword and the class which contains it must be also declared as abstract.</a:t>
            </a:r>
          </a:p>
          <a:p>
            <a:pPr marL="0" indent="0" algn="just" fontAlgn="base">
              <a:buNone/>
            </a:pPr>
            <a:r>
              <a:rPr lang="en-US" sz="1600" dirty="0"/>
              <a:t>// It gives compile time error</a:t>
            </a:r>
          </a:p>
          <a:p>
            <a:pPr marL="0" indent="0" algn="just" fontAlgn="base">
              <a:buNone/>
            </a:pPr>
            <a:r>
              <a:rPr lang="en-US" sz="1600" dirty="0"/>
              <a:t>class </a:t>
            </a:r>
            <a:r>
              <a:rPr lang="en-US" sz="1600" dirty="0" err="1"/>
              <a:t>AbstractClass</a:t>
            </a:r>
            <a:endParaRPr lang="en-US" sz="1600" dirty="0"/>
          </a:p>
          <a:p>
            <a:pPr marL="0" indent="0" algn="just" fontAlgn="base">
              <a:buNone/>
            </a:pPr>
            <a:r>
              <a:rPr lang="en-US" sz="1600" dirty="0"/>
              <a:t>{</a:t>
            </a:r>
          </a:p>
          <a:p>
            <a:pPr marL="0" indent="0" algn="just" fontAlgn="base">
              <a:buNone/>
            </a:pPr>
            <a:r>
              <a:rPr lang="en-US" sz="1600" dirty="0"/>
              <a:t>    void </a:t>
            </a:r>
            <a:r>
              <a:rPr lang="en-US" sz="1600" dirty="0" err="1"/>
              <a:t>abstractMethod</a:t>
            </a:r>
            <a:r>
              <a:rPr lang="en-US" sz="1600" dirty="0"/>
              <a:t>();  //This method must be declared as abstract or must be defined</a:t>
            </a:r>
          </a:p>
          <a:p>
            <a:pPr marL="0" indent="0" algn="just" fontAlgn="base">
              <a:buNone/>
            </a:pPr>
            <a:r>
              <a:rPr lang="en-US" sz="1600" dirty="0"/>
              <a:t>    abstract void </a:t>
            </a:r>
            <a:r>
              <a:rPr lang="en-US" sz="1600" dirty="0" err="1"/>
              <a:t>abstractMethod</a:t>
            </a:r>
            <a:r>
              <a:rPr lang="en-US" sz="1600" dirty="0"/>
              <a:t>();  //The Class must be also declared as abstract</a:t>
            </a:r>
          </a:p>
          <a:p>
            <a:pPr marL="0" indent="0" algn="just" fontAlgn="base">
              <a:buNone/>
            </a:pPr>
            <a:r>
              <a:rPr lang="en-US" sz="1600" dirty="0"/>
              <a:t>}</a:t>
            </a:r>
          </a:p>
          <a:p>
            <a:pPr marL="0" indent="0" algn="just" fontAlgn="base">
              <a:buNone/>
            </a:pPr>
            <a:r>
              <a:rPr lang="en-US" sz="1600" dirty="0"/>
              <a:t>//      *****   *****     *****   *****</a:t>
            </a:r>
          </a:p>
          <a:p>
            <a:pPr marL="0" indent="0" algn="just" fontAlgn="base">
              <a:buNone/>
            </a:pPr>
            <a:r>
              <a:rPr lang="en-US" sz="1600" dirty="0"/>
              <a:t>// This is OK</a:t>
            </a:r>
          </a:p>
          <a:p>
            <a:pPr marL="0" indent="0" algn="just" fontAlgn="base">
              <a:buNone/>
            </a:pPr>
            <a:r>
              <a:rPr lang="en-US" sz="1600" dirty="0"/>
              <a:t>abstract class </a:t>
            </a:r>
            <a:r>
              <a:rPr lang="en-US" sz="1600" dirty="0" err="1"/>
              <a:t>AbstractClass</a:t>
            </a:r>
            <a:endParaRPr lang="en-US" sz="1600" dirty="0"/>
          </a:p>
          <a:p>
            <a:pPr marL="0" indent="0" algn="just" fontAlgn="base">
              <a:buNone/>
            </a:pPr>
            <a:r>
              <a:rPr lang="en-US" sz="1600" dirty="0"/>
              <a:t>{</a:t>
            </a:r>
          </a:p>
          <a:p>
            <a:pPr marL="0" indent="0" algn="just" fontAlgn="base">
              <a:buNone/>
            </a:pPr>
            <a:r>
              <a:rPr lang="en-US" sz="1600" dirty="0"/>
              <a:t>    abstract void </a:t>
            </a:r>
            <a:r>
              <a:rPr lang="en-US" sz="1600" dirty="0" err="1"/>
              <a:t>abstractMethod</a:t>
            </a:r>
            <a:r>
              <a:rPr lang="en-US" sz="1600" dirty="0"/>
              <a:t>();</a:t>
            </a:r>
          </a:p>
          <a:p>
            <a:pPr marL="0" indent="0" algn="just" fontAlgn="base">
              <a:buNone/>
            </a:pPr>
            <a:r>
              <a:rPr lang="en-US" sz="1600" dirty="0"/>
              <a:t>}</a:t>
            </a:r>
          </a:p>
          <a:p>
            <a:endParaRPr lang="en-IN" sz="1400" dirty="0"/>
          </a:p>
        </p:txBody>
      </p:sp>
    </p:spTree>
    <p:extLst>
      <p:ext uri="{BB962C8B-B14F-4D97-AF65-F5344CB8AC3E}">
        <p14:creationId xmlns:p14="http://schemas.microsoft.com/office/powerpoint/2010/main" val="3589190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687279" y="550414"/>
            <a:ext cx="10515600" cy="5850385"/>
          </a:xfrm>
        </p:spPr>
        <p:txBody>
          <a:bodyPr>
            <a:normAutofit/>
          </a:bodyPr>
          <a:lstStyle/>
          <a:p>
            <a:pPr algn="just" fontAlgn="base"/>
            <a:r>
              <a:rPr lang="en-US" sz="1600" dirty="0"/>
              <a:t>The methods which are not implemented or which don’t have definitions must be declared with ‘abstract’ keyword and the class which contains it must be also declared as abstract.</a:t>
            </a:r>
          </a:p>
          <a:p>
            <a:pPr marL="0" indent="0" algn="just" fontAlgn="base">
              <a:buNone/>
            </a:pPr>
            <a:r>
              <a:rPr lang="en-US" sz="1600" dirty="0"/>
              <a:t>// It gives compile time error</a:t>
            </a:r>
          </a:p>
          <a:p>
            <a:pPr marL="0" indent="0" algn="just" fontAlgn="base">
              <a:buNone/>
            </a:pPr>
            <a:r>
              <a:rPr lang="en-US" sz="1600" dirty="0"/>
              <a:t>class </a:t>
            </a:r>
            <a:r>
              <a:rPr lang="en-US" sz="1600" dirty="0" err="1"/>
              <a:t>AbstractClass</a:t>
            </a:r>
            <a:endParaRPr lang="en-US" sz="1600" dirty="0"/>
          </a:p>
          <a:p>
            <a:pPr marL="0" indent="0" algn="just" fontAlgn="base">
              <a:buNone/>
            </a:pPr>
            <a:r>
              <a:rPr lang="en-US" sz="1600" dirty="0"/>
              <a:t>{</a:t>
            </a:r>
          </a:p>
          <a:p>
            <a:pPr marL="0" indent="0" algn="just" fontAlgn="base">
              <a:buNone/>
            </a:pPr>
            <a:r>
              <a:rPr lang="en-US" sz="1600" dirty="0"/>
              <a:t>    void </a:t>
            </a:r>
            <a:r>
              <a:rPr lang="en-US" sz="1600" dirty="0" err="1"/>
              <a:t>abstractMethod</a:t>
            </a:r>
            <a:r>
              <a:rPr lang="en-US" sz="1600" dirty="0"/>
              <a:t>();  //This method must be declared as abstract or must be defined</a:t>
            </a:r>
          </a:p>
          <a:p>
            <a:pPr marL="0" indent="0" algn="just" fontAlgn="base">
              <a:buNone/>
            </a:pPr>
            <a:r>
              <a:rPr lang="en-US" sz="1600" dirty="0"/>
              <a:t>    abstract void </a:t>
            </a:r>
            <a:r>
              <a:rPr lang="en-US" sz="1600" dirty="0" err="1"/>
              <a:t>abstractMethod</a:t>
            </a:r>
            <a:r>
              <a:rPr lang="en-US" sz="1600" dirty="0"/>
              <a:t>();  //The Class must be also declared as abstract</a:t>
            </a:r>
          </a:p>
          <a:p>
            <a:pPr marL="0" indent="0" algn="just" fontAlgn="base">
              <a:buNone/>
            </a:pPr>
            <a:r>
              <a:rPr lang="en-US" sz="1600" dirty="0"/>
              <a:t>}</a:t>
            </a:r>
          </a:p>
          <a:p>
            <a:pPr marL="0" indent="0" algn="just" fontAlgn="base">
              <a:buNone/>
            </a:pPr>
            <a:r>
              <a:rPr lang="en-US" sz="1600" dirty="0"/>
              <a:t>//      *****   *****     *****   *****</a:t>
            </a:r>
          </a:p>
          <a:p>
            <a:pPr marL="0" indent="0" algn="just" fontAlgn="base">
              <a:buNone/>
            </a:pPr>
            <a:r>
              <a:rPr lang="en-US" sz="1600" dirty="0"/>
              <a:t>// This is OK</a:t>
            </a:r>
          </a:p>
          <a:p>
            <a:pPr marL="0" indent="0" algn="just" fontAlgn="base">
              <a:buNone/>
            </a:pPr>
            <a:r>
              <a:rPr lang="en-US" sz="1600" dirty="0"/>
              <a:t>abstract class </a:t>
            </a:r>
            <a:r>
              <a:rPr lang="en-US" sz="1600" dirty="0" err="1"/>
              <a:t>AbstractClass</a:t>
            </a:r>
            <a:endParaRPr lang="en-US" sz="1600" dirty="0"/>
          </a:p>
          <a:p>
            <a:pPr marL="0" indent="0" algn="just" fontAlgn="base">
              <a:buNone/>
            </a:pPr>
            <a:r>
              <a:rPr lang="en-US" sz="1600" dirty="0"/>
              <a:t>{</a:t>
            </a:r>
          </a:p>
          <a:p>
            <a:pPr marL="0" indent="0" algn="just" fontAlgn="base">
              <a:buNone/>
            </a:pPr>
            <a:r>
              <a:rPr lang="en-US" sz="1600" dirty="0"/>
              <a:t>    abstract void </a:t>
            </a:r>
            <a:r>
              <a:rPr lang="en-US" sz="1600" dirty="0" err="1"/>
              <a:t>abstractMethod</a:t>
            </a:r>
            <a:r>
              <a:rPr lang="en-US" sz="1600" dirty="0"/>
              <a:t>();</a:t>
            </a:r>
          </a:p>
          <a:p>
            <a:pPr marL="0" indent="0" algn="just" fontAlgn="base">
              <a:buNone/>
            </a:pPr>
            <a:r>
              <a:rPr lang="en-US" sz="1600" dirty="0"/>
              <a:t>}</a:t>
            </a:r>
          </a:p>
          <a:p>
            <a:endParaRPr lang="en-IN" sz="1400" dirty="0"/>
          </a:p>
        </p:txBody>
      </p:sp>
    </p:spTree>
    <p:extLst>
      <p:ext uri="{BB962C8B-B14F-4D97-AF65-F5344CB8AC3E}">
        <p14:creationId xmlns:p14="http://schemas.microsoft.com/office/powerpoint/2010/main" val="3163949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5955021"/>
          </a:xfrm>
        </p:spPr>
        <p:txBody>
          <a:bodyPr/>
          <a:lstStyle/>
          <a:p>
            <a:r>
              <a:rPr lang="en-US" sz="2000" dirty="0"/>
              <a:t>It is not compulsory that abstract class must have abstract methods. It may or may not have abstract methods. But the class which has at least one abstract method must be declared as abstract.</a:t>
            </a:r>
          </a:p>
          <a:p>
            <a:endParaRPr lang="en-US" sz="2000" dirty="0"/>
          </a:p>
          <a:p>
            <a:pPr marL="0" indent="0">
              <a:buNone/>
            </a:pPr>
            <a:r>
              <a:rPr lang="en-US" sz="2000" dirty="0"/>
              <a:t>abstract class </a:t>
            </a:r>
            <a:r>
              <a:rPr lang="en-US" sz="2000" dirty="0" err="1"/>
              <a:t>AbstractClass</a:t>
            </a:r>
            <a:endParaRPr lang="en-US" sz="2000" dirty="0"/>
          </a:p>
          <a:p>
            <a:pPr marL="0" indent="0">
              <a:buNone/>
            </a:pPr>
            <a:r>
              <a:rPr lang="en-US" sz="2000" dirty="0"/>
              <a:t>{</a:t>
            </a:r>
          </a:p>
          <a:p>
            <a:pPr marL="0" indent="0">
              <a:buNone/>
            </a:pPr>
            <a:r>
              <a:rPr lang="en-US" sz="2000" dirty="0"/>
              <a:t>    void </a:t>
            </a:r>
            <a:r>
              <a:rPr lang="en-US" sz="2000" dirty="0" err="1"/>
              <a:t>methodOne</a:t>
            </a:r>
            <a:r>
              <a:rPr lang="en-US" sz="2000" dirty="0"/>
              <a:t>()</a:t>
            </a:r>
          </a:p>
          <a:p>
            <a:pPr marL="0" indent="0">
              <a:buNone/>
            </a:pPr>
            <a:r>
              <a:rPr lang="en-US" sz="2000" dirty="0"/>
              <a:t>    {</a:t>
            </a:r>
          </a:p>
          <a:p>
            <a:pPr marL="0" indent="0">
              <a:buNone/>
            </a:pPr>
            <a:r>
              <a:rPr lang="en-US" sz="2000" dirty="0"/>
              <a:t>        //Concrete Method</a:t>
            </a:r>
          </a:p>
          <a:p>
            <a:pPr marL="0" indent="0">
              <a:buNone/>
            </a:pPr>
            <a:r>
              <a:rPr lang="en-US" sz="2000" dirty="0"/>
              <a:t>    }</a:t>
            </a:r>
          </a:p>
          <a:p>
            <a:pPr marL="0" indent="0">
              <a:buNone/>
            </a:pPr>
            <a:r>
              <a:rPr lang="en-US" sz="2000" dirty="0"/>
              <a:t>    //No Abstract methods but class is abstract</a:t>
            </a:r>
          </a:p>
          <a:p>
            <a:pPr marL="0" indent="0">
              <a:buNone/>
            </a:pPr>
            <a:r>
              <a:rPr lang="en-US" sz="2000" dirty="0"/>
              <a:t>}</a:t>
            </a:r>
            <a:endParaRPr lang="en-IN" sz="2000" dirty="0"/>
          </a:p>
        </p:txBody>
      </p:sp>
    </p:spTree>
    <p:extLst>
      <p:ext uri="{BB962C8B-B14F-4D97-AF65-F5344CB8AC3E}">
        <p14:creationId xmlns:p14="http://schemas.microsoft.com/office/powerpoint/2010/main" val="130054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5955021"/>
          </a:xfrm>
        </p:spPr>
        <p:txBody>
          <a:bodyPr>
            <a:normAutofit fontScale="70000" lnSpcReduction="20000"/>
          </a:bodyPr>
          <a:lstStyle/>
          <a:p>
            <a:r>
              <a:rPr lang="en-US" dirty="0"/>
              <a:t>You can’t create objects to abstract class even though it does not contain any abstract methods.</a:t>
            </a:r>
          </a:p>
          <a:p>
            <a:pPr marL="0" indent="0">
              <a:buNone/>
            </a:pPr>
            <a:r>
              <a:rPr lang="en-US" dirty="0"/>
              <a:t>abstract class </a:t>
            </a:r>
            <a:r>
              <a:rPr lang="en-US" dirty="0" err="1"/>
              <a:t>AbstractClass</a:t>
            </a:r>
            <a:endParaRPr lang="en-US" dirty="0"/>
          </a:p>
          <a:p>
            <a:pPr marL="0" indent="0">
              <a:buNone/>
            </a:pPr>
            <a:r>
              <a:rPr lang="en-US" dirty="0"/>
              <a:t>{</a:t>
            </a:r>
          </a:p>
          <a:p>
            <a:pPr marL="0" indent="0">
              <a:buNone/>
            </a:pPr>
            <a:r>
              <a:rPr lang="en-US" dirty="0"/>
              <a:t>   void </a:t>
            </a:r>
            <a:r>
              <a:rPr lang="en-US" dirty="0" err="1"/>
              <a:t>methodOne</a:t>
            </a:r>
            <a:r>
              <a:rPr lang="en-US" dirty="0"/>
              <a:t>()</a:t>
            </a:r>
          </a:p>
          <a:p>
            <a:pPr marL="0" indent="0">
              <a:buNone/>
            </a:pPr>
            <a:r>
              <a:rPr lang="en-US" dirty="0"/>
              <a:t>{        //Concrete Method    }</a:t>
            </a:r>
          </a:p>
          <a:p>
            <a:pPr marL="0" indent="0">
              <a:buNone/>
            </a:pPr>
            <a:r>
              <a:rPr lang="en-US" dirty="0"/>
              <a:t>  void </a:t>
            </a:r>
            <a:r>
              <a:rPr lang="en-US" dirty="0" err="1"/>
              <a:t>methodTwo</a:t>
            </a:r>
            <a:r>
              <a:rPr lang="en-US" dirty="0"/>
              <a:t>()  	{     //Concrete Method	}</a:t>
            </a:r>
          </a:p>
          <a:p>
            <a:pPr marL="0" indent="0">
              <a:buNone/>
            </a:pPr>
            <a:r>
              <a:rPr lang="en-US" dirty="0"/>
              <a:t>}</a:t>
            </a:r>
          </a:p>
          <a:p>
            <a:pPr marL="0" indent="0">
              <a:buNone/>
            </a:pPr>
            <a:r>
              <a:rPr lang="en-US" dirty="0"/>
              <a:t>public class Abstraction</a:t>
            </a:r>
          </a:p>
          <a:p>
            <a:pPr marL="0" indent="0">
              <a:buNone/>
            </a:pPr>
            <a:r>
              <a:rPr lang="en-US" dirty="0"/>
              <a:t>{</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a:t>
            </a:r>
            <a:r>
              <a:rPr lang="en-US" dirty="0" err="1"/>
              <a:t>AbstractClass</a:t>
            </a:r>
            <a:r>
              <a:rPr lang="en-US" dirty="0"/>
              <a:t> a = new </a:t>
            </a:r>
            <a:r>
              <a:rPr lang="en-US" dirty="0" err="1"/>
              <a:t>AbstractClass</a:t>
            </a:r>
            <a:r>
              <a:rPr lang="en-US" dirty="0"/>
              <a:t>();  //Compile time error</a:t>
            </a:r>
          </a:p>
          <a:p>
            <a:pPr marL="0" indent="0">
              <a:buNone/>
            </a:pPr>
            <a:r>
              <a:rPr lang="en-US" dirty="0"/>
              <a:t>        //You can't create objects to </a:t>
            </a:r>
            <a:r>
              <a:rPr lang="en-US" dirty="0" err="1"/>
              <a:t>AbstractClass</a:t>
            </a:r>
            <a:endParaRPr lang="en-US" dirty="0"/>
          </a:p>
          <a:p>
            <a:pPr marL="0" indent="0">
              <a:buNone/>
            </a:pPr>
            <a:r>
              <a:rPr lang="en-US" dirty="0"/>
              <a:t>        //even though it does not contain any abstract methods.</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4265756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5955021"/>
          </a:xfrm>
        </p:spPr>
        <p:txBody>
          <a:bodyPr>
            <a:normAutofit/>
          </a:bodyPr>
          <a:lstStyle/>
          <a:p>
            <a:r>
              <a:rPr lang="en-US" sz="1700" dirty="0"/>
              <a:t>Abstract Class can be a combination of concrete and abstract methods.</a:t>
            </a:r>
          </a:p>
          <a:p>
            <a:r>
              <a:rPr lang="en-US" sz="1700" dirty="0"/>
              <a:t>Any class extending an abstract class must implement all abstract methods. If it does not implement, it must be declared as abstract.</a:t>
            </a:r>
          </a:p>
          <a:p>
            <a:r>
              <a:rPr lang="en-US" sz="1700" dirty="0"/>
              <a:t>Abstract methods can not be private. Because, abstract methods must be implemented somehow in the sub classes. If you declare them as private, then you can’t use them outside the class.</a:t>
            </a:r>
          </a:p>
          <a:p>
            <a:endParaRPr lang="en-US" sz="1700" dirty="0"/>
          </a:p>
          <a:p>
            <a:pPr marL="0" indent="0">
              <a:buNone/>
            </a:pPr>
            <a:r>
              <a:rPr lang="en-US" sz="1700" dirty="0"/>
              <a:t>abstract class </a:t>
            </a:r>
            <a:r>
              <a:rPr lang="en-US" sz="1700" dirty="0" err="1"/>
              <a:t>AbstractClass</a:t>
            </a:r>
            <a:endParaRPr lang="en-US" sz="1700" dirty="0"/>
          </a:p>
          <a:p>
            <a:pPr marL="0" indent="0">
              <a:buNone/>
            </a:pPr>
            <a:r>
              <a:rPr lang="en-US" sz="1700" dirty="0"/>
              <a:t>{</a:t>
            </a:r>
          </a:p>
          <a:p>
            <a:pPr marL="0" indent="0">
              <a:buNone/>
            </a:pPr>
            <a:r>
              <a:rPr lang="en-US" sz="1700" dirty="0"/>
              <a:t>    private abstract void </a:t>
            </a:r>
            <a:r>
              <a:rPr lang="en-US" sz="1700" dirty="0" err="1"/>
              <a:t>abstractMethodOne</a:t>
            </a:r>
            <a:r>
              <a:rPr lang="en-US" sz="1700" dirty="0"/>
              <a:t>();</a:t>
            </a:r>
          </a:p>
          <a:p>
            <a:pPr marL="0" indent="0">
              <a:buNone/>
            </a:pPr>
            <a:r>
              <a:rPr lang="en-US" sz="1700" dirty="0"/>
              <a:t>    //Compile time error, abstract method can not be private.</a:t>
            </a:r>
          </a:p>
          <a:p>
            <a:pPr marL="0" indent="0">
              <a:buNone/>
            </a:pPr>
            <a:r>
              <a:rPr lang="en-US" sz="1700" dirty="0"/>
              <a:t>}</a:t>
            </a:r>
          </a:p>
          <a:p>
            <a:endParaRPr lang="en-IN" dirty="0"/>
          </a:p>
        </p:txBody>
      </p:sp>
    </p:spTree>
    <p:extLst>
      <p:ext uri="{BB962C8B-B14F-4D97-AF65-F5344CB8AC3E}">
        <p14:creationId xmlns:p14="http://schemas.microsoft.com/office/powerpoint/2010/main" val="1091200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5955021"/>
          </a:xfrm>
        </p:spPr>
        <p:txBody>
          <a:bodyPr>
            <a:normAutofit fontScale="85000" lnSpcReduction="20000"/>
          </a:bodyPr>
          <a:lstStyle/>
          <a:p>
            <a:r>
              <a:rPr lang="en-US" sz="2000" dirty="0"/>
              <a:t>Constructors and fields can not be declared as abstract.</a:t>
            </a:r>
          </a:p>
          <a:p>
            <a:endParaRPr lang="en-US" sz="2000" dirty="0"/>
          </a:p>
          <a:p>
            <a:pPr marL="0" indent="0">
              <a:buNone/>
            </a:pPr>
            <a:r>
              <a:rPr lang="en-US" sz="2000" dirty="0"/>
              <a:t>abstract class </a:t>
            </a:r>
            <a:r>
              <a:rPr lang="en-US" sz="2000" dirty="0" err="1"/>
              <a:t>AbstractClass</a:t>
            </a:r>
            <a:endParaRPr lang="en-US" sz="2000" dirty="0"/>
          </a:p>
          <a:p>
            <a:pPr marL="0" indent="0">
              <a:buNone/>
            </a:pPr>
            <a:r>
              <a:rPr lang="en-US" sz="2000" dirty="0"/>
              <a:t>{</a:t>
            </a:r>
          </a:p>
          <a:p>
            <a:pPr marL="0" indent="0">
              <a:buNone/>
            </a:pPr>
            <a:r>
              <a:rPr lang="en-US" sz="2000" dirty="0"/>
              <a:t>    abstract int </a:t>
            </a:r>
            <a:r>
              <a:rPr lang="en-US" sz="2000" dirty="0" err="1"/>
              <a:t>i</a:t>
            </a:r>
            <a:r>
              <a:rPr lang="en-US" sz="2000" dirty="0"/>
              <a:t>;</a:t>
            </a:r>
          </a:p>
          <a:p>
            <a:pPr marL="0" indent="0">
              <a:buNone/>
            </a:pPr>
            <a:r>
              <a:rPr lang="en-US" sz="2000" dirty="0"/>
              <a:t>    //Compile time error, field can not be abstract </a:t>
            </a:r>
          </a:p>
          <a:p>
            <a:pPr marL="0" indent="0">
              <a:buNone/>
            </a:pPr>
            <a:r>
              <a:rPr lang="en-US" sz="2000" dirty="0"/>
              <a:t>    abstract </a:t>
            </a:r>
            <a:r>
              <a:rPr lang="en-US" sz="2000" dirty="0" err="1"/>
              <a:t>AbstractClass</a:t>
            </a:r>
            <a:r>
              <a:rPr lang="en-US" sz="2000" dirty="0"/>
              <a:t>()</a:t>
            </a:r>
          </a:p>
          <a:p>
            <a:pPr marL="0" indent="0">
              <a:buNone/>
            </a:pPr>
            <a:r>
              <a:rPr lang="en-US" sz="2000" dirty="0"/>
              <a:t>    {</a:t>
            </a:r>
          </a:p>
          <a:p>
            <a:pPr marL="0" indent="0">
              <a:buNone/>
            </a:pPr>
            <a:r>
              <a:rPr lang="en-US" sz="2000" dirty="0"/>
              <a:t>        //Compile time error, constructor can not be abstract</a:t>
            </a:r>
          </a:p>
          <a:p>
            <a:pPr marL="0" indent="0">
              <a:buNone/>
            </a:pPr>
            <a:r>
              <a:rPr lang="en-US" sz="2000" dirty="0"/>
              <a:t>    }</a:t>
            </a:r>
          </a:p>
          <a:p>
            <a:pPr marL="0" indent="0">
              <a:buNone/>
            </a:pPr>
            <a:r>
              <a:rPr lang="en-US" sz="2000" dirty="0"/>
              <a:t>}</a:t>
            </a:r>
          </a:p>
          <a:p>
            <a:pPr marL="0" indent="0">
              <a:buNone/>
            </a:pPr>
            <a:endParaRPr lang="en-US" sz="2000" dirty="0"/>
          </a:p>
          <a:p>
            <a:r>
              <a:rPr lang="en-US" sz="2000" dirty="0"/>
              <a:t>Abstract methods can not be static.</a:t>
            </a:r>
          </a:p>
          <a:p>
            <a:endParaRPr lang="en-US" sz="2000" dirty="0"/>
          </a:p>
          <a:p>
            <a:pPr marL="0" indent="0">
              <a:buNone/>
            </a:pPr>
            <a:r>
              <a:rPr lang="en-US" sz="2000" dirty="0"/>
              <a:t>abstract class </a:t>
            </a:r>
            <a:r>
              <a:rPr lang="en-US" sz="2000" dirty="0" err="1"/>
              <a:t>AbstractClass</a:t>
            </a:r>
            <a:endParaRPr lang="en-US" sz="2000" dirty="0"/>
          </a:p>
          <a:p>
            <a:pPr marL="0" indent="0">
              <a:buNone/>
            </a:pPr>
            <a:r>
              <a:rPr lang="en-US" sz="2000" dirty="0"/>
              <a:t>{</a:t>
            </a:r>
          </a:p>
          <a:p>
            <a:pPr marL="0" indent="0">
              <a:buNone/>
            </a:pPr>
            <a:r>
              <a:rPr lang="en-US" sz="2000" dirty="0"/>
              <a:t>    static abstract void </a:t>
            </a:r>
            <a:r>
              <a:rPr lang="en-US" sz="2000" dirty="0" err="1"/>
              <a:t>abstractMethod</a:t>
            </a:r>
            <a:r>
              <a:rPr lang="en-US" sz="2000" dirty="0"/>
              <a:t>();</a:t>
            </a:r>
          </a:p>
          <a:p>
            <a:pPr marL="0" indent="0">
              <a:buNone/>
            </a:pPr>
            <a:r>
              <a:rPr lang="en-US" sz="2000" dirty="0"/>
              <a:t>    //Compile time error, abstract methods can not be static</a:t>
            </a:r>
          </a:p>
          <a:p>
            <a:pPr marL="0" indent="0">
              <a:buNone/>
            </a:pPr>
            <a:r>
              <a:rPr lang="en-US" sz="2000" dirty="0"/>
              <a:t>}</a:t>
            </a:r>
            <a:endParaRPr lang="en-IN" sz="2000" dirty="0"/>
          </a:p>
        </p:txBody>
      </p:sp>
    </p:spTree>
    <p:extLst>
      <p:ext uri="{BB962C8B-B14F-4D97-AF65-F5344CB8AC3E}">
        <p14:creationId xmlns:p14="http://schemas.microsoft.com/office/powerpoint/2010/main" val="4125693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5955021"/>
          </a:xfrm>
        </p:spPr>
        <p:txBody>
          <a:bodyPr>
            <a:normAutofit/>
          </a:bodyPr>
          <a:lstStyle/>
          <a:p>
            <a:r>
              <a:rPr lang="en-US" sz="2000" dirty="0"/>
              <a:t>Interfaces in java are very much similar to abstract classes but interfaces contain only abstract methods (you can refer to them as only ideas). Abstract classes may contain both abstract methods as well as concrete methods. But interfaces must contain only abstract methods. Concrete methods are not allowed in interfaces. Therefore, Interfaces show 100% abstractness.</a:t>
            </a:r>
          </a:p>
          <a:p>
            <a:r>
              <a:rPr lang="en-US" sz="2000" dirty="0"/>
              <a:t>Interfaces are declared with keyword ‘interface‘ and interfaces are implemented by the class using ‘implements‘ keyword.</a:t>
            </a:r>
            <a:endParaRPr lang="en-US" sz="1400" dirty="0">
              <a:solidFill>
                <a:srgbClr val="000000"/>
              </a:solidFill>
              <a:latin typeface="Titillium Web"/>
            </a:endParaRPr>
          </a:p>
          <a:p>
            <a:pPr marL="0" indent="0">
              <a:buNone/>
            </a:pPr>
            <a:r>
              <a:rPr lang="en-US" sz="2000" dirty="0"/>
              <a:t>interface </a:t>
            </a:r>
            <a:r>
              <a:rPr lang="en-US" sz="2000" dirty="0" err="1"/>
              <a:t>InterfaceClass</a:t>
            </a:r>
            <a:endParaRPr lang="en-US" sz="2000" dirty="0"/>
          </a:p>
          <a:p>
            <a:pPr marL="0" indent="0">
              <a:buNone/>
            </a:pPr>
            <a:r>
              <a:rPr lang="en-US" sz="2000" dirty="0"/>
              <a:t>{</a:t>
            </a:r>
          </a:p>
          <a:p>
            <a:pPr marL="0" indent="0">
              <a:buNone/>
            </a:pPr>
            <a:r>
              <a:rPr lang="en-US" sz="2000" dirty="0"/>
              <a:t>    //Some Abstract methods</a:t>
            </a:r>
          </a:p>
          <a:p>
            <a:pPr marL="0" indent="0">
              <a:buNone/>
            </a:pPr>
            <a:r>
              <a:rPr lang="en-US" sz="2000" dirty="0"/>
              <a:t>}</a:t>
            </a:r>
          </a:p>
          <a:p>
            <a:pPr marL="0" indent="0">
              <a:buNone/>
            </a:pPr>
            <a:r>
              <a:rPr lang="en-US" sz="2000" dirty="0"/>
              <a:t>class </a:t>
            </a:r>
            <a:r>
              <a:rPr lang="en-US" sz="2000" dirty="0" err="1"/>
              <a:t>AnyClass</a:t>
            </a:r>
            <a:r>
              <a:rPr lang="en-US" sz="2000" dirty="0"/>
              <a:t> implements </a:t>
            </a:r>
            <a:r>
              <a:rPr lang="en-US" sz="2000" dirty="0" err="1"/>
              <a:t>InterfaceClass</a:t>
            </a:r>
            <a:endParaRPr lang="en-US" sz="2000" dirty="0"/>
          </a:p>
          <a:p>
            <a:pPr marL="0" indent="0">
              <a:buNone/>
            </a:pPr>
            <a:r>
              <a:rPr lang="en-US" sz="2000" dirty="0"/>
              <a:t>{</a:t>
            </a:r>
          </a:p>
          <a:p>
            <a:pPr marL="0" indent="0">
              <a:buNone/>
            </a:pPr>
            <a:r>
              <a:rPr lang="en-US" sz="2000" dirty="0"/>
              <a:t>    //Use 'implements' while implementing Interfaces</a:t>
            </a:r>
          </a:p>
          <a:p>
            <a:pPr marL="0" indent="0">
              <a:buNone/>
            </a:pPr>
            <a:r>
              <a:rPr lang="en-US" sz="2000" dirty="0"/>
              <a:t>    //Don't use 'extends'</a:t>
            </a:r>
          </a:p>
          <a:p>
            <a:pPr marL="0" indent="0">
              <a:buNone/>
            </a:pPr>
            <a:r>
              <a:rPr lang="en-US" sz="2000" dirty="0"/>
              <a:t>}</a:t>
            </a:r>
            <a:endParaRPr lang="en-IN" sz="2000" dirty="0"/>
          </a:p>
        </p:txBody>
      </p:sp>
    </p:spTree>
    <p:extLst>
      <p:ext uri="{BB962C8B-B14F-4D97-AF65-F5344CB8AC3E}">
        <p14:creationId xmlns:p14="http://schemas.microsoft.com/office/powerpoint/2010/main" val="3912313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5955021"/>
          </a:xfrm>
        </p:spPr>
        <p:txBody>
          <a:bodyPr>
            <a:normAutofit/>
          </a:bodyPr>
          <a:lstStyle/>
          <a:p>
            <a:r>
              <a:rPr lang="en-US" sz="2000" dirty="0"/>
              <a:t>Interfaces should contain only abstract methods. Interfaces should not contain a single concrete method.</a:t>
            </a:r>
            <a:endParaRPr lang="en-US" sz="1400" dirty="0">
              <a:solidFill>
                <a:srgbClr val="000000"/>
              </a:solidFill>
              <a:latin typeface="Titillium Web"/>
            </a:endParaRPr>
          </a:p>
          <a:p>
            <a:pPr marL="0" indent="0">
              <a:buNone/>
            </a:pPr>
            <a:r>
              <a:rPr lang="en-US" sz="2000" dirty="0"/>
              <a:t>interface </a:t>
            </a:r>
            <a:r>
              <a:rPr lang="en-US" sz="2000" dirty="0" err="1"/>
              <a:t>InterfaceClass</a:t>
            </a:r>
            <a:endParaRPr lang="en-US" sz="2000" dirty="0"/>
          </a:p>
          <a:p>
            <a:pPr marL="0" indent="0">
              <a:buNone/>
            </a:pPr>
            <a:r>
              <a:rPr lang="en-US" sz="2000" dirty="0"/>
              <a:t>{</a:t>
            </a:r>
          </a:p>
          <a:p>
            <a:pPr marL="0" indent="0">
              <a:buNone/>
            </a:pPr>
            <a:r>
              <a:rPr lang="en-US" sz="2000" dirty="0"/>
              <a:t>    abstract void </a:t>
            </a:r>
            <a:r>
              <a:rPr lang="en-US" sz="2000" dirty="0" err="1"/>
              <a:t>abstractMethodOne</a:t>
            </a:r>
            <a:r>
              <a:rPr lang="en-US" sz="2000" dirty="0"/>
              <a:t>();  //abstract method</a:t>
            </a:r>
          </a:p>
          <a:p>
            <a:pPr marL="0" indent="0">
              <a:buNone/>
            </a:pPr>
            <a:r>
              <a:rPr lang="en-US" sz="2000" dirty="0"/>
              <a:t> </a:t>
            </a:r>
          </a:p>
          <a:p>
            <a:pPr marL="0" indent="0">
              <a:buNone/>
            </a:pPr>
            <a:r>
              <a:rPr lang="en-US" sz="2000" dirty="0"/>
              <a:t>    abstract void </a:t>
            </a:r>
            <a:r>
              <a:rPr lang="en-US" sz="2000" dirty="0" err="1"/>
              <a:t>abstractMethodTwo</a:t>
            </a:r>
            <a:r>
              <a:rPr lang="en-US" sz="2000" dirty="0"/>
              <a:t>();  //abstract method</a:t>
            </a:r>
          </a:p>
          <a:p>
            <a:pPr marL="0" indent="0">
              <a:buNone/>
            </a:pPr>
            <a:endParaRPr lang="en-US" sz="2000" dirty="0"/>
          </a:p>
          <a:p>
            <a:pPr marL="0" indent="0">
              <a:buNone/>
            </a:pPr>
            <a:r>
              <a:rPr lang="en-US" sz="2000" dirty="0"/>
              <a:t>    void </a:t>
            </a:r>
            <a:r>
              <a:rPr lang="en-US" sz="2000" dirty="0" err="1"/>
              <a:t>concreteMethod</a:t>
            </a:r>
            <a:r>
              <a:rPr lang="en-US" sz="2000" dirty="0"/>
              <a:t>()</a:t>
            </a:r>
          </a:p>
          <a:p>
            <a:pPr marL="0" indent="0">
              <a:buNone/>
            </a:pPr>
            <a:r>
              <a:rPr lang="en-US" sz="2000" dirty="0"/>
              <a:t>    {</a:t>
            </a:r>
          </a:p>
          <a:p>
            <a:pPr marL="0" indent="0">
              <a:buNone/>
            </a:pPr>
            <a:r>
              <a:rPr lang="en-US" sz="2000" dirty="0"/>
              <a:t>        //Compile Time Error.</a:t>
            </a:r>
          </a:p>
          <a:p>
            <a:pPr marL="0" indent="0">
              <a:buNone/>
            </a:pPr>
            <a:r>
              <a:rPr lang="en-US" sz="2000" dirty="0"/>
              <a:t>        //Concrete Methods are not allowed in interface</a:t>
            </a:r>
          </a:p>
          <a:p>
            <a:pPr marL="0" indent="0">
              <a:buNone/>
            </a:pPr>
            <a:r>
              <a:rPr lang="en-US" sz="2000" dirty="0"/>
              <a:t>    }</a:t>
            </a:r>
          </a:p>
          <a:p>
            <a:pPr marL="0" indent="0">
              <a:buNone/>
            </a:pPr>
            <a:r>
              <a:rPr lang="en-US" sz="2000" dirty="0"/>
              <a:t>}</a:t>
            </a:r>
            <a:endParaRPr lang="en-IN" sz="2000" dirty="0"/>
          </a:p>
        </p:txBody>
      </p:sp>
    </p:spTree>
    <p:extLst>
      <p:ext uri="{BB962C8B-B14F-4D97-AF65-F5344CB8AC3E}">
        <p14:creationId xmlns:p14="http://schemas.microsoft.com/office/powerpoint/2010/main" val="1648565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5955021"/>
          </a:xfrm>
        </p:spPr>
        <p:txBody>
          <a:bodyPr>
            <a:normAutofit fontScale="70000" lnSpcReduction="20000"/>
          </a:bodyPr>
          <a:lstStyle/>
          <a:p>
            <a:r>
              <a:rPr lang="en-US" sz="2000" dirty="0"/>
              <a:t>Interface can have two types of members.  1) Fields     2) Abstract Methods.</a:t>
            </a:r>
          </a:p>
          <a:p>
            <a:pPr marL="0" indent="0">
              <a:buNone/>
            </a:pPr>
            <a:r>
              <a:rPr lang="en-US" sz="2000" dirty="0"/>
              <a:t>interface </a:t>
            </a:r>
            <a:r>
              <a:rPr lang="en-US" sz="2000" dirty="0" err="1"/>
              <a:t>InterfaceClass</a:t>
            </a:r>
            <a:endParaRPr lang="en-US" sz="2000" dirty="0"/>
          </a:p>
          <a:p>
            <a:pPr marL="0" indent="0">
              <a:buNone/>
            </a:pPr>
            <a:r>
              <a:rPr lang="en-US" sz="2000" dirty="0"/>
              <a:t>{   </a:t>
            </a:r>
          </a:p>
          <a:p>
            <a:pPr marL="0" indent="0">
              <a:buNone/>
            </a:pPr>
            <a:r>
              <a:rPr lang="en-US" sz="2000" dirty="0"/>
              <a:t> int </a:t>
            </a:r>
            <a:r>
              <a:rPr lang="en-US" sz="2000" dirty="0" err="1"/>
              <a:t>i</a:t>
            </a:r>
            <a:r>
              <a:rPr lang="en-US" sz="2000" dirty="0"/>
              <a:t> = 0;      //Field</a:t>
            </a:r>
          </a:p>
          <a:p>
            <a:pPr marL="0" indent="0">
              <a:buNone/>
            </a:pPr>
            <a:r>
              <a:rPr lang="en-US" sz="2000" dirty="0"/>
              <a:t> abstract void </a:t>
            </a:r>
            <a:r>
              <a:rPr lang="en-US" sz="2000" dirty="0" err="1"/>
              <a:t>abstractMethodOne</a:t>
            </a:r>
            <a:r>
              <a:rPr lang="en-US" sz="2000" dirty="0"/>
              <a:t>();  //abstract method</a:t>
            </a:r>
          </a:p>
          <a:p>
            <a:pPr marL="0" indent="0">
              <a:buNone/>
            </a:pPr>
            <a:r>
              <a:rPr lang="en-US" sz="2000" dirty="0"/>
              <a:t>  abstract void </a:t>
            </a:r>
            <a:r>
              <a:rPr lang="en-US" sz="2000" dirty="0" err="1"/>
              <a:t>abstractMethodTwo</a:t>
            </a:r>
            <a:r>
              <a:rPr lang="en-US" sz="2000" dirty="0"/>
              <a:t>();  //abstract method</a:t>
            </a:r>
          </a:p>
          <a:p>
            <a:pPr marL="0" indent="0">
              <a:buNone/>
            </a:pPr>
            <a:r>
              <a:rPr lang="en-US" sz="2000" dirty="0"/>
              <a:t>}</a:t>
            </a:r>
          </a:p>
          <a:p>
            <a:r>
              <a:rPr lang="en-US" sz="2000" dirty="0"/>
              <a:t>By default, Every field of an interface is public, static and final (we will discuss about final keyword Later). You can’t use any other modifiers other than these three for a field of an interface.</a:t>
            </a:r>
          </a:p>
          <a:p>
            <a:pPr marL="0" indent="0">
              <a:buNone/>
            </a:pPr>
            <a:endParaRPr lang="en-US" sz="2000" dirty="0"/>
          </a:p>
          <a:p>
            <a:pPr marL="0" indent="0">
              <a:buNone/>
            </a:pPr>
            <a:r>
              <a:rPr lang="en-US" sz="2000" dirty="0"/>
              <a:t>interface </a:t>
            </a:r>
            <a:r>
              <a:rPr lang="en-US" sz="2000" dirty="0" err="1"/>
              <a:t>InterfaceClass</a:t>
            </a:r>
            <a:endParaRPr lang="en-US" sz="2000" dirty="0"/>
          </a:p>
          <a:p>
            <a:pPr marL="0" indent="0">
              <a:buNone/>
            </a:pPr>
            <a:r>
              <a:rPr lang="en-US" sz="2000" dirty="0"/>
              <a:t>{</a:t>
            </a:r>
          </a:p>
          <a:p>
            <a:pPr marL="0" indent="0">
              <a:buNone/>
            </a:pPr>
            <a:r>
              <a:rPr lang="en-US" sz="2000" dirty="0"/>
              <a:t>    int </a:t>
            </a:r>
            <a:r>
              <a:rPr lang="en-US" sz="2000" dirty="0" err="1"/>
              <a:t>i</a:t>
            </a:r>
            <a:r>
              <a:rPr lang="en-US" sz="2000" dirty="0"/>
              <a:t> = 0;</a:t>
            </a:r>
          </a:p>
          <a:p>
            <a:pPr marL="0" indent="0">
              <a:buNone/>
            </a:pPr>
            <a:r>
              <a:rPr lang="en-US" sz="2000" dirty="0"/>
              <a:t>    //By default, field is public, static and final</a:t>
            </a:r>
          </a:p>
          <a:p>
            <a:pPr marL="0" indent="0">
              <a:buNone/>
            </a:pPr>
            <a:r>
              <a:rPr lang="en-US" sz="2000" dirty="0"/>
              <a:t> </a:t>
            </a:r>
          </a:p>
          <a:p>
            <a:pPr marL="0" indent="0">
              <a:buNone/>
            </a:pPr>
            <a:r>
              <a:rPr lang="en-US" sz="2000" dirty="0"/>
              <a:t>    //Following statements give compile time errors</a:t>
            </a:r>
          </a:p>
          <a:p>
            <a:pPr marL="0" indent="0">
              <a:buNone/>
            </a:pPr>
            <a:r>
              <a:rPr lang="en-US" sz="2000" dirty="0"/>
              <a:t> </a:t>
            </a:r>
          </a:p>
          <a:p>
            <a:pPr marL="0" indent="0">
              <a:buNone/>
            </a:pPr>
            <a:r>
              <a:rPr lang="en-US" sz="2000" dirty="0"/>
              <a:t>    private double d = 10;</a:t>
            </a:r>
          </a:p>
          <a:p>
            <a:pPr marL="0" indent="0">
              <a:buNone/>
            </a:pPr>
            <a:r>
              <a:rPr lang="en-US" sz="2000" dirty="0"/>
              <a:t>    protected long l = 15;</a:t>
            </a:r>
          </a:p>
          <a:p>
            <a:pPr marL="0" indent="0">
              <a:buNone/>
            </a:pPr>
            <a:r>
              <a:rPr lang="en-US" sz="2000" dirty="0"/>
              <a:t> </a:t>
            </a:r>
          </a:p>
          <a:p>
            <a:pPr marL="0" indent="0">
              <a:buNone/>
            </a:pPr>
            <a:r>
              <a:rPr lang="en-US" sz="2000" dirty="0"/>
              <a:t>    //You can't use any other modifiers other than public, static and final</a:t>
            </a:r>
          </a:p>
          <a:p>
            <a:pPr marL="0" indent="0">
              <a:buNone/>
            </a:pPr>
            <a:r>
              <a:rPr lang="en-US" sz="2000" dirty="0"/>
              <a:t>}</a:t>
            </a:r>
            <a:endParaRPr lang="en-IN" sz="2000" dirty="0"/>
          </a:p>
        </p:txBody>
      </p:sp>
    </p:spTree>
    <p:extLst>
      <p:ext uri="{BB962C8B-B14F-4D97-AF65-F5344CB8AC3E}">
        <p14:creationId xmlns:p14="http://schemas.microsoft.com/office/powerpoint/2010/main" val="33712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5955021"/>
          </a:xfrm>
        </p:spPr>
        <p:txBody>
          <a:bodyPr>
            <a:normAutofit fontScale="92500" lnSpcReduction="20000"/>
          </a:bodyPr>
          <a:lstStyle/>
          <a:p>
            <a:r>
              <a:rPr lang="en-US" sz="2000" dirty="0"/>
              <a:t>You can’t change the value of a field once they are initialized. Because they are static and final. Therefore, sometimes fields are called as Constants. </a:t>
            </a:r>
          </a:p>
          <a:p>
            <a:pPr marL="0" indent="0">
              <a:buNone/>
            </a:pPr>
            <a:r>
              <a:rPr lang="en-US" sz="2000" dirty="0"/>
              <a:t>interface </a:t>
            </a:r>
            <a:r>
              <a:rPr lang="en-US" sz="2000" dirty="0" err="1"/>
              <a:t>InterfaceClass</a:t>
            </a:r>
            <a:endParaRPr lang="en-US" sz="2000" dirty="0"/>
          </a:p>
          <a:p>
            <a:pPr marL="0" indent="0">
              <a:buNone/>
            </a:pPr>
            <a:r>
              <a:rPr lang="en-US" sz="2000" dirty="0"/>
              <a:t>{</a:t>
            </a:r>
          </a:p>
          <a:p>
            <a:pPr marL="0" indent="0">
              <a:buNone/>
            </a:pPr>
            <a:r>
              <a:rPr lang="en-US" sz="2000" dirty="0"/>
              <a:t>    int </a:t>
            </a:r>
            <a:r>
              <a:rPr lang="en-US" sz="2000" dirty="0" err="1"/>
              <a:t>i</a:t>
            </a:r>
            <a:r>
              <a:rPr lang="en-US" sz="2000" dirty="0"/>
              <a:t> = 0;</a:t>
            </a:r>
          </a:p>
          <a:p>
            <a:pPr marL="0" indent="0">
              <a:buNone/>
            </a:pPr>
            <a:r>
              <a:rPr lang="en-US" sz="2000" dirty="0"/>
              <a:t>}</a:t>
            </a:r>
          </a:p>
          <a:p>
            <a:pPr marL="0" indent="0">
              <a:buNone/>
            </a:pPr>
            <a:r>
              <a:rPr lang="en-US" sz="2000" dirty="0"/>
              <a:t> </a:t>
            </a:r>
          </a:p>
          <a:p>
            <a:pPr marL="0" indent="0">
              <a:buNone/>
            </a:pPr>
            <a:r>
              <a:rPr lang="en-US" sz="2000" dirty="0"/>
              <a:t>class </a:t>
            </a:r>
            <a:r>
              <a:rPr lang="en-US" sz="2000" dirty="0" err="1"/>
              <a:t>AnyClass</a:t>
            </a:r>
            <a:r>
              <a:rPr lang="en-US" sz="2000" dirty="0"/>
              <a:t> implements </a:t>
            </a:r>
            <a:r>
              <a:rPr lang="en-US" sz="2000" dirty="0" err="1"/>
              <a:t>InterfaceClass</a:t>
            </a:r>
            <a:endParaRPr lang="en-US" sz="2000" dirty="0"/>
          </a:p>
          <a:p>
            <a:pPr marL="0" indent="0">
              <a:buNone/>
            </a:pPr>
            <a:r>
              <a:rPr lang="en-US" sz="2000" dirty="0"/>
              <a:t>{</a:t>
            </a:r>
          </a:p>
          <a:p>
            <a:pPr marL="0" indent="0">
              <a:buNone/>
            </a:pPr>
            <a:r>
              <a:rPr lang="en-US" sz="2000" dirty="0"/>
              <a:t>    void </a:t>
            </a:r>
            <a:r>
              <a:rPr lang="en-US" sz="2000" dirty="0" err="1"/>
              <a:t>methodOne</a:t>
            </a:r>
            <a:r>
              <a:rPr lang="en-US" sz="2000" dirty="0"/>
              <a:t>()</a:t>
            </a:r>
          </a:p>
          <a:p>
            <a:pPr marL="0" indent="0">
              <a:buNone/>
            </a:pPr>
            <a:r>
              <a:rPr lang="en-US" sz="2000" dirty="0"/>
              <a:t>    {</a:t>
            </a:r>
          </a:p>
          <a:p>
            <a:pPr marL="0" indent="0">
              <a:buNone/>
            </a:pPr>
            <a:r>
              <a:rPr lang="en-US" sz="2000" dirty="0"/>
              <a:t>        //Following statement gives compile time error.</a:t>
            </a:r>
          </a:p>
          <a:p>
            <a:pPr marL="0" indent="0">
              <a:buNone/>
            </a:pPr>
            <a:r>
              <a:rPr lang="en-US" sz="2000" dirty="0"/>
              <a:t> </a:t>
            </a:r>
          </a:p>
          <a:p>
            <a:pPr marL="0" indent="0">
              <a:buNone/>
            </a:pPr>
            <a:r>
              <a:rPr lang="en-US" sz="2000" dirty="0"/>
              <a:t>        </a:t>
            </a:r>
            <a:r>
              <a:rPr lang="en-US" sz="2000" dirty="0" err="1"/>
              <a:t>InterfaceClass.i</a:t>
            </a:r>
            <a:r>
              <a:rPr lang="en-US" sz="2000" dirty="0"/>
              <a:t> = 10;</a:t>
            </a:r>
          </a:p>
          <a:p>
            <a:pPr marL="0" indent="0">
              <a:buNone/>
            </a:pPr>
            <a:r>
              <a:rPr lang="en-US" sz="2000" dirty="0"/>
              <a:t> </a:t>
            </a:r>
          </a:p>
          <a:p>
            <a:pPr marL="0" indent="0">
              <a:buNone/>
            </a:pPr>
            <a:r>
              <a:rPr lang="en-US" sz="2000" dirty="0"/>
              <a:t>        //final field can not be re-assigned</a:t>
            </a:r>
          </a:p>
          <a:p>
            <a:pPr marL="0" indent="0">
              <a:buNone/>
            </a:pPr>
            <a:r>
              <a:rPr lang="en-US" sz="2000" dirty="0"/>
              <a:t>    }</a:t>
            </a:r>
          </a:p>
          <a:p>
            <a:pPr marL="0" indent="0">
              <a:buNone/>
            </a:pPr>
            <a:r>
              <a:rPr lang="en-US" sz="2000" dirty="0"/>
              <a:t>}</a:t>
            </a:r>
            <a:endParaRPr lang="en-IN" sz="2000" dirty="0"/>
          </a:p>
        </p:txBody>
      </p:sp>
    </p:spTree>
    <p:extLst>
      <p:ext uri="{BB962C8B-B14F-4D97-AF65-F5344CB8AC3E}">
        <p14:creationId xmlns:p14="http://schemas.microsoft.com/office/powerpoint/2010/main" val="1740530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5955021"/>
          </a:xfrm>
        </p:spPr>
        <p:txBody>
          <a:bodyPr>
            <a:normAutofit/>
          </a:bodyPr>
          <a:lstStyle/>
          <a:p>
            <a:r>
              <a:rPr lang="en-US" sz="2000" dirty="0"/>
              <a:t>By default, All methods of an interface are public and abstract.</a:t>
            </a:r>
          </a:p>
          <a:p>
            <a:pPr marL="0" indent="0">
              <a:buNone/>
            </a:pPr>
            <a:r>
              <a:rPr lang="en-US" sz="2000" dirty="0"/>
              <a:t>interface </a:t>
            </a:r>
            <a:r>
              <a:rPr lang="en-US" sz="2000" dirty="0" err="1"/>
              <a:t>InterfaceClass</a:t>
            </a:r>
            <a:endParaRPr lang="en-US" sz="2000" dirty="0"/>
          </a:p>
          <a:p>
            <a:pPr marL="0" indent="0">
              <a:buNone/>
            </a:pPr>
            <a:r>
              <a:rPr lang="en-US" sz="2000" dirty="0"/>
              <a:t>{</a:t>
            </a:r>
          </a:p>
          <a:p>
            <a:pPr marL="0" indent="0">
              <a:buNone/>
            </a:pPr>
            <a:r>
              <a:rPr lang="en-US" sz="2000" dirty="0"/>
              <a:t>    void </a:t>
            </a:r>
            <a:r>
              <a:rPr lang="en-US" sz="2000" dirty="0" err="1"/>
              <a:t>abstractMethodOne</a:t>
            </a:r>
            <a:r>
              <a:rPr lang="en-US" sz="2000" dirty="0"/>
              <a:t>();  //Abstract method</a:t>
            </a:r>
          </a:p>
          <a:p>
            <a:pPr marL="0" indent="0">
              <a:buNone/>
            </a:pPr>
            <a:r>
              <a:rPr lang="en-US" sz="2000" dirty="0"/>
              <a:t> </a:t>
            </a:r>
          </a:p>
          <a:p>
            <a:pPr marL="0" indent="0">
              <a:buNone/>
            </a:pPr>
            <a:r>
              <a:rPr lang="en-US" sz="2000" dirty="0"/>
              <a:t>    void </a:t>
            </a:r>
            <a:r>
              <a:rPr lang="en-US" sz="2000" dirty="0" err="1"/>
              <a:t>abstractMethodTwo</a:t>
            </a:r>
            <a:r>
              <a:rPr lang="en-US" sz="2000" dirty="0"/>
              <a:t>();  //Abstract Method</a:t>
            </a:r>
          </a:p>
          <a:p>
            <a:pPr marL="0" indent="0">
              <a:buNone/>
            </a:pPr>
            <a:r>
              <a:rPr lang="en-US" sz="2000" dirty="0"/>
              <a:t> </a:t>
            </a:r>
          </a:p>
          <a:p>
            <a:pPr marL="0" indent="0">
              <a:buNone/>
            </a:pPr>
            <a:r>
              <a:rPr lang="en-US" sz="2000" dirty="0"/>
              <a:t>        //No need to use abstract keyword,</a:t>
            </a:r>
          </a:p>
          <a:p>
            <a:pPr marL="0" indent="0">
              <a:buNone/>
            </a:pPr>
            <a:r>
              <a:rPr lang="en-US" sz="2000" dirty="0"/>
              <a:t>        //by default methods are public and abstract</a:t>
            </a:r>
          </a:p>
          <a:p>
            <a:pPr marL="0" indent="0">
              <a:buNone/>
            </a:pPr>
            <a:r>
              <a:rPr lang="en-US" sz="2000" dirty="0"/>
              <a:t>}</a:t>
            </a:r>
            <a:endParaRPr lang="en-IN" sz="2000" dirty="0"/>
          </a:p>
          <a:p>
            <a:pPr marL="0" indent="0">
              <a:buNone/>
            </a:pPr>
            <a:endParaRPr lang="en-US" sz="2000" dirty="0"/>
          </a:p>
        </p:txBody>
      </p:sp>
    </p:spTree>
    <p:extLst>
      <p:ext uri="{BB962C8B-B14F-4D97-AF65-F5344CB8AC3E}">
        <p14:creationId xmlns:p14="http://schemas.microsoft.com/office/powerpoint/2010/main" val="1500120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6560598"/>
          </a:xfrm>
        </p:spPr>
        <p:txBody>
          <a:bodyPr>
            <a:normAutofit/>
          </a:bodyPr>
          <a:lstStyle/>
          <a:p>
            <a:r>
              <a:rPr lang="en-US" sz="2000" dirty="0"/>
              <a:t>By default, Interface itself is not public but by default interface itself is abstract like below,</a:t>
            </a:r>
          </a:p>
          <a:p>
            <a:pPr marL="0" indent="0">
              <a:buNone/>
            </a:pPr>
            <a:r>
              <a:rPr lang="en-US" sz="2000" dirty="0"/>
              <a:t>abstract interface </a:t>
            </a:r>
            <a:r>
              <a:rPr lang="en-US" sz="2000" dirty="0" err="1"/>
              <a:t>InterfaceClass</a:t>
            </a:r>
            <a:endParaRPr lang="en-US" sz="2000" dirty="0"/>
          </a:p>
          <a:p>
            <a:pPr marL="0" indent="0">
              <a:buNone/>
            </a:pPr>
            <a:r>
              <a:rPr lang="en-US" sz="2000" dirty="0"/>
              <a:t>{</a:t>
            </a:r>
          </a:p>
          <a:p>
            <a:pPr marL="0" indent="0">
              <a:buNone/>
            </a:pPr>
            <a:r>
              <a:rPr lang="en-US" sz="2000" dirty="0"/>
              <a:t>    //By default interface is abstract</a:t>
            </a:r>
          </a:p>
          <a:p>
            <a:pPr marL="0" indent="0">
              <a:buNone/>
            </a:pPr>
            <a:r>
              <a:rPr lang="en-US" sz="2000" dirty="0"/>
              <a:t>    //No need to use abstract keyword</a:t>
            </a:r>
          </a:p>
          <a:p>
            <a:pPr marL="0" indent="0">
              <a:buNone/>
            </a:pPr>
            <a:r>
              <a:rPr lang="en-US" sz="2000" dirty="0"/>
              <a:t>}</a:t>
            </a:r>
          </a:p>
        </p:txBody>
      </p:sp>
    </p:spTree>
    <p:extLst>
      <p:ext uri="{BB962C8B-B14F-4D97-AF65-F5344CB8AC3E}">
        <p14:creationId xmlns:p14="http://schemas.microsoft.com/office/powerpoint/2010/main" val="2076050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6560598"/>
          </a:xfrm>
        </p:spPr>
        <p:txBody>
          <a:bodyPr>
            <a:normAutofit fontScale="92500" lnSpcReduction="10000"/>
          </a:bodyPr>
          <a:lstStyle/>
          <a:p>
            <a:r>
              <a:rPr lang="en-US" sz="2000" dirty="0"/>
              <a:t>Like classes, for every interface .class file will be generated after compilation.</a:t>
            </a:r>
          </a:p>
          <a:p>
            <a:r>
              <a:rPr lang="en-US" sz="2000" dirty="0"/>
              <a:t>While implementing any interface methods inside a class, that method must be declared as public. Because, according to method overriding rule, you can’t reduce visibility of super class method. By default, every member of an interface is public and while implementing you should not reduce this visibility.</a:t>
            </a:r>
          </a:p>
          <a:p>
            <a:pPr marL="0" indent="0">
              <a:buNone/>
            </a:pPr>
            <a:endParaRPr lang="en-US" sz="2000" dirty="0"/>
          </a:p>
          <a:p>
            <a:pPr marL="0" indent="0">
              <a:buNone/>
            </a:pPr>
            <a:r>
              <a:rPr lang="en-US" sz="2000" dirty="0"/>
              <a:t>interface </a:t>
            </a:r>
            <a:r>
              <a:rPr lang="en-US" sz="2000" dirty="0" err="1"/>
              <a:t>InterfaceClass</a:t>
            </a:r>
            <a:endParaRPr lang="en-US" sz="2000" dirty="0"/>
          </a:p>
          <a:p>
            <a:pPr marL="0" indent="0">
              <a:buNone/>
            </a:pPr>
            <a:r>
              <a:rPr lang="en-US" sz="2000" dirty="0"/>
              <a:t>{</a:t>
            </a:r>
          </a:p>
          <a:p>
            <a:pPr marL="0" indent="0">
              <a:buNone/>
            </a:pPr>
            <a:r>
              <a:rPr lang="en-US" sz="2000" dirty="0"/>
              <a:t>    void </a:t>
            </a:r>
            <a:r>
              <a:rPr lang="en-US" sz="2000" dirty="0" err="1"/>
              <a:t>methodOne</a:t>
            </a:r>
            <a:r>
              <a:rPr lang="en-US" sz="2000" dirty="0"/>
              <a:t>();</a:t>
            </a:r>
          </a:p>
          <a:p>
            <a:pPr marL="0" indent="0">
              <a:buNone/>
            </a:pPr>
            <a:r>
              <a:rPr lang="en-US" sz="2000" dirty="0"/>
              <a:t>}</a:t>
            </a:r>
          </a:p>
          <a:p>
            <a:pPr marL="0" indent="0">
              <a:buNone/>
            </a:pPr>
            <a:r>
              <a:rPr lang="en-US" sz="2000" dirty="0"/>
              <a:t> </a:t>
            </a:r>
          </a:p>
          <a:p>
            <a:pPr marL="0" indent="0">
              <a:buNone/>
            </a:pPr>
            <a:r>
              <a:rPr lang="en-US" sz="2000" dirty="0"/>
              <a:t>class </a:t>
            </a:r>
            <a:r>
              <a:rPr lang="en-US" sz="2000" dirty="0" err="1"/>
              <a:t>AnyClass</a:t>
            </a:r>
            <a:r>
              <a:rPr lang="en-US" sz="2000" dirty="0"/>
              <a:t> implements </a:t>
            </a:r>
            <a:r>
              <a:rPr lang="en-US" sz="2000" dirty="0" err="1"/>
              <a:t>InterfaceClass</a:t>
            </a:r>
            <a:endParaRPr lang="en-US" sz="2000" dirty="0"/>
          </a:p>
          <a:p>
            <a:pPr marL="0" indent="0">
              <a:buNone/>
            </a:pPr>
            <a:r>
              <a:rPr lang="en-US" sz="2000" dirty="0"/>
              <a:t>{</a:t>
            </a:r>
          </a:p>
          <a:p>
            <a:pPr marL="0" indent="0">
              <a:buNone/>
            </a:pPr>
            <a:r>
              <a:rPr lang="en-US" sz="2000" dirty="0"/>
              <a:t>    void </a:t>
            </a:r>
            <a:r>
              <a:rPr lang="en-US" sz="2000" dirty="0" err="1"/>
              <a:t>methodOne</a:t>
            </a:r>
            <a:r>
              <a:rPr lang="en-US" sz="2000" dirty="0"/>
              <a:t>()</a:t>
            </a:r>
          </a:p>
          <a:p>
            <a:pPr marL="0" indent="0">
              <a:buNone/>
            </a:pPr>
            <a:r>
              <a:rPr lang="en-US" sz="2000" dirty="0"/>
              <a:t>    {</a:t>
            </a:r>
          </a:p>
          <a:p>
            <a:pPr marL="0" indent="0">
              <a:buNone/>
            </a:pPr>
            <a:r>
              <a:rPr lang="en-US" sz="2000" dirty="0"/>
              <a:t>        //It gives compile time error.</a:t>
            </a:r>
          </a:p>
          <a:p>
            <a:pPr marL="0" indent="0">
              <a:buNone/>
            </a:pPr>
            <a:r>
              <a:rPr lang="en-US" sz="2000" dirty="0"/>
              <a:t>        //Interface methods must be implemented as public</a:t>
            </a:r>
          </a:p>
          <a:p>
            <a:pPr marL="0" indent="0">
              <a:buNone/>
            </a:pPr>
            <a:r>
              <a:rPr lang="en-US" sz="2000" dirty="0"/>
              <a:t>    }</a:t>
            </a:r>
          </a:p>
          <a:p>
            <a:pPr marL="0" indent="0">
              <a:buNone/>
            </a:pPr>
            <a:r>
              <a:rPr lang="en-US" sz="2000" dirty="0"/>
              <a:t>}</a:t>
            </a:r>
          </a:p>
          <a:p>
            <a:pPr marL="0" indent="0">
              <a:buNone/>
            </a:pPr>
            <a:endParaRPr lang="en-US" sz="2000" dirty="0"/>
          </a:p>
        </p:txBody>
      </p:sp>
    </p:spTree>
    <p:extLst>
      <p:ext uri="{BB962C8B-B14F-4D97-AF65-F5344CB8AC3E}">
        <p14:creationId xmlns:p14="http://schemas.microsoft.com/office/powerpoint/2010/main" val="2223595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6560598"/>
          </a:xfrm>
        </p:spPr>
        <p:txBody>
          <a:bodyPr>
            <a:normAutofit lnSpcReduction="10000"/>
          </a:bodyPr>
          <a:lstStyle/>
          <a:p>
            <a:r>
              <a:rPr lang="en-US" sz="2000" dirty="0"/>
              <a:t>SIB – Static Initialization Block and IIB – Instance Initialization Block are not allowed in interfaces.</a:t>
            </a:r>
          </a:p>
          <a:p>
            <a:pPr marL="0" indent="0">
              <a:buNone/>
            </a:pPr>
            <a:endParaRPr lang="en-US" sz="2000" dirty="0"/>
          </a:p>
          <a:p>
            <a:pPr marL="0" indent="0">
              <a:buNone/>
            </a:pPr>
            <a:r>
              <a:rPr lang="en-US" sz="2000" dirty="0"/>
              <a:t>interface </a:t>
            </a:r>
            <a:r>
              <a:rPr lang="en-US" sz="2000" dirty="0" err="1"/>
              <a:t>InterfaceClassOne</a:t>
            </a:r>
            <a:endParaRPr lang="en-US" sz="2000" dirty="0"/>
          </a:p>
          <a:p>
            <a:pPr marL="0" indent="0">
              <a:buNone/>
            </a:pPr>
            <a:r>
              <a:rPr lang="en-US" sz="2000" dirty="0"/>
              <a:t>{</a:t>
            </a:r>
          </a:p>
          <a:p>
            <a:pPr marL="0" indent="0">
              <a:buNone/>
            </a:pPr>
            <a:r>
              <a:rPr lang="en-US" sz="2000" dirty="0"/>
              <a:t>    static</a:t>
            </a:r>
          </a:p>
          <a:p>
            <a:pPr marL="0" indent="0">
              <a:buNone/>
            </a:pPr>
            <a:r>
              <a:rPr lang="en-US" sz="2000" dirty="0"/>
              <a:t>    {</a:t>
            </a:r>
          </a:p>
          <a:p>
            <a:pPr marL="0" indent="0">
              <a:buNone/>
            </a:pPr>
            <a:r>
              <a:rPr lang="en-US" sz="2000" dirty="0"/>
              <a:t>        //compile time error</a:t>
            </a:r>
          </a:p>
          <a:p>
            <a:pPr marL="0" indent="0">
              <a:buNone/>
            </a:pPr>
            <a:r>
              <a:rPr lang="en-US" sz="2000" dirty="0"/>
              <a:t>        //SIB's are not allowed in interfaces</a:t>
            </a:r>
          </a:p>
          <a:p>
            <a:pPr marL="0" indent="0">
              <a:buNone/>
            </a:pPr>
            <a:r>
              <a:rPr lang="en-US" sz="2000" dirty="0"/>
              <a:t>    }</a:t>
            </a:r>
          </a:p>
          <a:p>
            <a:pPr marL="0" indent="0">
              <a:buNone/>
            </a:pPr>
            <a:r>
              <a:rPr lang="en-US" sz="2000" dirty="0"/>
              <a:t> </a:t>
            </a:r>
          </a:p>
          <a:p>
            <a:pPr marL="0" indent="0">
              <a:buNone/>
            </a:pPr>
            <a:r>
              <a:rPr lang="en-US" sz="2000" dirty="0"/>
              <a:t>    {</a:t>
            </a:r>
          </a:p>
          <a:p>
            <a:pPr marL="0" indent="0">
              <a:buNone/>
            </a:pPr>
            <a:r>
              <a:rPr lang="en-US" sz="2000" dirty="0"/>
              <a:t>        //Here also compile time error.</a:t>
            </a:r>
          </a:p>
          <a:p>
            <a:pPr marL="0" indent="0">
              <a:buNone/>
            </a:pPr>
            <a:r>
              <a:rPr lang="en-US" sz="2000" dirty="0"/>
              <a:t>        //IIB's are not allowed in interfaces</a:t>
            </a:r>
          </a:p>
          <a:p>
            <a:pPr marL="0" indent="0">
              <a:buNone/>
            </a:pPr>
            <a:r>
              <a:rPr lang="en-US" sz="2000" dirty="0"/>
              <a:t>    }</a:t>
            </a:r>
          </a:p>
          <a:p>
            <a:pPr marL="0" indent="0">
              <a:buNone/>
            </a:pPr>
            <a:r>
              <a:rPr lang="en-US" sz="2000" dirty="0"/>
              <a:t> </a:t>
            </a:r>
          </a:p>
          <a:p>
            <a:pPr marL="0" indent="0">
              <a:buNone/>
            </a:pPr>
            <a:r>
              <a:rPr lang="en-US" sz="2000" dirty="0"/>
              <a:t>    void </a:t>
            </a:r>
            <a:r>
              <a:rPr lang="en-US" sz="2000" dirty="0" err="1"/>
              <a:t>methodOne</a:t>
            </a:r>
            <a:r>
              <a:rPr lang="en-US" sz="2000" dirty="0"/>
              <a:t>();  //abstract method</a:t>
            </a:r>
          </a:p>
          <a:p>
            <a:pPr marL="0" indent="0">
              <a:buNone/>
            </a:pPr>
            <a:r>
              <a:rPr lang="en-US" sz="2000" dirty="0"/>
              <a:t>}</a:t>
            </a:r>
          </a:p>
        </p:txBody>
      </p:sp>
    </p:spTree>
    <p:extLst>
      <p:ext uri="{BB962C8B-B14F-4D97-AF65-F5344CB8AC3E}">
        <p14:creationId xmlns:p14="http://schemas.microsoft.com/office/powerpoint/2010/main" val="260412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D5FB65-8518-42D0-BF00-3814153F6E50}"/>
              </a:ext>
            </a:extLst>
          </p:cNvPr>
          <p:cNvSpPr>
            <a:spLocks noGrp="1"/>
          </p:cNvSpPr>
          <p:nvPr>
            <p:ph idx="1"/>
          </p:nvPr>
        </p:nvSpPr>
        <p:spPr>
          <a:xfrm>
            <a:off x="838200" y="221942"/>
            <a:ext cx="10515600" cy="6560598"/>
          </a:xfrm>
        </p:spPr>
        <p:txBody>
          <a:bodyPr>
            <a:normAutofit fontScale="70000" lnSpcReduction="20000"/>
          </a:bodyPr>
          <a:lstStyle/>
          <a:p>
            <a:r>
              <a:rPr lang="en-US" sz="2000" dirty="0"/>
              <a:t>As we all know that, any class in java can not extend more than one class. But class can implement more than one interfaces. This is how multiple inheritance is implemented in java.</a:t>
            </a:r>
          </a:p>
          <a:p>
            <a:pPr marL="0" indent="0">
              <a:buNone/>
            </a:pPr>
            <a:r>
              <a:rPr lang="en-US" sz="2000" dirty="0"/>
              <a:t>interface </a:t>
            </a:r>
            <a:r>
              <a:rPr lang="en-US" sz="2000" dirty="0" err="1"/>
              <a:t>InterfaceClassOne</a:t>
            </a:r>
            <a:endParaRPr lang="en-US" sz="2000" dirty="0"/>
          </a:p>
          <a:p>
            <a:pPr marL="0" indent="0">
              <a:buNone/>
            </a:pPr>
            <a:r>
              <a:rPr lang="en-US" sz="2000" dirty="0"/>
              <a:t>{</a:t>
            </a:r>
          </a:p>
          <a:p>
            <a:pPr marL="0" indent="0">
              <a:buNone/>
            </a:pPr>
            <a:r>
              <a:rPr lang="en-US" sz="2000" dirty="0"/>
              <a:t>    void </a:t>
            </a:r>
            <a:r>
              <a:rPr lang="en-US" sz="2000" dirty="0" err="1"/>
              <a:t>methodOne</a:t>
            </a:r>
            <a:r>
              <a:rPr lang="en-US" sz="2000" dirty="0"/>
              <a:t>();</a:t>
            </a:r>
          </a:p>
          <a:p>
            <a:pPr marL="0" indent="0">
              <a:buNone/>
            </a:pPr>
            <a:r>
              <a:rPr lang="en-US" sz="2000" dirty="0"/>
              <a:t>}</a:t>
            </a:r>
          </a:p>
          <a:p>
            <a:pPr marL="0" indent="0">
              <a:buNone/>
            </a:pPr>
            <a:r>
              <a:rPr lang="en-US" sz="2000" dirty="0"/>
              <a:t>interface </a:t>
            </a:r>
            <a:r>
              <a:rPr lang="en-US" sz="2000" dirty="0" err="1"/>
              <a:t>InterfaceClassTwo</a:t>
            </a:r>
            <a:endParaRPr lang="en-US" sz="2000" dirty="0"/>
          </a:p>
          <a:p>
            <a:pPr marL="0" indent="0">
              <a:buNone/>
            </a:pPr>
            <a:r>
              <a:rPr lang="en-US" sz="2000" dirty="0"/>
              <a:t>{</a:t>
            </a:r>
          </a:p>
          <a:p>
            <a:pPr marL="0" indent="0">
              <a:buNone/>
            </a:pPr>
            <a:r>
              <a:rPr lang="en-US" sz="2000" dirty="0"/>
              <a:t>    void </a:t>
            </a:r>
            <a:r>
              <a:rPr lang="en-US" sz="2000" dirty="0" err="1"/>
              <a:t>methodTwo</a:t>
            </a:r>
            <a:r>
              <a:rPr lang="en-US" sz="2000" dirty="0"/>
              <a:t>();</a:t>
            </a:r>
          </a:p>
          <a:p>
            <a:pPr marL="0" indent="0">
              <a:buNone/>
            </a:pPr>
            <a:r>
              <a:rPr lang="en-US" sz="2000" dirty="0"/>
              <a:t>}</a:t>
            </a:r>
          </a:p>
          <a:p>
            <a:pPr marL="0" indent="0">
              <a:buNone/>
            </a:pPr>
            <a:r>
              <a:rPr lang="en-US" sz="2000" dirty="0"/>
              <a:t>class </a:t>
            </a:r>
            <a:r>
              <a:rPr lang="en-US" sz="2000" dirty="0" err="1"/>
              <a:t>AnyClass</a:t>
            </a:r>
            <a:r>
              <a:rPr lang="en-US" sz="2000" dirty="0"/>
              <a:t> implements </a:t>
            </a:r>
            <a:r>
              <a:rPr lang="en-US" sz="2000" dirty="0" err="1"/>
              <a:t>InterfaceClassOne</a:t>
            </a:r>
            <a:r>
              <a:rPr lang="en-US" sz="2000" dirty="0"/>
              <a:t>, </a:t>
            </a:r>
            <a:r>
              <a:rPr lang="en-US" sz="2000" dirty="0" err="1"/>
              <a:t>InterfaceClassTwo</a:t>
            </a:r>
            <a:endParaRPr lang="en-US" sz="2000" dirty="0"/>
          </a:p>
          <a:p>
            <a:pPr marL="0" indent="0">
              <a:buNone/>
            </a:pPr>
            <a:r>
              <a:rPr lang="en-US" sz="2000" dirty="0"/>
              <a:t>{</a:t>
            </a:r>
          </a:p>
          <a:p>
            <a:pPr marL="0" indent="0">
              <a:buNone/>
            </a:pPr>
            <a:r>
              <a:rPr lang="en-US" sz="2000" dirty="0"/>
              <a:t>    public void </a:t>
            </a:r>
            <a:r>
              <a:rPr lang="en-US" sz="2000" dirty="0" err="1"/>
              <a:t>methodOne</a:t>
            </a:r>
            <a:r>
              <a:rPr lang="en-US" sz="2000" dirty="0"/>
              <a:t>()</a:t>
            </a:r>
          </a:p>
          <a:p>
            <a:pPr marL="0" indent="0">
              <a:buNone/>
            </a:pPr>
            <a:r>
              <a:rPr lang="en-US" sz="2000" dirty="0"/>
              <a:t>    {</a:t>
            </a:r>
          </a:p>
          <a:p>
            <a:pPr marL="0" indent="0">
              <a:buNone/>
            </a:pPr>
            <a:r>
              <a:rPr lang="en-US" sz="2000" dirty="0"/>
              <a:t>        //method of first interface is implemented</a:t>
            </a:r>
          </a:p>
          <a:p>
            <a:pPr marL="0" indent="0">
              <a:buNone/>
            </a:pPr>
            <a:r>
              <a:rPr lang="en-US" sz="2000" dirty="0"/>
              <a:t>    }</a:t>
            </a:r>
          </a:p>
          <a:p>
            <a:pPr marL="0" indent="0">
              <a:buNone/>
            </a:pPr>
            <a:r>
              <a:rPr lang="en-US" sz="2000" dirty="0"/>
              <a:t>    //method of Second interface must also be implemented.</a:t>
            </a:r>
          </a:p>
          <a:p>
            <a:pPr marL="0" indent="0">
              <a:buNone/>
            </a:pPr>
            <a:r>
              <a:rPr lang="en-US" sz="2000" dirty="0"/>
              <a:t>    //Otherwise, you have to declare this class as abstract.</a:t>
            </a:r>
          </a:p>
          <a:p>
            <a:pPr marL="0" indent="0">
              <a:buNone/>
            </a:pPr>
            <a:r>
              <a:rPr lang="en-US" sz="2000" dirty="0"/>
              <a:t>    public void </a:t>
            </a:r>
            <a:r>
              <a:rPr lang="en-US" sz="2000" dirty="0" err="1"/>
              <a:t>methodTwo</a:t>
            </a:r>
            <a:r>
              <a:rPr lang="en-US" sz="2000" dirty="0"/>
              <a:t>()</a:t>
            </a:r>
          </a:p>
          <a:p>
            <a:pPr marL="0" indent="0">
              <a:buNone/>
            </a:pPr>
            <a:r>
              <a:rPr lang="en-US" sz="2000" dirty="0"/>
              <a:t>    {</a:t>
            </a:r>
          </a:p>
          <a:p>
            <a:pPr marL="0" indent="0">
              <a:buNone/>
            </a:pPr>
            <a:r>
              <a:rPr lang="en-US" sz="2000" dirty="0"/>
              <a:t>        //Now, method of Second interface is also implemented.</a:t>
            </a:r>
          </a:p>
          <a:p>
            <a:pPr marL="0" indent="0">
              <a:buNone/>
            </a:pPr>
            <a:r>
              <a:rPr lang="en-US" sz="2000" dirty="0"/>
              <a:t>        //No need to declare this class as abstract</a:t>
            </a:r>
          </a:p>
          <a:p>
            <a:pPr marL="0" indent="0">
              <a:buNone/>
            </a:pPr>
            <a:r>
              <a:rPr lang="en-US" sz="2000" dirty="0"/>
              <a:t>    }</a:t>
            </a:r>
          </a:p>
          <a:p>
            <a:pPr marL="0" indent="0">
              <a:buNone/>
            </a:pPr>
            <a:r>
              <a:rPr lang="en-US" sz="2000" dirty="0"/>
              <a:t>}</a:t>
            </a:r>
          </a:p>
        </p:txBody>
      </p:sp>
    </p:spTree>
    <p:extLst>
      <p:ext uri="{BB962C8B-B14F-4D97-AF65-F5344CB8AC3E}">
        <p14:creationId xmlns:p14="http://schemas.microsoft.com/office/powerpoint/2010/main" val="921939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926976" y="550415"/>
            <a:ext cx="10515600" cy="4669654"/>
          </a:xfrm>
        </p:spPr>
        <p:txBody>
          <a:bodyPr>
            <a:normAutofit/>
          </a:bodyPr>
          <a:lstStyle/>
          <a:p>
            <a:pPr marL="0" indent="0" algn="just" fontAlgn="base">
              <a:buNone/>
            </a:pPr>
            <a:r>
              <a:rPr lang="en-US" sz="1600" b="1" dirty="0">
                <a:solidFill>
                  <a:srgbClr val="000000"/>
                </a:solidFill>
                <a:latin typeface="Calibri Light" panose="020F0302020204030204" pitchFamily="34" charset="0"/>
                <a:cs typeface="Calibri Light" panose="020F0302020204030204" pitchFamily="34" charset="0"/>
              </a:rPr>
              <a:t>Encapsulation vs Data Abstraction</a:t>
            </a:r>
          </a:p>
          <a:p>
            <a:pPr algn="just" fontAlgn="base">
              <a:buFont typeface="+mj-lt"/>
              <a:buAutoNum type="arabicPeriod"/>
            </a:pPr>
            <a:r>
              <a:rPr lang="en-US" sz="1400" dirty="0">
                <a:solidFill>
                  <a:srgbClr val="000000"/>
                </a:solidFill>
                <a:latin typeface="Calibri Light" panose="020F0302020204030204" pitchFamily="34" charset="0"/>
                <a:cs typeface="Calibri Light" panose="020F0302020204030204" pitchFamily="34" charset="0"/>
                <a:hlinkClick r:id="rId2">
                  <a:extLst>
                    <a:ext uri="{A12FA001-AC4F-418D-AE19-62706E023703}">
                      <ahyp:hlinkClr xmlns:ahyp="http://schemas.microsoft.com/office/drawing/2018/hyperlinkcolor" val="tx"/>
                    </a:ext>
                  </a:extLst>
                </a:hlinkClick>
              </a:rPr>
              <a:t>Encapsulation</a:t>
            </a:r>
            <a:r>
              <a:rPr lang="en-US" sz="1400" dirty="0">
                <a:solidFill>
                  <a:srgbClr val="000000"/>
                </a:solidFill>
                <a:latin typeface="Calibri Light" panose="020F0302020204030204" pitchFamily="34" charset="0"/>
                <a:cs typeface="Calibri Light" panose="020F0302020204030204" pitchFamily="34" charset="0"/>
              </a:rPr>
              <a:t> is data hiding(information hiding) while Abstraction is detail hiding(implementation hiding).</a:t>
            </a:r>
          </a:p>
          <a:p>
            <a:pPr algn="just" fontAlgn="base">
              <a:buFont typeface="+mj-lt"/>
              <a:buAutoNum type="arabicPeriod"/>
            </a:pPr>
            <a:r>
              <a:rPr lang="en-US" sz="1400" dirty="0">
                <a:solidFill>
                  <a:srgbClr val="000000"/>
                </a:solidFill>
                <a:latin typeface="Calibri Light" panose="020F0302020204030204" pitchFamily="34" charset="0"/>
                <a:cs typeface="Calibri Light" panose="020F0302020204030204" pitchFamily="34" charset="0"/>
              </a:rPr>
              <a:t>While encapsulation groups together data and methods that act upon the data, data abstraction deals with exposing the interface to the user and hiding the details of implementation.</a:t>
            </a:r>
          </a:p>
          <a:p>
            <a:pPr marL="0" indent="0" algn="just" fontAlgn="base">
              <a:buNone/>
            </a:pPr>
            <a:endParaRPr lang="en-US" sz="1600" b="1" dirty="0">
              <a:solidFill>
                <a:srgbClr val="000000"/>
              </a:solidFill>
              <a:latin typeface="Calibri Light" panose="020F0302020204030204" pitchFamily="34" charset="0"/>
              <a:cs typeface="Calibri Light" panose="020F0302020204030204" pitchFamily="34" charset="0"/>
            </a:endParaRPr>
          </a:p>
          <a:p>
            <a:pPr marL="0" indent="0" algn="just" fontAlgn="base">
              <a:buNone/>
            </a:pPr>
            <a:r>
              <a:rPr lang="en-US" sz="1600" b="1" dirty="0">
                <a:solidFill>
                  <a:srgbClr val="000000"/>
                </a:solidFill>
                <a:latin typeface="Calibri Light" panose="020F0302020204030204" pitchFamily="34" charset="0"/>
                <a:cs typeface="Calibri Light" panose="020F0302020204030204" pitchFamily="34" charset="0"/>
              </a:rPr>
              <a:t>Advantages of Abstraction</a:t>
            </a:r>
          </a:p>
          <a:p>
            <a:pPr algn="just" fontAlgn="base">
              <a:buFont typeface="+mj-lt"/>
              <a:buAutoNum type="arabicPeriod"/>
            </a:pPr>
            <a:r>
              <a:rPr lang="en-US" sz="1400" dirty="0">
                <a:solidFill>
                  <a:srgbClr val="000000"/>
                </a:solidFill>
                <a:latin typeface="Calibri Light" panose="020F0302020204030204" pitchFamily="34" charset="0"/>
                <a:cs typeface="Calibri Light" panose="020F0302020204030204" pitchFamily="34" charset="0"/>
              </a:rPr>
              <a:t>It reduces the complexity of viewing the things.</a:t>
            </a:r>
          </a:p>
          <a:p>
            <a:pPr algn="just" fontAlgn="base">
              <a:buFont typeface="+mj-lt"/>
              <a:buAutoNum type="arabicPeriod"/>
            </a:pPr>
            <a:r>
              <a:rPr lang="en-US" sz="1400" dirty="0">
                <a:solidFill>
                  <a:srgbClr val="000000"/>
                </a:solidFill>
                <a:latin typeface="Calibri Light" panose="020F0302020204030204" pitchFamily="34" charset="0"/>
                <a:cs typeface="Calibri Light" panose="020F0302020204030204" pitchFamily="34" charset="0"/>
              </a:rPr>
              <a:t>Avoids code duplication and increases reusability.</a:t>
            </a:r>
          </a:p>
          <a:p>
            <a:pPr algn="just" fontAlgn="base">
              <a:buFont typeface="+mj-lt"/>
              <a:buAutoNum type="arabicPeriod"/>
            </a:pPr>
            <a:r>
              <a:rPr lang="en-US" sz="1400" dirty="0">
                <a:solidFill>
                  <a:srgbClr val="000000"/>
                </a:solidFill>
                <a:latin typeface="Calibri Light" panose="020F0302020204030204" pitchFamily="34" charset="0"/>
                <a:cs typeface="Calibri Light" panose="020F0302020204030204" pitchFamily="34" charset="0"/>
              </a:rPr>
              <a:t>Helps to increase security of an application or program as only important details are provided to the user.</a:t>
            </a:r>
          </a:p>
          <a:p>
            <a:pPr marL="0" indent="0" algn="just" fontAlgn="base">
              <a:buNone/>
            </a:pPr>
            <a:endParaRPr lang="en-US" sz="1400" dirty="0">
              <a:solidFill>
                <a:srgbClr val="000000"/>
              </a:solidFill>
              <a:latin typeface="Calibri Light" panose="020F0302020204030204" pitchFamily="34" charset="0"/>
              <a:cs typeface="Calibri Light" panose="020F0302020204030204" pitchFamily="34" charset="0"/>
            </a:endParaRPr>
          </a:p>
          <a:p>
            <a:pPr marL="0" indent="0">
              <a:buNone/>
            </a:pPr>
            <a:endParaRPr lang="en-IN" sz="1400" dirty="0"/>
          </a:p>
        </p:txBody>
      </p:sp>
    </p:spTree>
    <p:extLst>
      <p:ext uri="{BB962C8B-B14F-4D97-AF65-F5344CB8AC3E}">
        <p14:creationId xmlns:p14="http://schemas.microsoft.com/office/powerpoint/2010/main" val="27946710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1520</TotalTime>
  <Words>1823</Words>
  <Application>Microsoft Office PowerPoint</Application>
  <PresentationFormat>Widescreen</PresentationFormat>
  <Paragraphs>256</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Titillium Web</vt:lpstr>
      <vt:lpstr>Office Theme</vt:lpstr>
      <vt:lpstr>Abstraction</vt:lpstr>
      <vt:lpstr>Let’s discuss some rules need to follow while using abstract classes and abstract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gaikwad</dc:creator>
  <cp:lastModifiedBy>prashant gaikwad</cp:lastModifiedBy>
  <cp:revision>59</cp:revision>
  <dcterms:created xsi:type="dcterms:W3CDTF">2021-08-12T14:59:47Z</dcterms:created>
  <dcterms:modified xsi:type="dcterms:W3CDTF">2021-08-17T11:54:08Z</dcterms:modified>
</cp:coreProperties>
</file>