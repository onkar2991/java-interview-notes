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8" r:id="rId4"/>
    <p:sldId id="269" r:id="rId5"/>
    <p:sldId id="271" r:id="rId6"/>
    <p:sldId id="272" r:id="rId7"/>
    <p:sldId id="273" r:id="rId8"/>
    <p:sldId id="274" r:id="rId9"/>
    <p:sldId id="27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B59D-E7DA-4B57-BFAC-067BBE37DD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A9263D-CF3F-4BBF-8725-4DDFF987C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A256EE-ADB6-48D2-B2BA-59319EB95FAC}"/>
              </a:ext>
            </a:extLst>
          </p:cNvPr>
          <p:cNvSpPr>
            <a:spLocks noGrp="1"/>
          </p:cNvSpPr>
          <p:nvPr>
            <p:ph type="dt" sz="half" idx="10"/>
          </p:nvPr>
        </p:nvSpPr>
        <p:spPr/>
        <p:txBody>
          <a:bodyPr/>
          <a:lstStyle/>
          <a:p>
            <a:fld id="{A9A6D8C6-D499-4CD7-9080-1E49221F37AC}" type="datetimeFigureOut">
              <a:rPr lang="en-IN" smtClean="0"/>
              <a:t>20-11-2022</a:t>
            </a:fld>
            <a:endParaRPr lang="en-IN"/>
          </a:p>
        </p:txBody>
      </p:sp>
      <p:sp>
        <p:nvSpPr>
          <p:cNvPr id="5" name="Footer Placeholder 4">
            <a:extLst>
              <a:ext uri="{FF2B5EF4-FFF2-40B4-BE49-F238E27FC236}">
                <a16:creationId xmlns:a16="http://schemas.microsoft.com/office/drawing/2014/main" id="{FA0FF82E-46C0-4791-B94F-8AAFDA463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3F28C-0C29-45F9-B5A6-61E18650702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75842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769D-BFDD-4F18-B71E-5B2991F185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E71FCC-F6BB-46E1-B0C8-16FE08B6CF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2CFABD-47C7-404F-9FEA-B149CACFFD36}"/>
              </a:ext>
            </a:extLst>
          </p:cNvPr>
          <p:cNvSpPr>
            <a:spLocks noGrp="1"/>
          </p:cNvSpPr>
          <p:nvPr>
            <p:ph type="dt" sz="half" idx="10"/>
          </p:nvPr>
        </p:nvSpPr>
        <p:spPr/>
        <p:txBody>
          <a:bodyPr/>
          <a:lstStyle/>
          <a:p>
            <a:fld id="{A9A6D8C6-D499-4CD7-9080-1E49221F37AC}" type="datetimeFigureOut">
              <a:rPr lang="en-IN" smtClean="0"/>
              <a:t>20-11-2022</a:t>
            </a:fld>
            <a:endParaRPr lang="en-IN"/>
          </a:p>
        </p:txBody>
      </p:sp>
      <p:sp>
        <p:nvSpPr>
          <p:cNvPr id="5" name="Footer Placeholder 4">
            <a:extLst>
              <a:ext uri="{FF2B5EF4-FFF2-40B4-BE49-F238E27FC236}">
                <a16:creationId xmlns:a16="http://schemas.microsoft.com/office/drawing/2014/main" id="{EB88F9A5-87FD-4115-A01C-B966574058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C801E-2D39-4A77-8C1E-EAECECEB367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24729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DC88-AB71-4F21-81DF-5F87D7D79B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613F50-E715-42BF-84A6-E75758AB48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B8B33-E08C-4CA0-9CC3-806F113BEA1A}"/>
              </a:ext>
            </a:extLst>
          </p:cNvPr>
          <p:cNvSpPr>
            <a:spLocks noGrp="1"/>
          </p:cNvSpPr>
          <p:nvPr>
            <p:ph type="dt" sz="half" idx="10"/>
          </p:nvPr>
        </p:nvSpPr>
        <p:spPr/>
        <p:txBody>
          <a:bodyPr/>
          <a:lstStyle/>
          <a:p>
            <a:fld id="{A9A6D8C6-D499-4CD7-9080-1E49221F37AC}" type="datetimeFigureOut">
              <a:rPr lang="en-IN" smtClean="0"/>
              <a:t>20-11-2022</a:t>
            </a:fld>
            <a:endParaRPr lang="en-IN"/>
          </a:p>
        </p:txBody>
      </p:sp>
      <p:sp>
        <p:nvSpPr>
          <p:cNvPr id="5" name="Footer Placeholder 4">
            <a:extLst>
              <a:ext uri="{FF2B5EF4-FFF2-40B4-BE49-F238E27FC236}">
                <a16:creationId xmlns:a16="http://schemas.microsoft.com/office/drawing/2014/main" id="{E1E2A163-F793-4223-BB34-95E1158A32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428612-989E-4103-8C0A-AE8545359EA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038909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6E7C-81BD-41C5-A452-6EAE546BEA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A3E81-14F8-423D-89EE-2F45CDA78C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B42597-3B5D-4601-A6D6-EBC51E025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D93759-B0B1-420D-802F-2A00B6E7E36B}"/>
              </a:ext>
            </a:extLst>
          </p:cNvPr>
          <p:cNvSpPr>
            <a:spLocks noGrp="1"/>
          </p:cNvSpPr>
          <p:nvPr>
            <p:ph type="dt" sz="half" idx="10"/>
          </p:nvPr>
        </p:nvSpPr>
        <p:spPr/>
        <p:txBody>
          <a:bodyPr/>
          <a:lstStyle/>
          <a:p>
            <a:fld id="{A9A6D8C6-D499-4CD7-9080-1E49221F37AC}" type="datetimeFigureOut">
              <a:rPr lang="en-IN" smtClean="0"/>
              <a:t>20-11-2022</a:t>
            </a:fld>
            <a:endParaRPr lang="en-IN"/>
          </a:p>
        </p:txBody>
      </p:sp>
      <p:sp>
        <p:nvSpPr>
          <p:cNvPr id="6" name="Footer Placeholder 5">
            <a:extLst>
              <a:ext uri="{FF2B5EF4-FFF2-40B4-BE49-F238E27FC236}">
                <a16:creationId xmlns:a16="http://schemas.microsoft.com/office/drawing/2014/main" id="{25B0346A-06DC-4552-B787-4C8B08AB23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BF1500-8649-42D5-9FDA-C1D17C4D94F0}"/>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034390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F412-893B-4BAD-9222-2B1499D076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5A0AF1-2C0F-4F48-95A7-587ADBDD5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A275F0-B4A2-4CC0-8567-B5C1F6B1C3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064487-5112-4E99-97F5-E6FB03C999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F1B33D-9DA7-4A41-9D7E-55B54A350D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059A3A-2B9F-44EF-8BEB-A56BB5ED834E}"/>
              </a:ext>
            </a:extLst>
          </p:cNvPr>
          <p:cNvSpPr>
            <a:spLocks noGrp="1"/>
          </p:cNvSpPr>
          <p:nvPr>
            <p:ph type="dt" sz="half" idx="10"/>
          </p:nvPr>
        </p:nvSpPr>
        <p:spPr/>
        <p:txBody>
          <a:bodyPr/>
          <a:lstStyle/>
          <a:p>
            <a:fld id="{A9A6D8C6-D499-4CD7-9080-1E49221F37AC}" type="datetimeFigureOut">
              <a:rPr lang="en-IN" smtClean="0"/>
              <a:t>20-11-2022</a:t>
            </a:fld>
            <a:endParaRPr lang="en-IN"/>
          </a:p>
        </p:txBody>
      </p:sp>
      <p:sp>
        <p:nvSpPr>
          <p:cNvPr id="8" name="Footer Placeholder 7">
            <a:extLst>
              <a:ext uri="{FF2B5EF4-FFF2-40B4-BE49-F238E27FC236}">
                <a16:creationId xmlns:a16="http://schemas.microsoft.com/office/drawing/2014/main" id="{DBC381BD-6C74-4F7F-A9BE-9676A13034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8E0753-A0F0-4FB0-B4C8-1CE1FB32430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91625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6D91-5FCC-4172-82EC-B8B46E21C6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1A1DF3-2E3D-456D-948C-D24614EC4E63}"/>
              </a:ext>
            </a:extLst>
          </p:cNvPr>
          <p:cNvSpPr>
            <a:spLocks noGrp="1"/>
          </p:cNvSpPr>
          <p:nvPr>
            <p:ph type="dt" sz="half" idx="10"/>
          </p:nvPr>
        </p:nvSpPr>
        <p:spPr/>
        <p:txBody>
          <a:bodyPr/>
          <a:lstStyle/>
          <a:p>
            <a:fld id="{A9A6D8C6-D499-4CD7-9080-1E49221F37AC}" type="datetimeFigureOut">
              <a:rPr lang="en-IN" smtClean="0"/>
              <a:t>20-11-2022</a:t>
            </a:fld>
            <a:endParaRPr lang="en-IN"/>
          </a:p>
        </p:txBody>
      </p:sp>
      <p:sp>
        <p:nvSpPr>
          <p:cNvPr id="4" name="Footer Placeholder 3">
            <a:extLst>
              <a:ext uri="{FF2B5EF4-FFF2-40B4-BE49-F238E27FC236}">
                <a16:creationId xmlns:a16="http://schemas.microsoft.com/office/drawing/2014/main" id="{FFF6B5A1-AAE5-4FB6-8D27-7FA65D4FF0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25F4B5-2898-429F-A970-BD324CCD4D5F}"/>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19421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BD9A7A-58E5-458E-B4CB-AAD67A5EFFA5}"/>
              </a:ext>
            </a:extLst>
          </p:cNvPr>
          <p:cNvSpPr>
            <a:spLocks noGrp="1"/>
          </p:cNvSpPr>
          <p:nvPr>
            <p:ph type="dt" sz="half" idx="10"/>
          </p:nvPr>
        </p:nvSpPr>
        <p:spPr/>
        <p:txBody>
          <a:bodyPr/>
          <a:lstStyle/>
          <a:p>
            <a:fld id="{A9A6D8C6-D499-4CD7-9080-1E49221F37AC}" type="datetimeFigureOut">
              <a:rPr lang="en-IN" smtClean="0"/>
              <a:t>20-11-2022</a:t>
            </a:fld>
            <a:endParaRPr lang="en-IN"/>
          </a:p>
        </p:txBody>
      </p:sp>
      <p:sp>
        <p:nvSpPr>
          <p:cNvPr id="3" name="Footer Placeholder 2">
            <a:extLst>
              <a:ext uri="{FF2B5EF4-FFF2-40B4-BE49-F238E27FC236}">
                <a16:creationId xmlns:a16="http://schemas.microsoft.com/office/drawing/2014/main" id="{C5C573B6-26EF-4C85-9BFA-8E2C47573B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0196F7-8B52-4A6B-88CC-0016D2E9145D}"/>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667179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83CEF-4060-42D5-9F68-DE162E393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8DD1A7-6A23-4F5F-BA62-68195DB5A9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1F8DE1-12BC-40D5-B4EC-82693692D1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9A25DB-4F54-4E03-B958-776A1ED550DA}"/>
              </a:ext>
            </a:extLst>
          </p:cNvPr>
          <p:cNvSpPr>
            <a:spLocks noGrp="1"/>
          </p:cNvSpPr>
          <p:nvPr>
            <p:ph type="dt" sz="half" idx="10"/>
          </p:nvPr>
        </p:nvSpPr>
        <p:spPr/>
        <p:txBody>
          <a:bodyPr/>
          <a:lstStyle/>
          <a:p>
            <a:fld id="{A9A6D8C6-D499-4CD7-9080-1E49221F37AC}" type="datetimeFigureOut">
              <a:rPr lang="en-IN" smtClean="0"/>
              <a:t>20-11-2022</a:t>
            </a:fld>
            <a:endParaRPr lang="en-IN"/>
          </a:p>
        </p:txBody>
      </p:sp>
      <p:sp>
        <p:nvSpPr>
          <p:cNvPr id="6" name="Footer Placeholder 5">
            <a:extLst>
              <a:ext uri="{FF2B5EF4-FFF2-40B4-BE49-F238E27FC236}">
                <a16:creationId xmlns:a16="http://schemas.microsoft.com/office/drawing/2014/main" id="{AB9EE867-6B1D-4AB1-823C-4C55C05542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58D8D8-5BAA-4C89-86FF-156DE9FF60D2}"/>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240817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4267-CB7C-486F-B7E5-A67402E52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CC613C-82B2-4DA7-8479-FE33C936FB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B1EB17-1800-4819-9A81-43527BD60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6F945-E87E-4530-826D-37E9CD42F531}"/>
              </a:ext>
            </a:extLst>
          </p:cNvPr>
          <p:cNvSpPr>
            <a:spLocks noGrp="1"/>
          </p:cNvSpPr>
          <p:nvPr>
            <p:ph type="dt" sz="half" idx="10"/>
          </p:nvPr>
        </p:nvSpPr>
        <p:spPr/>
        <p:txBody>
          <a:bodyPr/>
          <a:lstStyle/>
          <a:p>
            <a:fld id="{A9A6D8C6-D499-4CD7-9080-1E49221F37AC}" type="datetimeFigureOut">
              <a:rPr lang="en-IN" smtClean="0"/>
              <a:t>20-11-2022</a:t>
            </a:fld>
            <a:endParaRPr lang="en-IN"/>
          </a:p>
        </p:txBody>
      </p:sp>
      <p:sp>
        <p:nvSpPr>
          <p:cNvPr id="6" name="Footer Placeholder 5">
            <a:extLst>
              <a:ext uri="{FF2B5EF4-FFF2-40B4-BE49-F238E27FC236}">
                <a16:creationId xmlns:a16="http://schemas.microsoft.com/office/drawing/2014/main" id="{8CA5A578-E4DC-4ADA-A3C8-CC1F75DCC3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95C3EA-F3A9-43A4-B771-E7310A6CE29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93361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D649-0B86-4932-A3F3-2FE55007CB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4D4290-2212-455F-8CFA-5A5F8721C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1A63E5-67C8-4D42-9B0C-B6DC98350156}"/>
              </a:ext>
            </a:extLst>
          </p:cNvPr>
          <p:cNvSpPr>
            <a:spLocks noGrp="1"/>
          </p:cNvSpPr>
          <p:nvPr>
            <p:ph type="dt" sz="half" idx="10"/>
          </p:nvPr>
        </p:nvSpPr>
        <p:spPr/>
        <p:txBody>
          <a:bodyPr/>
          <a:lstStyle/>
          <a:p>
            <a:fld id="{A9A6D8C6-D499-4CD7-9080-1E49221F37AC}" type="datetimeFigureOut">
              <a:rPr lang="en-IN" smtClean="0"/>
              <a:t>20-11-2022</a:t>
            </a:fld>
            <a:endParaRPr lang="en-IN"/>
          </a:p>
        </p:txBody>
      </p:sp>
      <p:sp>
        <p:nvSpPr>
          <p:cNvPr id="5" name="Footer Placeholder 4">
            <a:extLst>
              <a:ext uri="{FF2B5EF4-FFF2-40B4-BE49-F238E27FC236}">
                <a16:creationId xmlns:a16="http://schemas.microsoft.com/office/drawing/2014/main" id="{CF9C1DB8-AB24-4B9A-987D-B58E0B2697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D6F6B7-C0C5-4DA4-85BD-BA138E178698}"/>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1737326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3A7B-802E-420A-9054-9999508BF2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B54851-8002-4904-9716-F86E789C92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E64EF9-F89F-4495-AF22-E6571AACCFF7}"/>
              </a:ext>
            </a:extLst>
          </p:cNvPr>
          <p:cNvSpPr>
            <a:spLocks noGrp="1"/>
          </p:cNvSpPr>
          <p:nvPr>
            <p:ph type="dt" sz="half" idx="10"/>
          </p:nvPr>
        </p:nvSpPr>
        <p:spPr/>
        <p:txBody>
          <a:bodyPr/>
          <a:lstStyle/>
          <a:p>
            <a:fld id="{A9A6D8C6-D499-4CD7-9080-1E49221F37AC}" type="datetimeFigureOut">
              <a:rPr lang="en-IN" smtClean="0"/>
              <a:t>20-11-2022</a:t>
            </a:fld>
            <a:endParaRPr lang="en-IN"/>
          </a:p>
        </p:txBody>
      </p:sp>
      <p:sp>
        <p:nvSpPr>
          <p:cNvPr id="5" name="Footer Placeholder 4">
            <a:extLst>
              <a:ext uri="{FF2B5EF4-FFF2-40B4-BE49-F238E27FC236}">
                <a16:creationId xmlns:a16="http://schemas.microsoft.com/office/drawing/2014/main" id="{FF5C9A7B-9DBF-4061-A285-6A47367E2C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325262-DBEE-43EC-817A-584E0D57329E}"/>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56421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AAC875-E80F-4309-96CB-689383C5A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443B97-0C9D-4EDE-8B0A-9A8B5E148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2391E8-6A8E-49B6-83EA-13F47E755F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6D8C6-D499-4CD7-9080-1E49221F37AC}" type="datetimeFigureOut">
              <a:rPr lang="en-IN" smtClean="0"/>
              <a:t>20-11-2022</a:t>
            </a:fld>
            <a:endParaRPr lang="en-IN"/>
          </a:p>
        </p:txBody>
      </p:sp>
      <p:sp>
        <p:nvSpPr>
          <p:cNvPr id="5" name="Footer Placeholder 4">
            <a:extLst>
              <a:ext uri="{FF2B5EF4-FFF2-40B4-BE49-F238E27FC236}">
                <a16:creationId xmlns:a16="http://schemas.microsoft.com/office/drawing/2014/main" id="{27983029-60F6-4D33-B1B3-66F771FB3C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4D5A56-975D-4176-A871-66C018D2F0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45B19-1A90-476D-85DA-9750C8D70378}" type="slidenum">
              <a:rPr lang="en-IN" smtClean="0"/>
              <a:t>‹#›</a:t>
            </a:fld>
            <a:endParaRPr lang="en-IN"/>
          </a:p>
        </p:txBody>
      </p:sp>
    </p:spTree>
    <p:extLst>
      <p:ext uri="{BB962C8B-B14F-4D97-AF65-F5344CB8AC3E}">
        <p14:creationId xmlns:p14="http://schemas.microsoft.com/office/powerpoint/2010/main" val="894267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365126"/>
            <a:ext cx="10515600" cy="682439"/>
          </a:xfrm>
        </p:spPr>
        <p:txBody>
          <a:bodyPr>
            <a:normAutofit fontScale="90000"/>
          </a:bodyPr>
          <a:lstStyle/>
          <a:p>
            <a:br>
              <a:rPr lang="en-IN" b="1" i="0" u="none" strike="noStrike" dirty="0">
                <a:solidFill>
                  <a:srgbClr val="000000"/>
                </a:solidFill>
                <a:effectLst/>
                <a:latin typeface="Calibri" panose="020F0502020204030204" pitchFamily="34" charset="0"/>
                <a:cs typeface="Calibri" panose="020F0502020204030204" pitchFamily="34" charset="0"/>
              </a:rPr>
            </a:br>
            <a:br>
              <a:rPr lang="en-IN" b="1" i="0" u="none" strike="noStrike" dirty="0">
                <a:solidFill>
                  <a:srgbClr val="000000"/>
                </a:solidFill>
                <a:effectLst/>
                <a:latin typeface="Calibri" panose="020F0502020204030204" pitchFamily="34" charset="0"/>
                <a:cs typeface="Calibri" panose="020F0502020204030204" pitchFamily="34" charset="0"/>
              </a:rPr>
            </a:br>
            <a:r>
              <a:rPr lang="en-IN" b="1" i="0" dirty="0">
                <a:solidFill>
                  <a:srgbClr val="273239"/>
                </a:solidFill>
                <a:effectLst/>
                <a:latin typeface="sofia-pro"/>
              </a:rPr>
              <a:t>Hibernate Lifecycle</a:t>
            </a:r>
            <a:br>
              <a:rPr lang="en-IN" b="1" i="0" dirty="0">
                <a:solidFill>
                  <a:srgbClr val="273239"/>
                </a:solidFill>
                <a:effectLst/>
                <a:latin typeface="sofia-pro"/>
              </a:rPr>
            </a:br>
            <a:br>
              <a:rPr lang="en-IN" b="0" i="0" u="none" strike="noStrike" dirty="0">
                <a:solidFill>
                  <a:srgbClr val="000000"/>
                </a:solidFill>
                <a:effectLst/>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491449"/>
            <a:ext cx="10515600" cy="5149048"/>
          </a:xfrm>
        </p:spPr>
        <p:txBody>
          <a:bodyPr>
            <a:normAutofit/>
          </a:bodyPr>
          <a:lstStyle/>
          <a:p>
            <a:r>
              <a:rPr lang="en-US" sz="1600" dirty="0"/>
              <a:t> In Hibernate, we can either create a new object of an entity and store it into the database, or we can fetch the existing data of an entity from the database. These entity is connected with the lifecycle and each object of entity passes through the various stages of the lifecycle. </a:t>
            </a:r>
          </a:p>
          <a:p>
            <a:r>
              <a:rPr lang="en-US" sz="1600" dirty="0"/>
              <a:t>There are mainly four states of the Hibernate Lifecycle :</a:t>
            </a:r>
          </a:p>
          <a:p>
            <a:pPr marL="0" indent="0">
              <a:buNone/>
            </a:pPr>
            <a:r>
              <a:rPr lang="en-US" sz="1600" dirty="0"/>
              <a:t>1) Transient State</a:t>
            </a:r>
          </a:p>
          <a:p>
            <a:pPr marL="0" indent="0">
              <a:buNone/>
            </a:pPr>
            <a:r>
              <a:rPr lang="en-US" sz="1600" dirty="0"/>
              <a:t>2) Persistent State</a:t>
            </a:r>
          </a:p>
          <a:p>
            <a:pPr marL="0" indent="0">
              <a:buNone/>
            </a:pPr>
            <a:r>
              <a:rPr lang="en-US" sz="1600" dirty="0"/>
              <a:t>3) Detached State</a:t>
            </a:r>
          </a:p>
          <a:p>
            <a:pPr marL="0" indent="0">
              <a:buNone/>
            </a:pPr>
            <a:r>
              <a:rPr lang="en-US" sz="1600" dirty="0"/>
              <a:t>4) Removed State</a:t>
            </a:r>
          </a:p>
        </p:txBody>
      </p:sp>
    </p:spTree>
    <p:extLst>
      <p:ext uri="{BB962C8B-B14F-4D97-AF65-F5344CB8AC3E}">
        <p14:creationId xmlns:p14="http://schemas.microsoft.com/office/powerpoint/2010/main" val="306257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F4CF52-1B9E-48E0-B0A7-84836DFB2F89}"/>
              </a:ext>
            </a:extLst>
          </p:cNvPr>
          <p:cNvPicPr>
            <a:picLocks noChangeAspect="1"/>
          </p:cNvPicPr>
          <p:nvPr/>
        </p:nvPicPr>
        <p:blipFill>
          <a:blip r:embed="rId2"/>
          <a:stretch>
            <a:fillRect/>
          </a:stretch>
        </p:blipFill>
        <p:spPr>
          <a:xfrm>
            <a:off x="1500187" y="1190625"/>
            <a:ext cx="9191625" cy="4476750"/>
          </a:xfrm>
          <a:prstGeom prst="rect">
            <a:avLst/>
          </a:prstGeom>
        </p:spPr>
      </p:pic>
    </p:spTree>
    <p:extLst>
      <p:ext uri="{BB962C8B-B14F-4D97-AF65-F5344CB8AC3E}">
        <p14:creationId xmlns:p14="http://schemas.microsoft.com/office/powerpoint/2010/main" val="4004011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709072"/>
          </a:xfrm>
        </p:spPr>
        <p:txBody>
          <a:bodyPr>
            <a:normAutofit/>
          </a:bodyPr>
          <a:lstStyle/>
          <a:p>
            <a:r>
              <a:rPr lang="en-US" b="1" dirty="0"/>
              <a:t>State 1: Transient State</a:t>
            </a:r>
            <a:endParaRPr lang="en-IN" b="1" dirty="0"/>
          </a:p>
        </p:txBody>
      </p:sp>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1242874"/>
            <a:ext cx="10515600" cy="4934089"/>
          </a:xfrm>
        </p:spPr>
        <p:txBody>
          <a:bodyPr/>
          <a:lstStyle/>
          <a:p>
            <a:r>
              <a:rPr lang="en-US" dirty="0"/>
              <a:t>The transient state is the first state of an entity object. When we instantiate an object of a POJO class using the new operator then the object is in the transient state. </a:t>
            </a:r>
          </a:p>
          <a:p>
            <a:r>
              <a:rPr lang="en-US" dirty="0"/>
              <a:t>This object is not connected with any hibernate session. As it is not connected to any Hibernate Session, So this state is not connected to any database table. </a:t>
            </a:r>
          </a:p>
          <a:p>
            <a:r>
              <a:rPr lang="en-US" dirty="0"/>
              <a:t>So, if we make any changes in the data of the POJO Class then the database table is not altered. Transient objects are independent of Hibernate, and they exist in the heap memory.</a:t>
            </a:r>
          </a:p>
          <a:p>
            <a:endParaRPr lang="en-US" dirty="0"/>
          </a:p>
        </p:txBody>
      </p:sp>
    </p:spTree>
    <p:extLst>
      <p:ext uri="{BB962C8B-B14F-4D97-AF65-F5344CB8AC3E}">
        <p14:creationId xmlns:p14="http://schemas.microsoft.com/office/powerpoint/2010/main" val="1460733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E8B-401B-4253-A53B-EA176698DEF3}"/>
              </a:ext>
            </a:extLst>
          </p:cNvPr>
          <p:cNvSpPr>
            <a:spLocks noGrp="1"/>
          </p:cNvSpPr>
          <p:nvPr>
            <p:ph type="title"/>
          </p:nvPr>
        </p:nvSpPr>
        <p:spPr>
          <a:xfrm>
            <a:off x="838200" y="365125"/>
            <a:ext cx="10515600" cy="5893632"/>
          </a:xfrm>
        </p:spPr>
        <p:txBody>
          <a:bodyPr>
            <a:normAutofit/>
          </a:bodyPr>
          <a:lstStyle/>
          <a:p>
            <a:pPr fontAlgn="base"/>
            <a:br>
              <a:rPr lang="en-US" b="0" i="0" dirty="0">
                <a:solidFill>
                  <a:srgbClr val="273239"/>
                </a:solidFill>
                <a:effectLst/>
                <a:latin typeface="urw-din"/>
              </a:rPr>
            </a:br>
            <a:br>
              <a:rPr lang="en-US" b="0" i="0" dirty="0">
                <a:solidFill>
                  <a:srgbClr val="273239"/>
                </a:solidFill>
                <a:effectLst/>
                <a:latin typeface="urw-din"/>
              </a:rPr>
            </a:br>
            <a:r>
              <a:rPr lang="en-US" sz="1800" b="0" i="0" dirty="0">
                <a:solidFill>
                  <a:srgbClr val="273239"/>
                </a:solidFill>
                <a:effectLst/>
                <a:latin typeface="urw-din"/>
              </a:rPr>
              <a:t>There are two layouts in which transient state will occur as follows:</a:t>
            </a:r>
            <a:br>
              <a:rPr lang="en-US" sz="1800" b="0" i="0" dirty="0">
                <a:solidFill>
                  <a:srgbClr val="273239"/>
                </a:solidFill>
                <a:effectLst/>
                <a:latin typeface="urw-din"/>
              </a:rPr>
            </a:br>
            <a:r>
              <a:rPr lang="en-US" sz="1800" b="0" i="0" dirty="0">
                <a:solidFill>
                  <a:srgbClr val="273239"/>
                </a:solidFill>
                <a:effectLst/>
                <a:latin typeface="urw-din"/>
              </a:rPr>
              <a:t>When objects are generated by an application but are not connected to any session.</a:t>
            </a:r>
            <a:br>
              <a:rPr lang="en-US" sz="1800" b="0" i="0" dirty="0">
                <a:solidFill>
                  <a:srgbClr val="273239"/>
                </a:solidFill>
                <a:effectLst/>
                <a:latin typeface="urw-din"/>
              </a:rPr>
            </a:br>
            <a:r>
              <a:rPr lang="en-US" sz="1800" b="0" i="0" dirty="0">
                <a:solidFill>
                  <a:srgbClr val="273239"/>
                </a:solidFill>
                <a:effectLst/>
                <a:latin typeface="urw-din"/>
              </a:rPr>
              <a:t>The objects are generated by a closed session.</a:t>
            </a:r>
            <a:br>
              <a:rPr lang="en-US" sz="1800" b="0" i="0" dirty="0">
                <a:solidFill>
                  <a:srgbClr val="273239"/>
                </a:solidFill>
                <a:effectLst/>
                <a:latin typeface="urw-din"/>
              </a:rPr>
            </a:br>
            <a:br>
              <a:rPr lang="en-US" b="0" i="0" dirty="0">
                <a:solidFill>
                  <a:srgbClr val="273239"/>
                </a:solidFill>
                <a:effectLst/>
                <a:latin typeface="urw-din"/>
              </a:rPr>
            </a:br>
            <a:r>
              <a:rPr lang="en-US" sz="1800" dirty="0">
                <a:solidFill>
                  <a:srgbClr val="273239"/>
                </a:solidFill>
                <a:latin typeface="urw-din"/>
              </a:rPr>
              <a:t>//Here, The object arrives in the transient state.</a:t>
            </a:r>
            <a:br>
              <a:rPr lang="en-US" sz="1800" dirty="0">
                <a:solidFill>
                  <a:srgbClr val="273239"/>
                </a:solidFill>
                <a:latin typeface="urw-din"/>
              </a:rPr>
            </a:br>
            <a:r>
              <a:rPr lang="en-US" sz="1800" dirty="0">
                <a:solidFill>
                  <a:srgbClr val="273239"/>
                </a:solidFill>
                <a:latin typeface="urw-din"/>
              </a:rPr>
              <a:t>Employee e = new Employee();   </a:t>
            </a:r>
            <a:br>
              <a:rPr lang="en-US" sz="1800" dirty="0">
                <a:solidFill>
                  <a:srgbClr val="273239"/>
                </a:solidFill>
                <a:latin typeface="urw-din"/>
              </a:rPr>
            </a:br>
            <a:r>
              <a:rPr lang="en-US" sz="1800" dirty="0" err="1">
                <a:solidFill>
                  <a:srgbClr val="273239"/>
                </a:solidFill>
                <a:latin typeface="urw-din"/>
              </a:rPr>
              <a:t>e.setId</a:t>
            </a:r>
            <a:r>
              <a:rPr lang="en-US" sz="1800" dirty="0">
                <a:solidFill>
                  <a:srgbClr val="273239"/>
                </a:solidFill>
                <a:latin typeface="urw-din"/>
              </a:rPr>
              <a:t>(201);  </a:t>
            </a:r>
            <a:br>
              <a:rPr lang="en-US" sz="1800" dirty="0">
                <a:solidFill>
                  <a:srgbClr val="273239"/>
                </a:solidFill>
                <a:latin typeface="urw-din"/>
              </a:rPr>
            </a:br>
            <a:r>
              <a:rPr lang="en-US" sz="1800" dirty="0" err="1">
                <a:solidFill>
                  <a:srgbClr val="273239"/>
                </a:solidFill>
                <a:latin typeface="urw-din"/>
              </a:rPr>
              <a:t>e.setFirstName</a:t>
            </a:r>
            <a:r>
              <a:rPr lang="en-US" sz="1800" dirty="0">
                <a:solidFill>
                  <a:srgbClr val="273239"/>
                </a:solidFill>
                <a:latin typeface="urw-din"/>
              </a:rPr>
              <a:t>(“Jai");  </a:t>
            </a:r>
            <a:br>
              <a:rPr lang="en-US" sz="1800" dirty="0">
                <a:solidFill>
                  <a:srgbClr val="273239"/>
                </a:solidFill>
                <a:latin typeface="urw-din"/>
              </a:rPr>
            </a:br>
            <a:r>
              <a:rPr lang="en-US" sz="1800" dirty="0" err="1">
                <a:solidFill>
                  <a:srgbClr val="273239"/>
                </a:solidFill>
                <a:latin typeface="urw-din"/>
              </a:rPr>
              <a:t>e.setMiddleName</a:t>
            </a:r>
            <a:r>
              <a:rPr lang="en-US" sz="1800" dirty="0">
                <a:solidFill>
                  <a:srgbClr val="273239"/>
                </a:solidFill>
                <a:latin typeface="urw-din"/>
              </a:rPr>
              <a:t>("Shri");  </a:t>
            </a:r>
            <a:br>
              <a:rPr lang="en-US" sz="1800" dirty="0">
                <a:solidFill>
                  <a:srgbClr val="273239"/>
                </a:solidFill>
                <a:latin typeface="urw-din"/>
              </a:rPr>
            </a:br>
            <a:r>
              <a:rPr lang="en-US" sz="1800" dirty="0" err="1">
                <a:solidFill>
                  <a:srgbClr val="273239"/>
                </a:solidFill>
                <a:latin typeface="urw-din"/>
              </a:rPr>
              <a:t>e.setLastName</a:t>
            </a:r>
            <a:r>
              <a:rPr lang="en-US" sz="1800" dirty="0">
                <a:solidFill>
                  <a:srgbClr val="273239"/>
                </a:solidFill>
                <a:latin typeface="urw-din"/>
              </a:rPr>
              <a:t>("Ram");</a:t>
            </a:r>
            <a:endParaRPr lang="en-IN" sz="1800" dirty="0">
              <a:solidFill>
                <a:srgbClr val="273239"/>
              </a:solidFill>
              <a:latin typeface="urw-din"/>
            </a:endParaRPr>
          </a:p>
        </p:txBody>
      </p:sp>
      <p:pic>
        <p:nvPicPr>
          <p:cNvPr id="11" name="Content Placeholder 10">
            <a:extLst>
              <a:ext uri="{FF2B5EF4-FFF2-40B4-BE49-F238E27FC236}">
                <a16:creationId xmlns:a16="http://schemas.microsoft.com/office/drawing/2014/main" id="{CCB94CC3-5746-4A6E-AD35-D675B55C22BB}"/>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48017" y="995925"/>
            <a:ext cx="2971800" cy="699709"/>
          </a:xfrm>
          <a:prstGeom prst="rect">
            <a:avLst/>
          </a:prstGeom>
          <a:noFill/>
          <a:ln>
            <a:noFill/>
          </a:ln>
        </p:spPr>
      </p:pic>
    </p:spTree>
    <p:extLst>
      <p:ext uri="{BB962C8B-B14F-4D97-AF65-F5344CB8AC3E}">
        <p14:creationId xmlns:p14="http://schemas.microsoft.com/office/powerpoint/2010/main" val="4040632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709072"/>
          </a:xfrm>
        </p:spPr>
        <p:txBody>
          <a:bodyPr>
            <a:normAutofit/>
          </a:bodyPr>
          <a:lstStyle/>
          <a:p>
            <a:r>
              <a:rPr lang="en-IN" b="1" i="0" dirty="0">
                <a:solidFill>
                  <a:srgbClr val="273239"/>
                </a:solidFill>
                <a:effectLst/>
                <a:latin typeface="urw-din"/>
              </a:rPr>
              <a:t>State 2:</a:t>
            </a:r>
            <a:r>
              <a:rPr lang="en-IN" b="0" i="0" dirty="0">
                <a:solidFill>
                  <a:srgbClr val="273239"/>
                </a:solidFill>
                <a:effectLst/>
                <a:latin typeface="urw-din"/>
              </a:rPr>
              <a:t> Persistent State</a:t>
            </a:r>
            <a:endParaRPr lang="en-IN" b="1" dirty="0"/>
          </a:p>
        </p:txBody>
      </p:sp>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1242874"/>
            <a:ext cx="10515600" cy="4934089"/>
          </a:xfrm>
        </p:spPr>
        <p:txBody>
          <a:bodyPr/>
          <a:lstStyle/>
          <a:p>
            <a:pPr fontAlgn="base"/>
            <a:r>
              <a:rPr lang="en-US" b="0" i="0" dirty="0">
                <a:solidFill>
                  <a:srgbClr val="273239"/>
                </a:solidFill>
                <a:effectLst/>
                <a:latin typeface="urw-din"/>
              </a:rPr>
              <a:t>Once the object is connected with the Hibernate Session then the object moves into the Persistent State. So, there are two ways to convert the Transient State to the Persistent State :</a:t>
            </a:r>
          </a:p>
          <a:p>
            <a:pPr algn="l" fontAlgn="base">
              <a:buFont typeface="+mj-lt"/>
              <a:buAutoNum type="arabicPeriod"/>
            </a:pPr>
            <a:r>
              <a:rPr lang="en-US" b="0" i="0" dirty="0">
                <a:solidFill>
                  <a:srgbClr val="273239"/>
                </a:solidFill>
                <a:effectLst/>
                <a:latin typeface="urw-din"/>
              </a:rPr>
              <a:t>Using the hibernated session, save the entity object into the database table.</a:t>
            </a:r>
          </a:p>
          <a:p>
            <a:pPr algn="l" fontAlgn="base">
              <a:buFont typeface="+mj-lt"/>
              <a:buAutoNum type="arabicPeriod"/>
            </a:pPr>
            <a:r>
              <a:rPr lang="en-US" b="0" i="0" dirty="0">
                <a:solidFill>
                  <a:srgbClr val="273239"/>
                </a:solidFill>
                <a:effectLst/>
                <a:latin typeface="urw-din"/>
              </a:rPr>
              <a:t>Using the hibernated session, load the entity object into the database table.</a:t>
            </a:r>
          </a:p>
          <a:p>
            <a:pPr algn="l" fontAlgn="base"/>
            <a:r>
              <a:rPr lang="en-US" b="0" i="0" dirty="0">
                <a:solidFill>
                  <a:srgbClr val="273239"/>
                </a:solidFill>
                <a:effectLst/>
                <a:latin typeface="urw-din"/>
              </a:rPr>
              <a:t>In this state</a:t>
            </a:r>
            <a:r>
              <a:rPr lang="en-US" dirty="0">
                <a:solidFill>
                  <a:srgbClr val="273239"/>
                </a:solidFill>
                <a:latin typeface="urw-din"/>
              </a:rPr>
              <a:t>, </a:t>
            </a:r>
            <a:r>
              <a:rPr lang="en-US" b="0" i="0" dirty="0">
                <a:solidFill>
                  <a:srgbClr val="273239"/>
                </a:solidFill>
                <a:effectLst/>
                <a:latin typeface="urw-din"/>
              </a:rPr>
              <a:t>each object represents one row in the database table. Therefore, if we make any changes in the data then hibernate will detect these changes and make changes in the database table.</a:t>
            </a:r>
          </a:p>
          <a:p>
            <a:endParaRPr lang="en-US" dirty="0"/>
          </a:p>
          <a:p>
            <a:endParaRPr lang="en-US" dirty="0"/>
          </a:p>
        </p:txBody>
      </p:sp>
    </p:spTree>
    <p:extLst>
      <p:ext uri="{BB962C8B-B14F-4D97-AF65-F5344CB8AC3E}">
        <p14:creationId xmlns:p14="http://schemas.microsoft.com/office/powerpoint/2010/main" val="2369329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709072"/>
          </a:xfrm>
        </p:spPr>
        <p:txBody>
          <a:bodyPr>
            <a:normAutofit/>
          </a:bodyPr>
          <a:lstStyle/>
          <a:p>
            <a:r>
              <a:rPr lang="en-IN" b="1" i="0" dirty="0">
                <a:solidFill>
                  <a:srgbClr val="273239"/>
                </a:solidFill>
                <a:effectLst/>
                <a:latin typeface="urw-din"/>
              </a:rPr>
              <a:t>State 2:</a:t>
            </a:r>
            <a:r>
              <a:rPr lang="en-IN" b="0" i="0" dirty="0">
                <a:solidFill>
                  <a:srgbClr val="273239"/>
                </a:solidFill>
                <a:effectLst/>
                <a:latin typeface="urw-din"/>
              </a:rPr>
              <a:t> Persistent State</a:t>
            </a:r>
            <a:endParaRPr lang="en-IN" b="1" dirty="0"/>
          </a:p>
        </p:txBody>
      </p:sp>
      <p:sp>
        <p:nvSpPr>
          <p:cNvPr id="6" name="Content Placeholder 5">
            <a:extLst>
              <a:ext uri="{FF2B5EF4-FFF2-40B4-BE49-F238E27FC236}">
                <a16:creationId xmlns:a16="http://schemas.microsoft.com/office/drawing/2014/main" id="{F0D8D42F-41A8-421D-B10A-64363D6E7F36}"/>
              </a:ext>
            </a:extLst>
          </p:cNvPr>
          <p:cNvSpPr>
            <a:spLocks noGrp="1"/>
          </p:cNvSpPr>
          <p:nvPr>
            <p:ph idx="1"/>
          </p:nvPr>
        </p:nvSpPr>
        <p:spPr/>
        <p:txBody>
          <a:bodyPr>
            <a:normAutofit fontScale="85000" lnSpcReduction="20000"/>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Following are the methods given for the persistent state:</a:t>
            </a:r>
          </a:p>
          <a:p>
            <a:pPr marL="0" indent="0">
              <a:buNone/>
            </a:pPr>
            <a:r>
              <a:rPr lang="en-IN" dirty="0" err="1"/>
              <a:t>session.persist</a:t>
            </a:r>
            <a:r>
              <a:rPr lang="en-IN" dirty="0"/>
              <a:t>(e); </a:t>
            </a:r>
          </a:p>
          <a:p>
            <a:pPr marL="0" indent="0">
              <a:buNone/>
            </a:pPr>
            <a:r>
              <a:rPr lang="en-IN" dirty="0" err="1"/>
              <a:t>session.save</a:t>
            </a:r>
            <a:r>
              <a:rPr lang="en-IN" dirty="0"/>
              <a:t>(e);  </a:t>
            </a:r>
          </a:p>
          <a:p>
            <a:pPr marL="0" indent="0">
              <a:buNone/>
            </a:pPr>
            <a:r>
              <a:rPr lang="en-IN" dirty="0" err="1"/>
              <a:t>session.saveOrUpdate</a:t>
            </a:r>
            <a:r>
              <a:rPr lang="en-IN" dirty="0"/>
              <a:t>(e);</a:t>
            </a:r>
          </a:p>
          <a:p>
            <a:pPr marL="0" indent="0">
              <a:buNone/>
            </a:pPr>
            <a:r>
              <a:rPr lang="en-IN" dirty="0" err="1"/>
              <a:t>session.update</a:t>
            </a:r>
            <a:r>
              <a:rPr lang="en-IN" dirty="0"/>
              <a:t>(e);  </a:t>
            </a:r>
          </a:p>
          <a:p>
            <a:pPr marL="0" indent="0">
              <a:buNone/>
            </a:pPr>
            <a:r>
              <a:rPr lang="en-IN" dirty="0" err="1"/>
              <a:t>session.merge</a:t>
            </a:r>
            <a:r>
              <a:rPr lang="en-IN" dirty="0"/>
              <a:t>(e);  </a:t>
            </a:r>
          </a:p>
          <a:p>
            <a:pPr marL="0" indent="0">
              <a:buNone/>
            </a:pPr>
            <a:r>
              <a:rPr lang="en-IN" dirty="0" err="1"/>
              <a:t>session.lock</a:t>
            </a:r>
            <a:r>
              <a:rPr lang="en-IN" dirty="0"/>
              <a:t>(e);</a:t>
            </a:r>
          </a:p>
        </p:txBody>
      </p:sp>
      <p:sp>
        <p:nvSpPr>
          <p:cNvPr id="8" name="Content Placeholder 2">
            <a:extLst>
              <a:ext uri="{FF2B5EF4-FFF2-40B4-BE49-F238E27FC236}">
                <a16:creationId xmlns:a16="http://schemas.microsoft.com/office/drawing/2014/main" id="{84424FDF-76F1-433C-A9F4-4D0627943000}"/>
              </a:ext>
            </a:extLst>
          </p:cNvPr>
          <p:cNvSpPr txBox="1">
            <a:spLocks/>
          </p:cNvSpPr>
          <p:nvPr/>
        </p:nvSpPr>
        <p:spPr>
          <a:xfrm>
            <a:off x="3334512" y="3345994"/>
            <a:ext cx="10515600" cy="49340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endParaRPr lang="en-US">
              <a:solidFill>
                <a:srgbClr val="273239"/>
              </a:solidFill>
              <a:latin typeface="urw-din"/>
            </a:endParaRPr>
          </a:p>
          <a:p>
            <a:endParaRPr lang="en-US"/>
          </a:p>
          <a:p>
            <a:endParaRPr lang="en-US" dirty="0"/>
          </a:p>
        </p:txBody>
      </p:sp>
      <p:sp>
        <p:nvSpPr>
          <p:cNvPr id="9" name="Rectangle 2">
            <a:extLst>
              <a:ext uri="{FF2B5EF4-FFF2-40B4-BE49-F238E27FC236}">
                <a16:creationId xmlns:a16="http://schemas.microsoft.com/office/drawing/2014/main" id="{E6F10142-BCF4-4F68-BD29-BF788E7D9437}"/>
              </a:ext>
            </a:extLst>
          </p:cNvPr>
          <p:cNvSpPr>
            <a:spLocks noChangeArrowheads="1"/>
          </p:cNvSpPr>
          <p:nvPr/>
        </p:nvSpPr>
        <p:spPr bwMode="auto">
          <a:xfrm>
            <a:off x="2496312" y="210312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 name="Picture 2">
            <a:extLst>
              <a:ext uri="{FF2B5EF4-FFF2-40B4-BE49-F238E27FC236}">
                <a16:creationId xmlns:a16="http://schemas.microsoft.com/office/drawing/2014/main" id="{FDA2FA5D-A859-4403-8670-C7F231A7A5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1056" y="1386840"/>
            <a:ext cx="6053646" cy="143255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3">
            <a:extLst>
              <a:ext uri="{FF2B5EF4-FFF2-40B4-BE49-F238E27FC236}">
                <a16:creationId xmlns:a16="http://schemas.microsoft.com/office/drawing/2014/main" id="{639157BB-9401-4279-894C-BFB760804C96}"/>
              </a:ext>
            </a:extLst>
          </p:cNvPr>
          <p:cNvSpPr>
            <a:spLocks noChangeArrowheads="1"/>
          </p:cNvSpPr>
          <p:nvPr/>
        </p:nvSpPr>
        <p:spPr bwMode="auto">
          <a:xfrm>
            <a:off x="1728216" y="3057831"/>
            <a:ext cx="4279392"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1" u="none" strike="noStrike" cap="none" normalizeH="0" baseline="0" dirty="0">
                <a:ln>
                  <a:noFill/>
                </a:ln>
                <a:solidFill>
                  <a:srgbClr val="273239"/>
                </a:solidFill>
                <a:effectLst/>
                <a:latin typeface="Arial" panose="020B0604020202020204" pitchFamily="34" charset="0"/>
                <a:ea typeface="Times New Roman" panose="02020603050405020304" pitchFamily="18" charset="0"/>
                <a:cs typeface="Arial" panose="020B0604020202020204" pitchFamily="34" charset="0"/>
              </a:rPr>
              <a:t>Converting Transient State to Persistent State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05099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709072"/>
          </a:xfrm>
        </p:spPr>
        <p:txBody>
          <a:bodyPr>
            <a:normAutofit/>
          </a:bodyPr>
          <a:lstStyle/>
          <a:p>
            <a:r>
              <a:rPr lang="en-IN" sz="3200" b="1" i="0" dirty="0">
                <a:solidFill>
                  <a:srgbClr val="273239"/>
                </a:solidFill>
                <a:effectLst/>
                <a:latin typeface="urw-din"/>
              </a:rPr>
              <a:t>State 3:</a:t>
            </a:r>
            <a:r>
              <a:rPr lang="en-IN" sz="3200" b="0" i="0" dirty="0">
                <a:solidFill>
                  <a:srgbClr val="273239"/>
                </a:solidFill>
                <a:effectLst/>
                <a:latin typeface="urw-din"/>
              </a:rPr>
              <a:t> Detached State</a:t>
            </a:r>
            <a:endParaRPr lang="en-IN" sz="3200" b="1" dirty="0"/>
          </a:p>
        </p:txBody>
      </p:sp>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1242874"/>
            <a:ext cx="10515600" cy="4934089"/>
          </a:xfrm>
        </p:spPr>
        <p:txBody>
          <a:bodyPr>
            <a:normAutofit/>
          </a:bodyPr>
          <a:lstStyle/>
          <a:p>
            <a:pPr fontAlgn="base"/>
            <a:r>
              <a:rPr lang="en-US" sz="1600" b="0" i="0" dirty="0">
                <a:solidFill>
                  <a:srgbClr val="273239"/>
                </a:solidFill>
                <a:effectLst/>
                <a:latin typeface="urw-din"/>
              </a:rPr>
              <a:t>For converting an object from Persistent State to Detached State, we either have to close the session or we have to clear its cache. As the session is closed here or the cache is cleared, then any changes made to the data will not affect the database table. Whenever needed, the detached object can be reconnected to a new hibernate session. </a:t>
            </a:r>
          </a:p>
          <a:p>
            <a:r>
              <a:rPr lang="en-US" sz="1600" dirty="0">
                <a:solidFill>
                  <a:srgbClr val="273239"/>
                </a:solidFill>
                <a:latin typeface="urw-din"/>
              </a:rPr>
              <a:t>To reconnect the detached object to a new hibernate session, we will use the following methods as follows:</a:t>
            </a:r>
          </a:p>
          <a:p>
            <a:pPr marL="0" indent="0">
              <a:buNone/>
            </a:pPr>
            <a:r>
              <a:rPr lang="en-US" sz="1600" dirty="0">
                <a:solidFill>
                  <a:srgbClr val="273239"/>
                </a:solidFill>
                <a:latin typeface="urw-din"/>
              </a:rPr>
              <a:t>1) merge()</a:t>
            </a:r>
          </a:p>
          <a:p>
            <a:pPr marL="0" indent="0">
              <a:buNone/>
            </a:pPr>
            <a:r>
              <a:rPr lang="en-US" sz="1600" dirty="0">
                <a:solidFill>
                  <a:srgbClr val="273239"/>
                </a:solidFill>
                <a:latin typeface="urw-din"/>
              </a:rPr>
              <a:t>2) update()</a:t>
            </a:r>
          </a:p>
          <a:p>
            <a:pPr marL="0" indent="0">
              <a:buNone/>
            </a:pPr>
            <a:r>
              <a:rPr lang="en-US" sz="1600" dirty="0">
                <a:solidFill>
                  <a:srgbClr val="273239"/>
                </a:solidFill>
                <a:latin typeface="urw-din"/>
              </a:rPr>
              <a:t>3) load()</a:t>
            </a:r>
          </a:p>
          <a:p>
            <a:pPr marL="0" indent="0">
              <a:buNone/>
            </a:pPr>
            <a:r>
              <a:rPr lang="en-US" sz="1600" dirty="0">
                <a:solidFill>
                  <a:srgbClr val="273239"/>
                </a:solidFill>
                <a:latin typeface="urw-din"/>
              </a:rPr>
              <a:t>4) refresh()</a:t>
            </a:r>
          </a:p>
          <a:p>
            <a:pPr marL="0" indent="0">
              <a:buNone/>
            </a:pPr>
            <a:r>
              <a:rPr lang="en-US" sz="1600" dirty="0">
                <a:solidFill>
                  <a:srgbClr val="273239"/>
                </a:solidFill>
                <a:latin typeface="urw-din"/>
              </a:rPr>
              <a:t>5) save()</a:t>
            </a:r>
          </a:p>
          <a:p>
            <a:pPr marL="0" indent="0">
              <a:buNone/>
            </a:pPr>
            <a:r>
              <a:rPr lang="en-US" sz="1600" dirty="0">
                <a:solidFill>
                  <a:srgbClr val="273239"/>
                </a:solidFill>
                <a:latin typeface="urw-din"/>
              </a:rPr>
              <a:t>6) update()</a:t>
            </a:r>
          </a:p>
          <a:p>
            <a:r>
              <a:rPr lang="en-US" sz="1600" dirty="0">
                <a:solidFill>
                  <a:srgbClr val="273239"/>
                </a:solidFill>
                <a:latin typeface="urw-din"/>
              </a:rPr>
              <a:t>Following are the methods used for the detached state :</a:t>
            </a:r>
          </a:p>
          <a:p>
            <a:pPr marL="0" indent="0">
              <a:buNone/>
            </a:pPr>
            <a:r>
              <a:rPr lang="en-US" sz="1600" dirty="0">
                <a:solidFill>
                  <a:srgbClr val="273239"/>
                </a:solidFill>
                <a:latin typeface="urw-din"/>
              </a:rPr>
              <a:t>1) </a:t>
            </a:r>
            <a:r>
              <a:rPr lang="en-US" sz="1600" dirty="0" err="1">
                <a:solidFill>
                  <a:srgbClr val="273239"/>
                </a:solidFill>
                <a:latin typeface="urw-din"/>
              </a:rPr>
              <a:t>session.detach</a:t>
            </a:r>
            <a:r>
              <a:rPr lang="en-US" sz="1600" dirty="0">
                <a:solidFill>
                  <a:srgbClr val="273239"/>
                </a:solidFill>
                <a:latin typeface="urw-din"/>
              </a:rPr>
              <a:t>(e);  </a:t>
            </a:r>
          </a:p>
          <a:p>
            <a:pPr marL="0" indent="0">
              <a:buNone/>
            </a:pPr>
            <a:r>
              <a:rPr lang="en-US" sz="1600" dirty="0">
                <a:solidFill>
                  <a:srgbClr val="273239"/>
                </a:solidFill>
                <a:latin typeface="urw-din"/>
              </a:rPr>
              <a:t>2) </a:t>
            </a:r>
            <a:r>
              <a:rPr lang="en-US" sz="1600" dirty="0" err="1">
                <a:solidFill>
                  <a:srgbClr val="273239"/>
                </a:solidFill>
                <a:latin typeface="urw-din"/>
              </a:rPr>
              <a:t>session.evict</a:t>
            </a:r>
            <a:r>
              <a:rPr lang="en-US" sz="1600" dirty="0">
                <a:solidFill>
                  <a:srgbClr val="273239"/>
                </a:solidFill>
                <a:latin typeface="urw-din"/>
              </a:rPr>
              <a:t>(e); </a:t>
            </a:r>
          </a:p>
          <a:p>
            <a:pPr marL="0" indent="0">
              <a:buNone/>
            </a:pPr>
            <a:r>
              <a:rPr lang="en-US" sz="1600" dirty="0">
                <a:solidFill>
                  <a:srgbClr val="273239"/>
                </a:solidFill>
                <a:latin typeface="urw-din"/>
              </a:rPr>
              <a:t>3) </a:t>
            </a:r>
            <a:r>
              <a:rPr lang="en-US" sz="1600" dirty="0" err="1">
                <a:solidFill>
                  <a:srgbClr val="273239"/>
                </a:solidFill>
                <a:latin typeface="urw-din"/>
              </a:rPr>
              <a:t>session.clear</a:t>
            </a:r>
            <a:r>
              <a:rPr lang="en-US" sz="1600" dirty="0">
                <a:solidFill>
                  <a:srgbClr val="273239"/>
                </a:solidFill>
                <a:latin typeface="urw-din"/>
              </a:rPr>
              <a:t>(); </a:t>
            </a:r>
          </a:p>
          <a:p>
            <a:pPr marL="0" indent="0">
              <a:buNone/>
            </a:pPr>
            <a:r>
              <a:rPr lang="en-US" sz="1600" dirty="0">
                <a:solidFill>
                  <a:srgbClr val="273239"/>
                </a:solidFill>
                <a:latin typeface="urw-din"/>
              </a:rPr>
              <a:t>4) </a:t>
            </a:r>
            <a:r>
              <a:rPr lang="en-US" sz="1600" dirty="0" err="1">
                <a:solidFill>
                  <a:srgbClr val="273239"/>
                </a:solidFill>
                <a:latin typeface="urw-din"/>
              </a:rPr>
              <a:t>session.close</a:t>
            </a:r>
            <a:r>
              <a:rPr lang="en-US" sz="1600" dirty="0">
                <a:solidFill>
                  <a:srgbClr val="273239"/>
                </a:solidFill>
                <a:latin typeface="urw-din"/>
              </a:rPr>
              <a:t>();</a:t>
            </a:r>
          </a:p>
        </p:txBody>
      </p:sp>
    </p:spTree>
    <p:extLst>
      <p:ext uri="{BB962C8B-B14F-4D97-AF65-F5344CB8AC3E}">
        <p14:creationId xmlns:p14="http://schemas.microsoft.com/office/powerpoint/2010/main" val="2728268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709072"/>
          </a:xfrm>
        </p:spPr>
        <p:txBody>
          <a:bodyPr>
            <a:normAutofit/>
          </a:bodyPr>
          <a:lstStyle/>
          <a:p>
            <a:r>
              <a:rPr lang="en-IN" sz="3200" b="1" i="0" dirty="0">
                <a:solidFill>
                  <a:srgbClr val="273239"/>
                </a:solidFill>
                <a:effectLst/>
                <a:latin typeface="urw-din"/>
              </a:rPr>
              <a:t>State 3:</a:t>
            </a:r>
            <a:r>
              <a:rPr lang="en-IN" sz="3200" b="0" i="0" dirty="0">
                <a:solidFill>
                  <a:srgbClr val="273239"/>
                </a:solidFill>
                <a:effectLst/>
                <a:latin typeface="urw-din"/>
              </a:rPr>
              <a:t> Detached State</a:t>
            </a:r>
            <a:endParaRPr lang="en-IN" sz="3200" b="1" dirty="0"/>
          </a:p>
        </p:txBody>
      </p:sp>
      <p:pic>
        <p:nvPicPr>
          <p:cNvPr id="5" name="Content Placeholder 4">
            <a:extLst>
              <a:ext uri="{FF2B5EF4-FFF2-40B4-BE49-F238E27FC236}">
                <a16:creationId xmlns:a16="http://schemas.microsoft.com/office/drawing/2014/main" id="{4691A9B7-517C-412C-B56F-96A43F73B91B}"/>
              </a:ext>
            </a:extLst>
          </p:cNvPr>
          <p:cNvPicPr>
            <a:picLocks noGrp="1" noChangeAspect="1"/>
          </p:cNvPicPr>
          <p:nvPr>
            <p:ph idx="1"/>
          </p:nvPr>
        </p:nvPicPr>
        <p:blipFill>
          <a:blip r:embed="rId2"/>
          <a:stretch>
            <a:fillRect/>
          </a:stretch>
        </p:blipFill>
        <p:spPr>
          <a:xfrm>
            <a:off x="222450" y="1786863"/>
            <a:ext cx="9172575" cy="2705238"/>
          </a:xfrm>
        </p:spPr>
      </p:pic>
    </p:spTree>
    <p:extLst>
      <p:ext uri="{BB962C8B-B14F-4D97-AF65-F5344CB8AC3E}">
        <p14:creationId xmlns:p14="http://schemas.microsoft.com/office/powerpoint/2010/main" val="3146016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709072"/>
          </a:xfrm>
        </p:spPr>
        <p:txBody>
          <a:bodyPr>
            <a:normAutofit/>
          </a:bodyPr>
          <a:lstStyle/>
          <a:p>
            <a:r>
              <a:rPr lang="en-IN" sz="3200" b="1" i="0" dirty="0">
                <a:solidFill>
                  <a:srgbClr val="273239"/>
                </a:solidFill>
                <a:effectLst/>
                <a:latin typeface="urw-din"/>
              </a:rPr>
              <a:t>State 4:</a:t>
            </a:r>
            <a:r>
              <a:rPr lang="en-IN" sz="3200" b="0" i="0" dirty="0">
                <a:solidFill>
                  <a:srgbClr val="273239"/>
                </a:solidFill>
                <a:effectLst/>
                <a:latin typeface="urw-din"/>
              </a:rPr>
              <a:t> Removed State</a:t>
            </a:r>
            <a:endParaRPr lang="en-IN" sz="3200" b="1" dirty="0"/>
          </a:p>
        </p:txBody>
      </p:sp>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1242874"/>
            <a:ext cx="10515600" cy="4934089"/>
          </a:xfrm>
        </p:spPr>
        <p:txBody>
          <a:bodyPr>
            <a:normAutofit/>
          </a:bodyPr>
          <a:lstStyle/>
          <a:p>
            <a:pPr fontAlgn="base"/>
            <a:r>
              <a:rPr lang="en-US" sz="1600" b="0" i="0" dirty="0">
                <a:solidFill>
                  <a:srgbClr val="273239"/>
                </a:solidFill>
                <a:effectLst/>
                <a:latin typeface="urw-din"/>
              </a:rPr>
              <a:t>In the hibernate lifecycle it is the last state. In the removed state, when the entity object is deleted from the database then the entity object is known to be in the removed state. It is done by calling the delete() operation. </a:t>
            </a:r>
          </a:p>
          <a:p>
            <a:pPr fontAlgn="base"/>
            <a:r>
              <a:rPr lang="en-US" sz="1600" dirty="0">
                <a:solidFill>
                  <a:srgbClr val="273239"/>
                </a:solidFill>
                <a:latin typeface="urw-din"/>
              </a:rPr>
              <a:t>As the entity object is in the removed state, if any change will be done in the data will not affect the database table.</a:t>
            </a:r>
          </a:p>
          <a:p>
            <a:pPr fontAlgn="base"/>
            <a:r>
              <a:rPr lang="en-US" sz="1600" dirty="0">
                <a:solidFill>
                  <a:srgbClr val="273239"/>
                </a:solidFill>
                <a:latin typeface="urw-din"/>
              </a:rPr>
              <a:t>Note: To make a removed entity object we will call </a:t>
            </a:r>
            <a:r>
              <a:rPr lang="en-US" sz="1600" dirty="0" err="1">
                <a:solidFill>
                  <a:srgbClr val="273239"/>
                </a:solidFill>
                <a:latin typeface="urw-din"/>
              </a:rPr>
              <a:t>session.delete</a:t>
            </a:r>
            <a:r>
              <a:rPr lang="en-US" sz="1600" dirty="0">
                <a:solidFill>
                  <a:srgbClr val="273239"/>
                </a:solidFill>
                <a:latin typeface="urw-din"/>
              </a:rPr>
              <a:t>().</a:t>
            </a:r>
          </a:p>
          <a:p>
            <a:pPr fontAlgn="base"/>
            <a:r>
              <a:rPr lang="en-US" sz="1600" dirty="0">
                <a:solidFill>
                  <a:srgbClr val="273239"/>
                </a:solidFill>
                <a:latin typeface="urw-din"/>
              </a:rPr>
              <a:t>// Transient State Example</a:t>
            </a:r>
          </a:p>
          <a:p>
            <a:pPr marL="0" indent="0" fontAlgn="base">
              <a:buNone/>
            </a:pPr>
            <a:r>
              <a:rPr lang="en-US" sz="1600" dirty="0">
                <a:solidFill>
                  <a:srgbClr val="273239"/>
                </a:solidFill>
                <a:latin typeface="urw-din"/>
              </a:rPr>
              <a:t>     Employee emp = new Employee();     </a:t>
            </a:r>
          </a:p>
          <a:p>
            <a:pPr marL="0" indent="0" fontAlgn="base">
              <a:buNone/>
            </a:pPr>
            <a:r>
              <a:rPr lang="en-US" sz="1600" dirty="0">
                <a:solidFill>
                  <a:srgbClr val="273239"/>
                </a:solidFill>
                <a:latin typeface="urw-din"/>
              </a:rPr>
              <a:t>     Session s = </a:t>
            </a:r>
            <a:r>
              <a:rPr lang="en-US" sz="1600" dirty="0" err="1">
                <a:solidFill>
                  <a:srgbClr val="273239"/>
                </a:solidFill>
                <a:latin typeface="urw-din"/>
              </a:rPr>
              <a:t>sessionfactory.openSession</a:t>
            </a:r>
            <a:r>
              <a:rPr lang="en-US" sz="1600" dirty="0">
                <a:solidFill>
                  <a:srgbClr val="273239"/>
                </a:solidFill>
                <a:latin typeface="urw-din"/>
              </a:rPr>
              <a:t>();</a:t>
            </a:r>
          </a:p>
          <a:p>
            <a:pPr marL="0" indent="0" fontAlgn="base">
              <a:buNone/>
            </a:pPr>
            <a:r>
              <a:rPr lang="en-US" sz="1600" dirty="0">
                <a:solidFill>
                  <a:srgbClr val="273239"/>
                </a:solidFill>
                <a:latin typeface="urw-din"/>
              </a:rPr>
              <a:t>     </a:t>
            </a:r>
            <a:r>
              <a:rPr lang="en-US" sz="1600" dirty="0" err="1">
                <a:solidFill>
                  <a:srgbClr val="273239"/>
                </a:solidFill>
                <a:latin typeface="urw-din"/>
              </a:rPr>
              <a:t>emp.setId</a:t>
            </a:r>
            <a:r>
              <a:rPr lang="en-US" sz="1600" dirty="0">
                <a:solidFill>
                  <a:srgbClr val="273239"/>
                </a:solidFill>
                <a:latin typeface="urw-din"/>
              </a:rPr>
              <a:t>(01);</a:t>
            </a:r>
          </a:p>
          <a:p>
            <a:pPr marL="0" indent="0" fontAlgn="base">
              <a:buNone/>
            </a:pPr>
            <a:r>
              <a:rPr lang="en-US" sz="1600" dirty="0">
                <a:solidFill>
                  <a:srgbClr val="273239"/>
                </a:solidFill>
                <a:latin typeface="urw-din"/>
              </a:rPr>
              <a:t>    // Persistent State</a:t>
            </a:r>
          </a:p>
          <a:p>
            <a:pPr marL="0" indent="0" fontAlgn="base">
              <a:buNone/>
            </a:pPr>
            <a:r>
              <a:rPr lang="en-US" sz="1600" dirty="0">
                <a:solidFill>
                  <a:srgbClr val="273239"/>
                </a:solidFill>
                <a:latin typeface="urw-din"/>
              </a:rPr>
              <a:t>    </a:t>
            </a:r>
            <a:r>
              <a:rPr lang="en-US" sz="1600" dirty="0" err="1">
                <a:solidFill>
                  <a:srgbClr val="273239"/>
                </a:solidFill>
                <a:latin typeface="urw-din"/>
              </a:rPr>
              <a:t>session.save</a:t>
            </a:r>
            <a:r>
              <a:rPr lang="en-US" sz="1600" dirty="0">
                <a:solidFill>
                  <a:srgbClr val="273239"/>
                </a:solidFill>
                <a:latin typeface="urw-din"/>
              </a:rPr>
              <a:t>(e)  </a:t>
            </a:r>
          </a:p>
          <a:p>
            <a:pPr marL="0" indent="0" fontAlgn="base">
              <a:buNone/>
            </a:pPr>
            <a:r>
              <a:rPr lang="en-US" sz="1600" dirty="0">
                <a:solidFill>
                  <a:srgbClr val="273239"/>
                </a:solidFill>
                <a:latin typeface="urw-din"/>
              </a:rPr>
              <a:t>    // Removed State                 </a:t>
            </a:r>
          </a:p>
          <a:p>
            <a:pPr marL="0" indent="0" fontAlgn="base">
              <a:buNone/>
            </a:pPr>
            <a:r>
              <a:rPr lang="en-US" sz="1600" dirty="0">
                <a:solidFill>
                  <a:srgbClr val="273239"/>
                </a:solidFill>
                <a:latin typeface="urw-din"/>
              </a:rPr>
              <a:t>    </a:t>
            </a:r>
            <a:r>
              <a:rPr lang="en-US" sz="1600" dirty="0" err="1">
                <a:solidFill>
                  <a:srgbClr val="273239"/>
                </a:solidFill>
                <a:latin typeface="urw-din"/>
              </a:rPr>
              <a:t>session.delete</a:t>
            </a:r>
            <a:r>
              <a:rPr lang="en-US" sz="1600" dirty="0">
                <a:solidFill>
                  <a:srgbClr val="273239"/>
                </a:solidFill>
                <a:latin typeface="urw-din"/>
              </a:rPr>
              <a:t>(e); </a:t>
            </a:r>
          </a:p>
          <a:p>
            <a:pPr fontAlgn="base"/>
            <a:endParaRPr lang="en-US" sz="1600" dirty="0">
              <a:solidFill>
                <a:srgbClr val="273239"/>
              </a:solidFill>
              <a:latin typeface="urw-din"/>
            </a:endParaRPr>
          </a:p>
          <a:p>
            <a:pPr marL="0" indent="0" fontAlgn="base">
              <a:buNone/>
            </a:pPr>
            <a:endParaRPr lang="en-US" sz="1600" dirty="0">
              <a:solidFill>
                <a:srgbClr val="273239"/>
              </a:solidFill>
              <a:latin typeface="urw-din"/>
            </a:endParaRPr>
          </a:p>
        </p:txBody>
      </p:sp>
      <p:pic>
        <p:nvPicPr>
          <p:cNvPr id="6" name="Picture 5">
            <a:extLst>
              <a:ext uri="{FF2B5EF4-FFF2-40B4-BE49-F238E27FC236}">
                <a16:creationId xmlns:a16="http://schemas.microsoft.com/office/drawing/2014/main" id="{FA63F47B-13EC-41F3-A469-15C44B724EBD}"/>
              </a:ext>
            </a:extLst>
          </p:cNvPr>
          <p:cNvPicPr>
            <a:picLocks noChangeAspect="1"/>
          </p:cNvPicPr>
          <p:nvPr/>
        </p:nvPicPr>
        <p:blipFill>
          <a:blip r:embed="rId2"/>
          <a:stretch>
            <a:fillRect/>
          </a:stretch>
        </p:blipFill>
        <p:spPr>
          <a:xfrm>
            <a:off x="3643728" y="4363698"/>
            <a:ext cx="8420100" cy="1362075"/>
          </a:xfrm>
          <a:prstGeom prst="rect">
            <a:avLst/>
          </a:prstGeom>
        </p:spPr>
      </p:pic>
    </p:spTree>
    <p:extLst>
      <p:ext uri="{BB962C8B-B14F-4D97-AF65-F5344CB8AC3E}">
        <p14:creationId xmlns:p14="http://schemas.microsoft.com/office/powerpoint/2010/main" val="58922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8651</TotalTime>
  <Words>746</Words>
  <Application>Microsoft Office PowerPoint</Application>
  <PresentationFormat>Widescreen</PresentationFormat>
  <Paragraphs>58</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sofia-pro</vt:lpstr>
      <vt:lpstr>Titillium Web</vt:lpstr>
      <vt:lpstr>urw-din</vt:lpstr>
      <vt:lpstr>Office Theme</vt:lpstr>
      <vt:lpstr>  Hibernate Lifecycle  </vt:lpstr>
      <vt:lpstr>PowerPoint Presentation</vt:lpstr>
      <vt:lpstr>State 1: Transient State</vt:lpstr>
      <vt:lpstr>  There are two layouts in which transient state will occur as follows: When objects are generated by an application but are not connected to any session. The objects are generated by a closed session.  //Here, The object arrives in the transient state. Employee e = new Employee();    e.setId(201);   e.setFirstName(“Jai");   e.setMiddleName("Shri");   e.setLastName("Ram");</vt:lpstr>
      <vt:lpstr>State 2: Persistent State</vt:lpstr>
      <vt:lpstr>State 2: Persistent State</vt:lpstr>
      <vt:lpstr>State 3: Detached State</vt:lpstr>
      <vt:lpstr>State 3: Detached State</vt:lpstr>
      <vt:lpstr>State 4: Removed State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 gaikwad</dc:creator>
  <cp:lastModifiedBy>prashant gaikwad</cp:lastModifiedBy>
  <cp:revision>90</cp:revision>
  <dcterms:created xsi:type="dcterms:W3CDTF">2021-08-12T14:59:47Z</dcterms:created>
  <dcterms:modified xsi:type="dcterms:W3CDTF">2022-11-20T04:12:10Z</dcterms:modified>
</cp:coreProperties>
</file>