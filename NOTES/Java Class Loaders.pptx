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B59D-E7DA-4B57-BFAC-067BBE37DD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A9263D-CF3F-4BBF-8725-4DDFF987C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A256EE-ADB6-48D2-B2BA-59319EB95FAC}"/>
              </a:ext>
            </a:extLst>
          </p:cNvPr>
          <p:cNvSpPr>
            <a:spLocks noGrp="1"/>
          </p:cNvSpPr>
          <p:nvPr>
            <p:ph type="dt" sz="half" idx="10"/>
          </p:nvPr>
        </p:nvSpPr>
        <p:spPr/>
        <p:txBody>
          <a:bodyPr/>
          <a:lstStyle/>
          <a:p>
            <a:fld id="{A9A6D8C6-D499-4CD7-9080-1E49221F37AC}" type="datetimeFigureOut">
              <a:rPr lang="en-IN" smtClean="0"/>
              <a:t>10-02-2023</a:t>
            </a:fld>
            <a:endParaRPr lang="en-IN"/>
          </a:p>
        </p:txBody>
      </p:sp>
      <p:sp>
        <p:nvSpPr>
          <p:cNvPr id="5" name="Footer Placeholder 4">
            <a:extLst>
              <a:ext uri="{FF2B5EF4-FFF2-40B4-BE49-F238E27FC236}">
                <a16:creationId xmlns:a16="http://schemas.microsoft.com/office/drawing/2014/main" id="{FA0FF82E-46C0-4791-B94F-8AAFDA463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13F28C-0C29-45F9-B5A6-61E18650702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75842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769D-BFDD-4F18-B71E-5B2991F185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E71FCC-F6BB-46E1-B0C8-16FE08B6CF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2CFABD-47C7-404F-9FEA-B149CACFFD36}"/>
              </a:ext>
            </a:extLst>
          </p:cNvPr>
          <p:cNvSpPr>
            <a:spLocks noGrp="1"/>
          </p:cNvSpPr>
          <p:nvPr>
            <p:ph type="dt" sz="half" idx="10"/>
          </p:nvPr>
        </p:nvSpPr>
        <p:spPr/>
        <p:txBody>
          <a:bodyPr/>
          <a:lstStyle/>
          <a:p>
            <a:fld id="{A9A6D8C6-D499-4CD7-9080-1E49221F37AC}" type="datetimeFigureOut">
              <a:rPr lang="en-IN" smtClean="0"/>
              <a:t>10-02-2023</a:t>
            </a:fld>
            <a:endParaRPr lang="en-IN"/>
          </a:p>
        </p:txBody>
      </p:sp>
      <p:sp>
        <p:nvSpPr>
          <p:cNvPr id="5" name="Footer Placeholder 4">
            <a:extLst>
              <a:ext uri="{FF2B5EF4-FFF2-40B4-BE49-F238E27FC236}">
                <a16:creationId xmlns:a16="http://schemas.microsoft.com/office/drawing/2014/main" id="{EB88F9A5-87FD-4115-A01C-B966574058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2C801E-2D39-4A77-8C1E-EAECECEB367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24729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DC88-AB71-4F21-81DF-5F87D7D79B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613F50-E715-42BF-84A6-E75758AB48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B8B33-E08C-4CA0-9CC3-806F113BEA1A}"/>
              </a:ext>
            </a:extLst>
          </p:cNvPr>
          <p:cNvSpPr>
            <a:spLocks noGrp="1"/>
          </p:cNvSpPr>
          <p:nvPr>
            <p:ph type="dt" sz="half" idx="10"/>
          </p:nvPr>
        </p:nvSpPr>
        <p:spPr/>
        <p:txBody>
          <a:bodyPr/>
          <a:lstStyle/>
          <a:p>
            <a:fld id="{A9A6D8C6-D499-4CD7-9080-1E49221F37AC}" type="datetimeFigureOut">
              <a:rPr lang="en-IN" smtClean="0"/>
              <a:t>10-02-2023</a:t>
            </a:fld>
            <a:endParaRPr lang="en-IN"/>
          </a:p>
        </p:txBody>
      </p:sp>
      <p:sp>
        <p:nvSpPr>
          <p:cNvPr id="5" name="Footer Placeholder 4">
            <a:extLst>
              <a:ext uri="{FF2B5EF4-FFF2-40B4-BE49-F238E27FC236}">
                <a16:creationId xmlns:a16="http://schemas.microsoft.com/office/drawing/2014/main" id="{E1E2A163-F793-4223-BB34-95E1158A32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428612-989E-4103-8C0A-AE8545359EA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038909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6E7C-81BD-41C5-A452-6EAE546BEA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A3E81-14F8-423D-89EE-2F45CDA78C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B42597-3B5D-4601-A6D6-EBC51E025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D93759-B0B1-420D-802F-2A00B6E7E36B}"/>
              </a:ext>
            </a:extLst>
          </p:cNvPr>
          <p:cNvSpPr>
            <a:spLocks noGrp="1"/>
          </p:cNvSpPr>
          <p:nvPr>
            <p:ph type="dt" sz="half" idx="10"/>
          </p:nvPr>
        </p:nvSpPr>
        <p:spPr/>
        <p:txBody>
          <a:bodyPr/>
          <a:lstStyle/>
          <a:p>
            <a:fld id="{A9A6D8C6-D499-4CD7-9080-1E49221F37AC}" type="datetimeFigureOut">
              <a:rPr lang="en-IN" smtClean="0"/>
              <a:t>10-02-2023</a:t>
            </a:fld>
            <a:endParaRPr lang="en-IN"/>
          </a:p>
        </p:txBody>
      </p:sp>
      <p:sp>
        <p:nvSpPr>
          <p:cNvPr id="6" name="Footer Placeholder 5">
            <a:extLst>
              <a:ext uri="{FF2B5EF4-FFF2-40B4-BE49-F238E27FC236}">
                <a16:creationId xmlns:a16="http://schemas.microsoft.com/office/drawing/2014/main" id="{25B0346A-06DC-4552-B787-4C8B08AB23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BF1500-8649-42D5-9FDA-C1D17C4D94F0}"/>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034390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F412-893B-4BAD-9222-2B1499D076A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5A0AF1-2C0F-4F48-95A7-587ADBDD5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A275F0-B4A2-4CC0-8567-B5C1F6B1C3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064487-5112-4E99-97F5-E6FB03C999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F1B33D-9DA7-4A41-9D7E-55B54A350D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059A3A-2B9F-44EF-8BEB-A56BB5ED834E}"/>
              </a:ext>
            </a:extLst>
          </p:cNvPr>
          <p:cNvSpPr>
            <a:spLocks noGrp="1"/>
          </p:cNvSpPr>
          <p:nvPr>
            <p:ph type="dt" sz="half" idx="10"/>
          </p:nvPr>
        </p:nvSpPr>
        <p:spPr/>
        <p:txBody>
          <a:bodyPr/>
          <a:lstStyle/>
          <a:p>
            <a:fld id="{A9A6D8C6-D499-4CD7-9080-1E49221F37AC}" type="datetimeFigureOut">
              <a:rPr lang="en-IN" smtClean="0"/>
              <a:t>10-02-2023</a:t>
            </a:fld>
            <a:endParaRPr lang="en-IN"/>
          </a:p>
        </p:txBody>
      </p:sp>
      <p:sp>
        <p:nvSpPr>
          <p:cNvPr id="8" name="Footer Placeholder 7">
            <a:extLst>
              <a:ext uri="{FF2B5EF4-FFF2-40B4-BE49-F238E27FC236}">
                <a16:creationId xmlns:a16="http://schemas.microsoft.com/office/drawing/2014/main" id="{DBC381BD-6C74-4F7F-A9BE-9676A13034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8E0753-A0F0-4FB0-B4C8-1CE1FB32430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916256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6D91-5FCC-4172-82EC-B8B46E21C6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1A1DF3-2E3D-456D-948C-D24614EC4E63}"/>
              </a:ext>
            </a:extLst>
          </p:cNvPr>
          <p:cNvSpPr>
            <a:spLocks noGrp="1"/>
          </p:cNvSpPr>
          <p:nvPr>
            <p:ph type="dt" sz="half" idx="10"/>
          </p:nvPr>
        </p:nvSpPr>
        <p:spPr/>
        <p:txBody>
          <a:bodyPr/>
          <a:lstStyle/>
          <a:p>
            <a:fld id="{A9A6D8C6-D499-4CD7-9080-1E49221F37AC}" type="datetimeFigureOut">
              <a:rPr lang="en-IN" smtClean="0"/>
              <a:t>10-02-2023</a:t>
            </a:fld>
            <a:endParaRPr lang="en-IN"/>
          </a:p>
        </p:txBody>
      </p:sp>
      <p:sp>
        <p:nvSpPr>
          <p:cNvPr id="4" name="Footer Placeholder 3">
            <a:extLst>
              <a:ext uri="{FF2B5EF4-FFF2-40B4-BE49-F238E27FC236}">
                <a16:creationId xmlns:a16="http://schemas.microsoft.com/office/drawing/2014/main" id="{FFF6B5A1-AAE5-4FB6-8D27-7FA65D4FF0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25F4B5-2898-429F-A970-BD324CCD4D5F}"/>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19421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BD9A7A-58E5-458E-B4CB-AAD67A5EFFA5}"/>
              </a:ext>
            </a:extLst>
          </p:cNvPr>
          <p:cNvSpPr>
            <a:spLocks noGrp="1"/>
          </p:cNvSpPr>
          <p:nvPr>
            <p:ph type="dt" sz="half" idx="10"/>
          </p:nvPr>
        </p:nvSpPr>
        <p:spPr/>
        <p:txBody>
          <a:bodyPr/>
          <a:lstStyle/>
          <a:p>
            <a:fld id="{A9A6D8C6-D499-4CD7-9080-1E49221F37AC}" type="datetimeFigureOut">
              <a:rPr lang="en-IN" smtClean="0"/>
              <a:t>10-02-2023</a:t>
            </a:fld>
            <a:endParaRPr lang="en-IN"/>
          </a:p>
        </p:txBody>
      </p:sp>
      <p:sp>
        <p:nvSpPr>
          <p:cNvPr id="3" name="Footer Placeholder 2">
            <a:extLst>
              <a:ext uri="{FF2B5EF4-FFF2-40B4-BE49-F238E27FC236}">
                <a16:creationId xmlns:a16="http://schemas.microsoft.com/office/drawing/2014/main" id="{C5C573B6-26EF-4C85-9BFA-8E2C47573B0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0196F7-8B52-4A6B-88CC-0016D2E9145D}"/>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667179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83CEF-4060-42D5-9F68-DE162E393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8DD1A7-6A23-4F5F-BA62-68195DB5A9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1F8DE1-12BC-40D5-B4EC-82693692D1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9A25DB-4F54-4E03-B958-776A1ED550DA}"/>
              </a:ext>
            </a:extLst>
          </p:cNvPr>
          <p:cNvSpPr>
            <a:spLocks noGrp="1"/>
          </p:cNvSpPr>
          <p:nvPr>
            <p:ph type="dt" sz="half" idx="10"/>
          </p:nvPr>
        </p:nvSpPr>
        <p:spPr/>
        <p:txBody>
          <a:bodyPr/>
          <a:lstStyle/>
          <a:p>
            <a:fld id="{A9A6D8C6-D499-4CD7-9080-1E49221F37AC}" type="datetimeFigureOut">
              <a:rPr lang="en-IN" smtClean="0"/>
              <a:t>10-02-2023</a:t>
            </a:fld>
            <a:endParaRPr lang="en-IN"/>
          </a:p>
        </p:txBody>
      </p:sp>
      <p:sp>
        <p:nvSpPr>
          <p:cNvPr id="6" name="Footer Placeholder 5">
            <a:extLst>
              <a:ext uri="{FF2B5EF4-FFF2-40B4-BE49-F238E27FC236}">
                <a16:creationId xmlns:a16="http://schemas.microsoft.com/office/drawing/2014/main" id="{AB9EE867-6B1D-4AB1-823C-4C55C05542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58D8D8-5BAA-4C89-86FF-156DE9FF60D2}"/>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240817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4267-CB7C-486F-B7E5-A67402E527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CC613C-82B2-4DA7-8479-FE33C936FB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B1EB17-1800-4819-9A81-43527BD60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6F945-E87E-4530-826D-37E9CD42F531}"/>
              </a:ext>
            </a:extLst>
          </p:cNvPr>
          <p:cNvSpPr>
            <a:spLocks noGrp="1"/>
          </p:cNvSpPr>
          <p:nvPr>
            <p:ph type="dt" sz="half" idx="10"/>
          </p:nvPr>
        </p:nvSpPr>
        <p:spPr/>
        <p:txBody>
          <a:bodyPr/>
          <a:lstStyle/>
          <a:p>
            <a:fld id="{A9A6D8C6-D499-4CD7-9080-1E49221F37AC}" type="datetimeFigureOut">
              <a:rPr lang="en-IN" smtClean="0"/>
              <a:t>10-02-2023</a:t>
            </a:fld>
            <a:endParaRPr lang="en-IN"/>
          </a:p>
        </p:txBody>
      </p:sp>
      <p:sp>
        <p:nvSpPr>
          <p:cNvPr id="6" name="Footer Placeholder 5">
            <a:extLst>
              <a:ext uri="{FF2B5EF4-FFF2-40B4-BE49-F238E27FC236}">
                <a16:creationId xmlns:a16="http://schemas.microsoft.com/office/drawing/2014/main" id="{8CA5A578-E4DC-4ADA-A3C8-CC1F75DCC3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95C3EA-F3A9-43A4-B771-E7310A6CE29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93361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D649-0B86-4932-A3F3-2FE55007CB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4D4290-2212-455F-8CFA-5A5F8721C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1A63E5-67C8-4D42-9B0C-B6DC98350156}"/>
              </a:ext>
            </a:extLst>
          </p:cNvPr>
          <p:cNvSpPr>
            <a:spLocks noGrp="1"/>
          </p:cNvSpPr>
          <p:nvPr>
            <p:ph type="dt" sz="half" idx="10"/>
          </p:nvPr>
        </p:nvSpPr>
        <p:spPr/>
        <p:txBody>
          <a:bodyPr/>
          <a:lstStyle/>
          <a:p>
            <a:fld id="{A9A6D8C6-D499-4CD7-9080-1E49221F37AC}" type="datetimeFigureOut">
              <a:rPr lang="en-IN" smtClean="0"/>
              <a:t>10-02-2023</a:t>
            </a:fld>
            <a:endParaRPr lang="en-IN"/>
          </a:p>
        </p:txBody>
      </p:sp>
      <p:sp>
        <p:nvSpPr>
          <p:cNvPr id="5" name="Footer Placeholder 4">
            <a:extLst>
              <a:ext uri="{FF2B5EF4-FFF2-40B4-BE49-F238E27FC236}">
                <a16:creationId xmlns:a16="http://schemas.microsoft.com/office/drawing/2014/main" id="{CF9C1DB8-AB24-4B9A-987D-B58E0B2697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D6F6B7-C0C5-4DA4-85BD-BA138E178698}"/>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1737326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3A7B-802E-420A-9054-9999508BF2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B54851-8002-4904-9716-F86E789C92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E64EF9-F89F-4495-AF22-E6571AACCFF7}"/>
              </a:ext>
            </a:extLst>
          </p:cNvPr>
          <p:cNvSpPr>
            <a:spLocks noGrp="1"/>
          </p:cNvSpPr>
          <p:nvPr>
            <p:ph type="dt" sz="half" idx="10"/>
          </p:nvPr>
        </p:nvSpPr>
        <p:spPr/>
        <p:txBody>
          <a:bodyPr/>
          <a:lstStyle/>
          <a:p>
            <a:fld id="{A9A6D8C6-D499-4CD7-9080-1E49221F37AC}" type="datetimeFigureOut">
              <a:rPr lang="en-IN" smtClean="0"/>
              <a:t>10-02-2023</a:t>
            </a:fld>
            <a:endParaRPr lang="en-IN"/>
          </a:p>
        </p:txBody>
      </p:sp>
      <p:sp>
        <p:nvSpPr>
          <p:cNvPr id="5" name="Footer Placeholder 4">
            <a:extLst>
              <a:ext uri="{FF2B5EF4-FFF2-40B4-BE49-F238E27FC236}">
                <a16:creationId xmlns:a16="http://schemas.microsoft.com/office/drawing/2014/main" id="{FF5C9A7B-9DBF-4061-A285-6A47367E2C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325262-DBEE-43EC-817A-584E0D57329E}"/>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56421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AAC875-E80F-4309-96CB-689383C5A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443B97-0C9D-4EDE-8B0A-9A8B5E148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2391E8-6A8E-49B6-83EA-13F47E755F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6D8C6-D499-4CD7-9080-1E49221F37AC}" type="datetimeFigureOut">
              <a:rPr lang="en-IN" smtClean="0"/>
              <a:t>10-02-2023</a:t>
            </a:fld>
            <a:endParaRPr lang="en-IN"/>
          </a:p>
        </p:txBody>
      </p:sp>
      <p:sp>
        <p:nvSpPr>
          <p:cNvPr id="5" name="Footer Placeholder 4">
            <a:extLst>
              <a:ext uri="{FF2B5EF4-FFF2-40B4-BE49-F238E27FC236}">
                <a16:creationId xmlns:a16="http://schemas.microsoft.com/office/drawing/2014/main" id="{27983029-60F6-4D33-B1B3-66F771FB3C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4D5A56-975D-4176-A871-66C018D2F0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345B19-1A90-476D-85DA-9750C8D70378}" type="slidenum">
              <a:rPr lang="en-IN" smtClean="0"/>
              <a:t>‹#›</a:t>
            </a:fld>
            <a:endParaRPr lang="en-IN"/>
          </a:p>
        </p:txBody>
      </p:sp>
    </p:spTree>
    <p:extLst>
      <p:ext uri="{BB962C8B-B14F-4D97-AF65-F5344CB8AC3E}">
        <p14:creationId xmlns:p14="http://schemas.microsoft.com/office/powerpoint/2010/main" val="894267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84221-0734-4FF2-B4BE-42CA7E958721}"/>
              </a:ext>
            </a:extLst>
          </p:cNvPr>
          <p:cNvSpPr>
            <a:spLocks noGrp="1"/>
          </p:cNvSpPr>
          <p:nvPr>
            <p:ph type="title"/>
          </p:nvPr>
        </p:nvSpPr>
        <p:spPr>
          <a:xfrm>
            <a:off x="838200" y="346075"/>
            <a:ext cx="10515600" cy="473861"/>
          </a:xfrm>
        </p:spPr>
        <p:txBody>
          <a:bodyPr>
            <a:normAutofit fontScale="90000"/>
          </a:bodyPr>
          <a:lstStyle/>
          <a:p>
            <a:r>
              <a:rPr lang="en-IN" b="1" dirty="0"/>
              <a:t>Difference Between JDK and JRE</a:t>
            </a:r>
          </a:p>
        </p:txBody>
      </p:sp>
      <p:graphicFrame>
        <p:nvGraphicFramePr>
          <p:cNvPr id="4" name="Content Placeholder 3">
            <a:extLst>
              <a:ext uri="{FF2B5EF4-FFF2-40B4-BE49-F238E27FC236}">
                <a16:creationId xmlns:a16="http://schemas.microsoft.com/office/drawing/2014/main" id="{4678DE52-DC72-453A-846E-36D30005CDBC}"/>
              </a:ext>
            </a:extLst>
          </p:cNvPr>
          <p:cNvGraphicFramePr>
            <a:graphicFrameLocks noGrp="1"/>
          </p:cNvGraphicFramePr>
          <p:nvPr>
            <p:ph idx="1"/>
            <p:extLst>
              <p:ext uri="{D42A27DB-BD31-4B8C-83A1-F6EECF244321}">
                <p14:modId xmlns:p14="http://schemas.microsoft.com/office/powerpoint/2010/main" val="1887607629"/>
              </p:ext>
            </p:extLst>
          </p:nvPr>
        </p:nvGraphicFramePr>
        <p:xfrm>
          <a:off x="128724" y="1159497"/>
          <a:ext cx="11108028" cy="5524133"/>
        </p:xfrm>
        <a:graphic>
          <a:graphicData uri="http://schemas.openxmlformats.org/drawingml/2006/table">
            <a:tbl>
              <a:tblPr/>
              <a:tblGrid>
                <a:gridCol w="4102966">
                  <a:extLst>
                    <a:ext uri="{9D8B030D-6E8A-4147-A177-3AD203B41FA5}">
                      <a16:colId xmlns:a16="http://schemas.microsoft.com/office/drawing/2014/main" val="898748484"/>
                    </a:ext>
                  </a:extLst>
                </a:gridCol>
                <a:gridCol w="3502531">
                  <a:extLst>
                    <a:ext uri="{9D8B030D-6E8A-4147-A177-3AD203B41FA5}">
                      <a16:colId xmlns:a16="http://schemas.microsoft.com/office/drawing/2014/main" val="464076550"/>
                    </a:ext>
                  </a:extLst>
                </a:gridCol>
                <a:gridCol w="3502531">
                  <a:extLst>
                    <a:ext uri="{9D8B030D-6E8A-4147-A177-3AD203B41FA5}">
                      <a16:colId xmlns:a16="http://schemas.microsoft.com/office/drawing/2014/main" val="842373957"/>
                    </a:ext>
                  </a:extLst>
                </a:gridCol>
              </a:tblGrid>
              <a:tr h="333992">
                <a:tc>
                  <a:txBody>
                    <a:bodyPr/>
                    <a:lstStyle/>
                    <a:p>
                      <a:pPr algn="l" fontAlgn="base"/>
                      <a:r>
                        <a:rPr lang="en-IN" sz="1200" b="1">
                          <a:effectLst/>
                        </a:rPr>
                        <a:t>       KEY</a:t>
                      </a:r>
                      <a:endParaRPr lang="en-IN" sz="1200" b="0">
                        <a:effectLst/>
                      </a:endParaRPr>
                    </a:p>
                  </a:txBody>
                  <a:tcPr marL="64179" marR="64179" marT="64179" marB="64179" anchor="ctr">
                    <a:lnL>
                      <a:noFill/>
                    </a:lnL>
                    <a:lnR>
                      <a:noFill/>
                    </a:lnR>
                    <a:lnT>
                      <a:noFill/>
                    </a:lnT>
                    <a:lnB>
                      <a:noFill/>
                    </a:lnB>
                  </a:tcPr>
                </a:tc>
                <a:tc>
                  <a:txBody>
                    <a:bodyPr/>
                    <a:lstStyle/>
                    <a:p>
                      <a:pPr algn="l" fontAlgn="base"/>
                      <a:r>
                        <a:rPr lang="en-IN" sz="1200" b="1" dirty="0">
                          <a:effectLst/>
                        </a:rPr>
                        <a:t>                      JDK</a:t>
                      </a:r>
                      <a:endParaRPr lang="en-IN" sz="1200" b="0" dirty="0">
                        <a:effectLst/>
                      </a:endParaRPr>
                    </a:p>
                  </a:txBody>
                  <a:tcPr marL="64179" marR="64179" marT="64179" marB="64179" anchor="ctr">
                    <a:lnL>
                      <a:noFill/>
                    </a:lnL>
                    <a:lnR>
                      <a:noFill/>
                    </a:lnR>
                    <a:lnT>
                      <a:noFill/>
                    </a:lnT>
                    <a:lnB>
                      <a:noFill/>
                    </a:lnB>
                  </a:tcPr>
                </a:tc>
                <a:tc>
                  <a:txBody>
                    <a:bodyPr/>
                    <a:lstStyle/>
                    <a:p>
                      <a:pPr algn="l" fontAlgn="base"/>
                      <a:r>
                        <a:rPr lang="en-IN" sz="1200" b="1" dirty="0">
                          <a:effectLst/>
                        </a:rPr>
                        <a:t>                                 JRE</a:t>
                      </a:r>
                      <a:endParaRPr lang="en-IN" sz="1200" b="0" dirty="0">
                        <a:effectLst/>
                      </a:endParaRPr>
                    </a:p>
                  </a:txBody>
                  <a:tcPr marL="64179" marR="64179" marT="64179" marB="64179" anchor="ctr">
                    <a:lnL>
                      <a:noFill/>
                    </a:lnL>
                    <a:lnR>
                      <a:noFill/>
                    </a:lnR>
                    <a:lnT>
                      <a:noFill/>
                    </a:lnT>
                    <a:lnB>
                      <a:noFill/>
                    </a:lnB>
                  </a:tcPr>
                </a:tc>
                <a:extLst>
                  <a:ext uri="{0D108BD9-81ED-4DB2-BD59-A6C34878D82A}">
                    <a16:rowId xmlns:a16="http://schemas.microsoft.com/office/drawing/2014/main" val="1804210029"/>
                  </a:ext>
                </a:extLst>
              </a:tr>
              <a:tr h="1108672">
                <a:tc>
                  <a:txBody>
                    <a:bodyPr/>
                    <a:lstStyle/>
                    <a:p>
                      <a:pPr algn="l" fontAlgn="base"/>
                      <a:r>
                        <a:rPr lang="en-IN" sz="1500" b="0">
                          <a:effectLst/>
                        </a:rPr>
                        <a:t>DEFINITION                                                          </a:t>
                      </a:r>
                    </a:p>
                  </a:txBody>
                  <a:tcPr marL="77015" marR="77015" marT="38507" marB="38507" anchor="ctr">
                    <a:lnL>
                      <a:noFill/>
                    </a:lnL>
                    <a:lnR>
                      <a:noFill/>
                    </a:lnR>
                    <a:lnT>
                      <a:noFill/>
                    </a:lnT>
                    <a:lnB>
                      <a:noFill/>
                    </a:lnB>
                  </a:tcPr>
                </a:tc>
                <a:tc>
                  <a:txBody>
                    <a:bodyPr/>
                    <a:lstStyle/>
                    <a:p>
                      <a:pPr algn="l" fontAlgn="base"/>
                      <a:r>
                        <a:rPr lang="en-US" sz="1400" kern="1200" dirty="0">
                          <a:solidFill>
                            <a:schemeClr val="tx1"/>
                          </a:solidFill>
                          <a:latin typeface="+mn-lt"/>
                          <a:ea typeface="+mn-ea"/>
                          <a:cs typeface="+mn-cs"/>
                        </a:rPr>
                        <a:t>JDK(Java Development Kit) is used to develop Java applications. JDK also contains numerous development tools like compilers, debuggers, etc.               </a:t>
                      </a:r>
                    </a:p>
                  </a:txBody>
                  <a:tcPr marL="64179" marR="64179" marT="89851" marB="89851" anchor="ctr">
                    <a:lnL>
                      <a:noFill/>
                    </a:lnL>
                    <a:lnR>
                      <a:noFill/>
                    </a:lnR>
                    <a:lnT>
                      <a:noFill/>
                    </a:lnT>
                    <a:lnB>
                      <a:noFill/>
                    </a:lnB>
                  </a:tcPr>
                </a:tc>
                <a:tc>
                  <a:txBody>
                    <a:bodyPr/>
                    <a:lstStyle/>
                    <a:p>
                      <a:pPr algn="l" fontAlgn="base"/>
                      <a:r>
                        <a:rPr lang="en-US" sz="1400" kern="1200" dirty="0">
                          <a:solidFill>
                            <a:schemeClr val="tx1"/>
                          </a:solidFill>
                          <a:latin typeface="+mn-lt"/>
                          <a:ea typeface="+mn-ea"/>
                          <a:cs typeface="+mn-cs"/>
                        </a:rPr>
                        <a:t>JRE(Java Runtime Environment) is the implementation of JVM(Java Virtual Machine) and it is specially designed to execute Java programs.</a:t>
                      </a:r>
                    </a:p>
                  </a:txBody>
                  <a:tcPr marL="64179" marR="64179" marT="89851" marB="89851" anchor="ctr">
                    <a:lnL>
                      <a:noFill/>
                    </a:lnL>
                    <a:lnR>
                      <a:noFill/>
                    </a:lnR>
                    <a:lnT>
                      <a:noFill/>
                    </a:lnT>
                    <a:lnB>
                      <a:noFill/>
                    </a:lnB>
                  </a:tcPr>
                </a:tc>
                <a:extLst>
                  <a:ext uri="{0D108BD9-81ED-4DB2-BD59-A6C34878D82A}">
                    <a16:rowId xmlns:a16="http://schemas.microsoft.com/office/drawing/2014/main" val="2070595936"/>
                  </a:ext>
                </a:extLst>
              </a:tr>
              <a:tr h="879714">
                <a:tc>
                  <a:txBody>
                    <a:bodyPr/>
                    <a:lstStyle/>
                    <a:p>
                      <a:pPr algn="l" fontAlgn="base"/>
                      <a:r>
                        <a:rPr lang="en-IN" sz="1500" b="0">
                          <a:effectLst/>
                        </a:rPr>
                        <a:t>FUNCTIONALITY                                                                                    </a:t>
                      </a:r>
                    </a:p>
                  </a:txBody>
                  <a:tcPr marL="77015" marR="77015" marT="38507" marB="38507" anchor="ctr">
                    <a:lnL>
                      <a:noFill/>
                    </a:lnL>
                    <a:lnR>
                      <a:noFill/>
                    </a:lnR>
                    <a:lnT>
                      <a:noFill/>
                    </a:lnT>
                    <a:lnB>
                      <a:noFill/>
                    </a:lnB>
                  </a:tcPr>
                </a:tc>
                <a:tc>
                  <a:txBody>
                    <a:bodyPr/>
                    <a:lstStyle/>
                    <a:p>
                      <a:pPr algn="l" fontAlgn="base"/>
                      <a:r>
                        <a:rPr lang="en-US" sz="1400" kern="1200" dirty="0">
                          <a:solidFill>
                            <a:schemeClr val="tx1"/>
                          </a:solidFill>
                          <a:latin typeface="+mn-lt"/>
                          <a:ea typeface="+mn-ea"/>
                          <a:cs typeface="+mn-cs"/>
                        </a:rPr>
                        <a:t>It is mainly used for the execution of code and its main functionality is development. </a:t>
                      </a:r>
                    </a:p>
                  </a:txBody>
                  <a:tcPr marL="64179" marR="64179" marT="89851" marB="89851" anchor="ctr">
                    <a:lnL>
                      <a:noFill/>
                    </a:lnL>
                    <a:lnR>
                      <a:noFill/>
                    </a:lnR>
                    <a:lnT>
                      <a:noFill/>
                    </a:lnT>
                    <a:lnB>
                      <a:noFill/>
                    </a:lnB>
                  </a:tcPr>
                </a:tc>
                <a:tc>
                  <a:txBody>
                    <a:bodyPr/>
                    <a:lstStyle/>
                    <a:p>
                      <a:pPr algn="l" fontAlgn="base"/>
                      <a:r>
                        <a:rPr lang="en-US" sz="1400" kern="1200" dirty="0">
                          <a:solidFill>
                            <a:schemeClr val="tx1"/>
                          </a:solidFill>
                          <a:latin typeface="+mn-lt"/>
                          <a:ea typeface="+mn-ea"/>
                          <a:cs typeface="+mn-cs"/>
                        </a:rPr>
                        <a:t>It is mainly used for creating an environment for code execution.</a:t>
                      </a:r>
                    </a:p>
                  </a:txBody>
                  <a:tcPr marL="64179" marR="64179" marT="89851" marB="89851" anchor="ctr">
                    <a:lnL>
                      <a:noFill/>
                    </a:lnL>
                    <a:lnR>
                      <a:noFill/>
                    </a:lnR>
                    <a:lnT>
                      <a:noFill/>
                    </a:lnT>
                    <a:lnB>
                      <a:noFill/>
                    </a:lnB>
                  </a:tcPr>
                </a:tc>
                <a:extLst>
                  <a:ext uri="{0D108BD9-81ED-4DB2-BD59-A6C34878D82A}">
                    <a16:rowId xmlns:a16="http://schemas.microsoft.com/office/drawing/2014/main" val="2243995396"/>
                  </a:ext>
                </a:extLst>
              </a:tr>
              <a:tr h="818581">
                <a:tc>
                  <a:txBody>
                    <a:bodyPr/>
                    <a:lstStyle/>
                    <a:p>
                      <a:pPr algn="l" fontAlgn="base"/>
                      <a:r>
                        <a:rPr lang="en-IN" sz="1500" b="0">
                          <a:effectLst/>
                        </a:rPr>
                        <a:t>DEPENDENCY OF PLATFORM                                                                            </a:t>
                      </a:r>
                    </a:p>
                  </a:txBody>
                  <a:tcPr marL="77015" marR="77015" marT="38507" marB="38507" anchor="ctr">
                    <a:lnL>
                      <a:noFill/>
                    </a:lnL>
                    <a:lnR>
                      <a:noFill/>
                    </a:lnR>
                    <a:lnT>
                      <a:noFill/>
                    </a:lnT>
                    <a:lnB>
                      <a:noFill/>
                    </a:lnB>
                  </a:tcPr>
                </a:tc>
                <a:tc>
                  <a:txBody>
                    <a:bodyPr/>
                    <a:lstStyle/>
                    <a:p>
                      <a:pPr algn="l" fontAlgn="base"/>
                      <a:r>
                        <a:rPr lang="en-IN" sz="1400" kern="1200" dirty="0">
                          <a:solidFill>
                            <a:schemeClr val="tx1"/>
                          </a:solidFill>
                          <a:latin typeface="+mn-lt"/>
                          <a:ea typeface="+mn-ea"/>
                          <a:cs typeface="+mn-cs"/>
                        </a:rPr>
                        <a:t>It is platform-dependent. </a:t>
                      </a:r>
                    </a:p>
                  </a:txBody>
                  <a:tcPr marL="64179" marR="64179" marT="89851" marB="89851" anchor="ctr">
                    <a:lnL>
                      <a:noFill/>
                    </a:lnL>
                    <a:lnR>
                      <a:noFill/>
                    </a:lnR>
                    <a:lnT>
                      <a:noFill/>
                    </a:lnT>
                    <a:lnB>
                      <a:noFill/>
                    </a:lnB>
                  </a:tcPr>
                </a:tc>
                <a:tc>
                  <a:txBody>
                    <a:bodyPr/>
                    <a:lstStyle/>
                    <a:p>
                      <a:pPr algn="l" fontAlgn="base"/>
                      <a:r>
                        <a:rPr lang="en-US" sz="1400" kern="1200" dirty="0">
                          <a:solidFill>
                            <a:schemeClr val="tx1"/>
                          </a:solidFill>
                          <a:latin typeface="+mn-lt"/>
                          <a:ea typeface="+mn-ea"/>
                          <a:cs typeface="+mn-cs"/>
                        </a:rPr>
                        <a:t>It is also platform-dependent like JDK.</a:t>
                      </a:r>
                    </a:p>
                  </a:txBody>
                  <a:tcPr marL="64179" marR="64179" marT="89851" marB="89851" anchor="ctr">
                    <a:lnL>
                      <a:noFill/>
                    </a:lnL>
                    <a:lnR>
                      <a:noFill/>
                    </a:lnR>
                    <a:lnT>
                      <a:noFill/>
                    </a:lnT>
                    <a:lnB>
                      <a:noFill/>
                    </a:lnB>
                  </a:tcPr>
                </a:tc>
                <a:extLst>
                  <a:ext uri="{0D108BD9-81ED-4DB2-BD59-A6C34878D82A}">
                    <a16:rowId xmlns:a16="http://schemas.microsoft.com/office/drawing/2014/main" val="2818418091"/>
                  </a:ext>
                </a:extLst>
              </a:tr>
              <a:tr h="1566589">
                <a:tc>
                  <a:txBody>
                    <a:bodyPr/>
                    <a:lstStyle/>
                    <a:p>
                      <a:pPr algn="l" fontAlgn="base"/>
                      <a:r>
                        <a:rPr lang="en-IN" sz="1500" b="0">
                          <a:effectLst/>
                        </a:rPr>
                        <a:t>TYPE OF TOOLS</a:t>
                      </a:r>
                    </a:p>
                  </a:txBody>
                  <a:tcPr marL="77015" marR="77015" marT="38507" marB="38507" anchor="ctr">
                    <a:lnL>
                      <a:noFill/>
                    </a:lnL>
                    <a:lnR>
                      <a:noFill/>
                    </a:lnR>
                    <a:lnT>
                      <a:noFill/>
                    </a:lnT>
                    <a:lnB>
                      <a:noFill/>
                    </a:lnB>
                  </a:tcPr>
                </a:tc>
                <a:tc>
                  <a:txBody>
                    <a:bodyPr/>
                    <a:lstStyle/>
                    <a:p>
                      <a:pPr algn="l" fontAlgn="base"/>
                      <a:r>
                        <a:rPr lang="en-US" sz="1400" kern="1200" dirty="0">
                          <a:solidFill>
                            <a:schemeClr val="tx1"/>
                          </a:solidFill>
                          <a:latin typeface="+mn-lt"/>
                          <a:ea typeface="+mn-ea"/>
                          <a:cs typeface="+mn-cs"/>
                        </a:rPr>
                        <a:t>Since JDK is responsible for the development purpose, therefore it contains tools which are required for development and debugging purpose.</a:t>
                      </a:r>
                    </a:p>
                  </a:txBody>
                  <a:tcPr marL="64179" marR="64179" marT="89851" marB="89851" anchor="ctr">
                    <a:lnL>
                      <a:noFill/>
                    </a:lnL>
                    <a:lnR>
                      <a:noFill/>
                    </a:lnR>
                    <a:lnT>
                      <a:noFill/>
                    </a:lnT>
                    <a:lnB>
                      <a:noFill/>
                    </a:lnB>
                  </a:tcPr>
                </a:tc>
                <a:tc>
                  <a:txBody>
                    <a:bodyPr/>
                    <a:lstStyle/>
                    <a:p>
                      <a:pPr algn="l" fontAlgn="base"/>
                      <a:r>
                        <a:rPr lang="en-US" sz="1400" kern="1200" dirty="0">
                          <a:solidFill>
                            <a:schemeClr val="tx1"/>
                          </a:solidFill>
                          <a:latin typeface="+mn-lt"/>
                          <a:ea typeface="+mn-ea"/>
                          <a:cs typeface="+mn-cs"/>
                        </a:rPr>
                        <a:t>On the other hand, JRE is not responsible for development purposes, so it doesn’t contain such tools as the compiler, debugger, etc. Instead, it contains class libraries and supporting files required for the purpose of execution of the program.</a:t>
                      </a:r>
                    </a:p>
                  </a:txBody>
                  <a:tcPr marL="64179" marR="64179" marT="89851" marB="89851" anchor="ctr">
                    <a:lnL>
                      <a:noFill/>
                    </a:lnL>
                    <a:lnR>
                      <a:noFill/>
                    </a:lnR>
                    <a:lnT>
                      <a:noFill/>
                    </a:lnT>
                    <a:lnB>
                      <a:noFill/>
                    </a:lnB>
                  </a:tcPr>
                </a:tc>
                <a:extLst>
                  <a:ext uri="{0D108BD9-81ED-4DB2-BD59-A6C34878D82A}">
                    <a16:rowId xmlns:a16="http://schemas.microsoft.com/office/drawing/2014/main" val="3980934182"/>
                  </a:ext>
                </a:extLst>
              </a:tr>
              <a:tr h="816585">
                <a:tc>
                  <a:txBody>
                    <a:bodyPr/>
                    <a:lstStyle/>
                    <a:p>
                      <a:pPr algn="l" fontAlgn="base"/>
                      <a:r>
                        <a:rPr lang="en-US" sz="1500" b="0">
                          <a:effectLst/>
                        </a:rPr>
                        <a:t>IMPLEMENTATION OF JDK AND JRE                                                                       </a:t>
                      </a:r>
                    </a:p>
                  </a:txBody>
                  <a:tcPr marL="77015" marR="77015" marT="38507" marB="38507" anchor="ctr">
                    <a:lnL>
                      <a:noFill/>
                    </a:lnL>
                    <a:lnR>
                      <a:noFill/>
                    </a:lnR>
                    <a:lnT>
                      <a:noFill/>
                    </a:lnT>
                    <a:lnB>
                      <a:noFill/>
                    </a:lnB>
                  </a:tcPr>
                </a:tc>
                <a:tc>
                  <a:txBody>
                    <a:bodyPr/>
                    <a:lstStyle/>
                    <a:p>
                      <a:pPr algn="l" fontAlgn="base"/>
                      <a:r>
                        <a:rPr lang="en-US" sz="1400" kern="1200" dirty="0">
                          <a:solidFill>
                            <a:schemeClr val="tx1"/>
                          </a:solidFill>
                          <a:latin typeface="+mn-lt"/>
                          <a:ea typeface="+mn-ea"/>
                          <a:cs typeface="+mn-cs"/>
                        </a:rPr>
                        <a:t>JDK = JRE + other development tools.</a:t>
                      </a:r>
                    </a:p>
                  </a:txBody>
                  <a:tcPr marL="64179" marR="64179" marT="89851" marB="89851" anchor="ctr">
                    <a:lnL>
                      <a:noFill/>
                    </a:lnL>
                    <a:lnR>
                      <a:noFill/>
                    </a:lnR>
                    <a:lnT>
                      <a:noFill/>
                    </a:lnT>
                    <a:lnB>
                      <a:noFill/>
                    </a:lnB>
                  </a:tcPr>
                </a:tc>
                <a:tc>
                  <a:txBody>
                    <a:bodyPr/>
                    <a:lstStyle/>
                    <a:p>
                      <a:pPr algn="l" fontAlgn="base"/>
                      <a:r>
                        <a:rPr lang="en-US" sz="1400" kern="1200" dirty="0">
                          <a:solidFill>
                            <a:schemeClr val="tx1"/>
                          </a:solidFill>
                          <a:latin typeface="+mn-lt"/>
                          <a:ea typeface="+mn-ea"/>
                          <a:cs typeface="+mn-cs"/>
                        </a:rPr>
                        <a:t>JRE = JVM + other class libraries. </a:t>
                      </a:r>
                    </a:p>
                  </a:txBody>
                  <a:tcPr marL="64179" marR="64179" marT="89851" marB="89851" anchor="ctr">
                    <a:lnL>
                      <a:noFill/>
                    </a:lnL>
                    <a:lnR>
                      <a:noFill/>
                    </a:lnR>
                    <a:lnT>
                      <a:noFill/>
                    </a:lnT>
                    <a:lnB>
                      <a:noFill/>
                    </a:lnB>
                  </a:tcPr>
                </a:tc>
                <a:extLst>
                  <a:ext uri="{0D108BD9-81ED-4DB2-BD59-A6C34878D82A}">
                    <a16:rowId xmlns:a16="http://schemas.microsoft.com/office/drawing/2014/main" val="1709515283"/>
                  </a:ext>
                </a:extLst>
              </a:tr>
            </a:tbl>
          </a:graphicData>
        </a:graphic>
      </p:graphicFrame>
    </p:spTree>
    <p:extLst>
      <p:ext uri="{BB962C8B-B14F-4D97-AF65-F5344CB8AC3E}">
        <p14:creationId xmlns:p14="http://schemas.microsoft.com/office/powerpoint/2010/main" val="3930566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9625C-D61C-4159-A8AA-0876E5011E7A}"/>
              </a:ext>
            </a:extLst>
          </p:cNvPr>
          <p:cNvSpPr>
            <a:spLocks noGrp="1"/>
          </p:cNvSpPr>
          <p:nvPr>
            <p:ph type="title"/>
          </p:nvPr>
        </p:nvSpPr>
        <p:spPr>
          <a:xfrm>
            <a:off x="838200" y="365126"/>
            <a:ext cx="10515600" cy="442742"/>
          </a:xfrm>
        </p:spPr>
        <p:txBody>
          <a:bodyPr>
            <a:normAutofit fontScale="90000"/>
          </a:bodyPr>
          <a:lstStyle/>
          <a:p>
            <a:r>
              <a:rPr lang="en-IN" b="1" dirty="0"/>
              <a:t>Class Loaders in Java</a:t>
            </a:r>
          </a:p>
        </p:txBody>
      </p:sp>
      <p:sp>
        <p:nvSpPr>
          <p:cNvPr id="3" name="Content Placeholder 2">
            <a:extLst>
              <a:ext uri="{FF2B5EF4-FFF2-40B4-BE49-F238E27FC236}">
                <a16:creationId xmlns:a16="http://schemas.microsoft.com/office/drawing/2014/main" id="{3231CC89-C937-4253-9E04-01AD33F8E340}"/>
              </a:ext>
            </a:extLst>
          </p:cNvPr>
          <p:cNvSpPr>
            <a:spLocks noGrp="1"/>
          </p:cNvSpPr>
          <p:nvPr>
            <p:ph idx="1"/>
          </p:nvPr>
        </p:nvSpPr>
        <p:spPr>
          <a:xfrm>
            <a:off x="838200" y="1145220"/>
            <a:ext cx="10515600" cy="5031744"/>
          </a:xfrm>
        </p:spPr>
        <p:txBody>
          <a:bodyPr>
            <a:normAutofit/>
          </a:bodyPr>
          <a:lstStyle/>
          <a:p>
            <a:r>
              <a:rPr lang="en-US" sz="1400" dirty="0"/>
              <a:t>The Java </a:t>
            </a:r>
            <a:r>
              <a:rPr lang="en-US" sz="1400" dirty="0" err="1"/>
              <a:t>ClassLoader</a:t>
            </a:r>
            <a:r>
              <a:rPr lang="en-US" sz="1400" dirty="0"/>
              <a:t> is a part of the Java Runtime Environment that dynamically loads Java classes(.class files) into the Java Virtual Machine. The Java run time system does not need to know about files and file systems because of </a:t>
            </a:r>
            <a:r>
              <a:rPr lang="en-US" sz="1400" dirty="0" err="1"/>
              <a:t>classloaders</a:t>
            </a:r>
            <a:r>
              <a:rPr lang="en-US" sz="1400" dirty="0"/>
              <a:t>.</a:t>
            </a:r>
          </a:p>
          <a:p>
            <a:r>
              <a:rPr lang="en-US" sz="1400" dirty="0"/>
              <a:t>Java classes aren’t loaded into memory all at once, but when required by an application. At this point, the Java </a:t>
            </a:r>
            <a:r>
              <a:rPr lang="en-US" sz="1400" dirty="0" err="1"/>
              <a:t>ClassLoader</a:t>
            </a:r>
            <a:r>
              <a:rPr lang="en-US" sz="1400" dirty="0"/>
              <a:t> is called by the JRE and these </a:t>
            </a:r>
            <a:r>
              <a:rPr lang="en-US" sz="1400" dirty="0" err="1"/>
              <a:t>ClassLoaders</a:t>
            </a:r>
            <a:r>
              <a:rPr lang="en-US" sz="1400" dirty="0"/>
              <a:t> load classes into memory dynamically.</a:t>
            </a:r>
          </a:p>
          <a:p>
            <a:pPr marL="0" indent="0">
              <a:buNone/>
            </a:pPr>
            <a:endParaRPr lang="en-US" sz="1400" dirty="0"/>
          </a:p>
          <a:p>
            <a:r>
              <a:rPr lang="en-US" sz="1600" b="1" i="0" u="sng" dirty="0">
                <a:solidFill>
                  <a:srgbClr val="273239"/>
                </a:solidFill>
                <a:effectLst/>
                <a:latin typeface="urw-din"/>
              </a:rPr>
              <a:t>Types of Class Loaders in Java</a:t>
            </a:r>
          </a:p>
          <a:p>
            <a:pPr marL="0" indent="0">
              <a:buNone/>
            </a:pPr>
            <a:r>
              <a:rPr lang="en-US" sz="1600" b="1" dirty="0">
                <a:solidFill>
                  <a:srgbClr val="273239"/>
                </a:solidFill>
                <a:latin typeface="urw-din"/>
              </a:rPr>
              <a:t>	1) </a:t>
            </a:r>
            <a:r>
              <a:rPr lang="en-US" sz="1600" b="1" dirty="0" err="1">
                <a:solidFill>
                  <a:srgbClr val="273239"/>
                </a:solidFill>
                <a:latin typeface="urw-din"/>
              </a:rPr>
              <a:t>BootStrap</a:t>
            </a:r>
            <a:r>
              <a:rPr lang="en-US" sz="1600" b="1" dirty="0">
                <a:solidFill>
                  <a:srgbClr val="273239"/>
                </a:solidFill>
                <a:latin typeface="urw-din"/>
              </a:rPr>
              <a:t> </a:t>
            </a:r>
            <a:r>
              <a:rPr lang="en-US" sz="1600" b="1" dirty="0" err="1">
                <a:solidFill>
                  <a:srgbClr val="273239"/>
                </a:solidFill>
                <a:latin typeface="urw-din"/>
              </a:rPr>
              <a:t>ClassLoader</a:t>
            </a:r>
            <a:endParaRPr lang="en-US" sz="1600" b="1" dirty="0">
              <a:solidFill>
                <a:srgbClr val="273239"/>
              </a:solidFill>
              <a:latin typeface="urw-din"/>
            </a:endParaRPr>
          </a:p>
          <a:p>
            <a:pPr marL="0" indent="0">
              <a:buNone/>
            </a:pPr>
            <a:r>
              <a:rPr lang="en-US" sz="1600" b="1" dirty="0">
                <a:solidFill>
                  <a:srgbClr val="273239"/>
                </a:solidFill>
                <a:latin typeface="urw-din"/>
              </a:rPr>
              <a:t>	2) </a:t>
            </a:r>
            <a:r>
              <a:rPr lang="en-IN" sz="1600" b="1" dirty="0">
                <a:solidFill>
                  <a:srgbClr val="273239"/>
                </a:solidFill>
                <a:latin typeface="urw-din"/>
              </a:rPr>
              <a:t>Extension </a:t>
            </a:r>
            <a:r>
              <a:rPr lang="en-IN" sz="1600" b="1" dirty="0" err="1">
                <a:solidFill>
                  <a:srgbClr val="273239"/>
                </a:solidFill>
                <a:latin typeface="urw-din"/>
              </a:rPr>
              <a:t>ClassLoader</a:t>
            </a:r>
            <a:endParaRPr lang="en-IN" sz="1600" b="1" dirty="0">
              <a:solidFill>
                <a:srgbClr val="273239"/>
              </a:solidFill>
              <a:latin typeface="urw-din"/>
            </a:endParaRPr>
          </a:p>
          <a:p>
            <a:pPr marL="0" indent="0">
              <a:buNone/>
            </a:pPr>
            <a:r>
              <a:rPr lang="en-IN" sz="1600" b="1" dirty="0">
                <a:solidFill>
                  <a:srgbClr val="273239"/>
                </a:solidFill>
                <a:latin typeface="urw-din"/>
              </a:rPr>
              <a:t>	3) System/Application </a:t>
            </a:r>
            <a:r>
              <a:rPr lang="en-IN" sz="1600" b="1" dirty="0" err="1">
                <a:solidFill>
                  <a:srgbClr val="273239"/>
                </a:solidFill>
                <a:latin typeface="urw-din"/>
              </a:rPr>
              <a:t>ClassLoader</a:t>
            </a:r>
            <a:endParaRPr lang="en-IN" sz="1600" b="1" dirty="0">
              <a:solidFill>
                <a:srgbClr val="273239"/>
              </a:solidFill>
              <a:latin typeface="urw-din"/>
            </a:endParaRPr>
          </a:p>
          <a:p>
            <a:pPr marL="0" indent="0">
              <a:buNone/>
            </a:pPr>
            <a:endParaRPr lang="en-IN" sz="1600" b="1" dirty="0">
              <a:solidFill>
                <a:srgbClr val="273239"/>
              </a:solidFill>
              <a:latin typeface="urw-din"/>
            </a:endParaRPr>
          </a:p>
        </p:txBody>
      </p:sp>
    </p:spTree>
    <p:extLst>
      <p:ext uri="{BB962C8B-B14F-4D97-AF65-F5344CB8AC3E}">
        <p14:creationId xmlns:p14="http://schemas.microsoft.com/office/powerpoint/2010/main" val="4070317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D9BDB-BDA7-4455-A841-1B7AF946D696}"/>
              </a:ext>
            </a:extLst>
          </p:cNvPr>
          <p:cNvSpPr>
            <a:spLocks noGrp="1"/>
          </p:cNvSpPr>
          <p:nvPr>
            <p:ph type="title"/>
          </p:nvPr>
        </p:nvSpPr>
        <p:spPr>
          <a:xfrm>
            <a:off x="838200" y="365126"/>
            <a:ext cx="10515600" cy="504886"/>
          </a:xfrm>
        </p:spPr>
        <p:txBody>
          <a:bodyPr>
            <a:normAutofit fontScale="90000"/>
          </a:bodyPr>
          <a:lstStyle/>
          <a:p>
            <a:r>
              <a:rPr lang="en-IN" b="1" dirty="0"/>
              <a:t>Boot Strap Class Loader</a:t>
            </a:r>
          </a:p>
        </p:txBody>
      </p:sp>
      <p:sp>
        <p:nvSpPr>
          <p:cNvPr id="3" name="Content Placeholder 2">
            <a:extLst>
              <a:ext uri="{FF2B5EF4-FFF2-40B4-BE49-F238E27FC236}">
                <a16:creationId xmlns:a16="http://schemas.microsoft.com/office/drawing/2014/main" id="{576C6E9E-FC4C-4211-9902-E36F5A383C25}"/>
              </a:ext>
            </a:extLst>
          </p:cNvPr>
          <p:cNvSpPr>
            <a:spLocks noGrp="1"/>
          </p:cNvSpPr>
          <p:nvPr>
            <p:ph idx="1"/>
          </p:nvPr>
        </p:nvSpPr>
        <p:spPr>
          <a:xfrm>
            <a:off x="838200" y="1260629"/>
            <a:ext cx="10515600" cy="945243"/>
          </a:xfrm>
        </p:spPr>
        <p:txBody>
          <a:bodyPr>
            <a:normAutofit/>
          </a:bodyPr>
          <a:lstStyle/>
          <a:p>
            <a:r>
              <a:rPr lang="en-US" sz="1400" dirty="0"/>
              <a:t>A Bootstrap </a:t>
            </a:r>
            <a:r>
              <a:rPr lang="en-US" sz="1400" dirty="0" err="1"/>
              <a:t>Classloader</a:t>
            </a:r>
            <a:r>
              <a:rPr lang="en-US" sz="1400" dirty="0"/>
              <a:t> is a Machine code which kickstarts the operation when the JVM calls it. It is not a java class.</a:t>
            </a:r>
          </a:p>
          <a:p>
            <a:r>
              <a:rPr lang="en-US" sz="1400" dirty="0"/>
              <a:t>Bootstrap </a:t>
            </a:r>
            <a:r>
              <a:rPr lang="en-US" sz="1400" dirty="0" err="1"/>
              <a:t>ClassLoader</a:t>
            </a:r>
            <a:r>
              <a:rPr lang="en-US" sz="1400" dirty="0"/>
              <a:t> loads classes from the location rt.jar. </a:t>
            </a:r>
          </a:p>
          <a:p>
            <a:r>
              <a:rPr lang="en-US" sz="1400" dirty="0"/>
              <a:t>Bootstrap </a:t>
            </a:r>
            <a:r>
              <a:rPr lang="en-US" sz="1400" dirty="0" err="1"/>
              <a:t>ClassLoader</a:t>
            </a:r>
            <a:r>
              <a:rPr lang="en-US" sz="1400" dirty="0"/>
              <a:t> doesn’t have any parent </a:t>
            </a:r>
            <a:r>
              <a:rPr lang="en-US" sz="1400" dirty="0" err="1"/>
              <a:t>ClassLoaders</a:t>
            </a:r>
            <a:r>
              <a:rPr lang="en-US" sz="1400" dirty="0"/>
              <a:t>. It is also called as the </a:t>
            </a:r>
            <a:r>
              <a:rPr lang="en-US" sz="1400" dirty="0" err="1"/>
              <a:t>Primodial</a:t>
            </a:r>
            <a:r>
              <a:rPr lang="en-US" sz="1400" dirty="0"/>
              <a:t> </a:t>
            </a:r>
            <a:r>
              <a:rPr lang="en-US" sz="1400" dirty="0" err="1"/>
              <a:t>ClassLoader</a:t>
            </a:r>
            <a:r>
              <a:rPr lang="en-US" sz="1400" dirty="0"/>
              <a:t>.</a:t>
            </a:r>
          </a:p>
          <a:p>
            <a:endParaRPr lang="en-IN" sz="1400" dirty="0"/>
          </a:p>
        </p:txBody>
      </p:sp>
    </p:spTree>
    <p:extLst>
      <p:ext uri="{BB962C8B-B14F-4D97-AF65-F5344CB8AC3E}">
        <p14:creationId xmlns:p14="http://schemas.microsoft.com/office/powerpoint/2010/main" val="2405825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D9BDB-BDA7-4455-A841-1B7AF946D696}"/>
              </a:ext>
            </a:extLst>
          </p:cNvPr>
          <p:cNvSpPr>
            <a:spLocks noGrp="1"/>
          </p:cNvSpPr>
          <p:nvPr>
            <p:ph type="title"/>
          </p:nvPr>
        </p:nvSpPr>
        <p:spPr>
          <a:xfrm>
            <a:off x="838200" y="365126"/>
            <a:ext cx="10515600" cy="655806"/>
          </a:xfrm>
        </p:spPr>
        <p:txBody>
          <a:bodyPr>
            <a:normAutofit fontScale="90000"/>
          </a:bodyPr>
          <a:lstStyle/>
          <a:p>
            <a:r>
              <a:rPr lang="en-IN" b="1" dirty="0"/>
              <a:t>Extension Class Loader</a:t>
            </a:r>
          </a:p>
        </p:txBody>
      </p:sp>
      <p:sp>
        <p:nvSpPr>
          <p:cNvPr id="3" name="Content Placeholder 2">
            <a:extLst>
              <a:ext uri="{FF2B5EF4-FFF2-40B4-BE49-F238E27FC236}">
                <a16:creationId xmlns:a16="http://schemas.microsoft.com/office/drawing/2014/main" id="{576C6E9E-FC4C-4211-9902-E36F5A383C25}"/>
              </a:ext>
            </a:extLst>
          </p:cNvPr>
          <p:cNvSpPr>
            <a:spLocks noGrp="1"/>
          </p:cNvSpPr>
          <p:nvPr>
            <p:ph idx="1"/>
          </p:nvPr>
        </p:nvSpPr>
        <p:spPr>
          <a:xfrm>
            <a:off x="838200" y="1154097"/>
            <a:ext cx="10515600" cy="1780096"/>
          </a:xfrm>
        </p:spPr>
        <p:txBody>
          <a:bodyPr>
            <a:normAutofit/>
          </a:bodyPr>
          <a:lstStyle/>
          <a:p>
            <a:r>
              <a:rPr lang="en-US" sz="1400" dirty="0"/>
              <a:t>The Extension </a:t>
            </a:r>
            <a:r>
              <a:rPr lang="en-US" sz="1400" dirty="0" err="1"/>
              <a:t>ClassLoader</a:t>
            </a:r>
            <a:r>
              <a:rPr lang="en-US" sz="1400" dirty="0"/>
              <a:t> is a child of Bootstrap </a:t>
            </a:r>
            <a:r>
              <a:rPr lang="en-US" sz="1400" dirty="0" err="1"/>
              <a:t>ClassLoader</a:t>
            </a:r>
            <a:r>
              <a:rPr lang="en-US" sz="1400" dirty="0"/>
              <a:t> and loads the extensions of core java classes from the respective JDK Extension library. </a:t>
            </a:r>
          </a:p>
          <a:p>
            <a:r>
              <a:rPr lang="en-US" sz="1400" dirty="0"/>
              <a:t>It loads files from </a:t>
            </a:r>
            <a:r>
              <a:rPr lang="en-US" sz="1400" dirty="0" err="1"/>
              <a:t>jre</a:t>
            </a:r>
            <a:r>
              <a:rPr lang="en-US" sz="1400" dirty="0"/>
              <a:t>/lib/</a:t>
            </a:r>
            <a:r>
              <a:rPr lang="en-US" sz="1400" dirty="0" err="1"/>
              <a:t>ext</a:t>
            </a:r>
            <a:r>
              <a:rPr lang="en-US" sz="1400" dirty="0"/>
              <a:t> directory or any other directory pointed by the system property </a:t>
            </a:r>
            <a:r>
              <a:rPr lang="en-US" sz="1400" dirty="0" err="1"/>
              <a:t>java.ext.dirs</a:t>
            </a:r>
            <a:r>
              <a:rPr lang="en-US" sz="1400" dirty="0"/>
              <a:t>.</a:t>
            </a:r>
            <a:endParaRPr lang="en-IN" sz="1400" dirty="0"/>
          </a:p>
        </p:txBody>
      </p:sp>
    </p:spTree>
    <p:extLst>
      <p:ext uri="{BB962C8B-B14F-4D97-AF65-F5344CB8AC3E}">
        <p14:creationId xmlns:p14="http://schemas.microsoft.com/office/powerpoint/2010/main" val="3571202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D9BDB-BDA7-4455-A841-1B7AF946D696}"/>
              </a:ext>
            </a:extLst>
          </p:cNvPr>
          <p:cNvSpPr>
            <a:spLocks noGrp="1"/>
          </p:cNvSpPr>
          <p:nvPr>
            <p:ph type="title"/>
          </p:nvPr>
        </p:nvSpPr>
        <p:spPr>
          <a:xfrm>
            <a:off x="838200" y="365126"/>
            <a:ext cx="10515600" cy="445579"/>
          </a:xfrm>
        </p:spPr>
        <p:txBody>
          <a:bodyPr>
            <a:normAutofit fontScale="90000"/>
          </a:bodyPr>
          <a:lstStyle/>
          <a:p>
            <a:r>
              <a:rPr lang="en-IN" b="1" dirty="0"/>
              <a:t>System Class Loader</a:t>
            </a:r>
          </a:p>
        </p:txBody>
      </p:sp>
      <p:sp>
        <p:nvSpPr>
          <p:cNvPr id="3" name="Content Placeholder 2">
            <a:extLst>
              <a:ext uri="{FF2B5EF4-FFF2-40B4-BE49-F238E27FC236}">
                <a16:creationId xmlns:a16="http://schemas.microsoft.com/office/drawing/2014/main" id="{576C6E9E-FC4C-4211-9902-E36F5A383C25}"/>
              </a:ext>
            </a:extLst>
          </p:cNvPr>
          <p:cNvSpPr>
            <a:spLocks noGrp="1"/>
          </p:cNvSpPr>
          <p:nvPr>
            <p:ph idx="1"/>
          </p:nvPr>
        </p:nvSpPr>
        <p:spPr>
          <a:xfrm>
            <a:off x="838200" y="1500327"/>
            <a:ext cx="10515600" cy="1928674"/>
          </a:xfrm>
        </p:spPr>
        <p:txBody>
          <a:bodyPr>
            <a:normAutofit/>
          </a:bodyPr>
          <a:lstStyle/>
          <a:p>
            <a:r>
              <a:rPr lang="en-US" sz="1400" dirty="0"/>
              <a:t>An Application </a:t>
            </a:r>
            <a:r>
              <a:rPr lang="en-US" sz="1400" dirty="0" err="1"/>
              <a:t>ClassLoader</a:t>
            </a:r>
            <a:r>
              <a:rPr lang="en-US" sz="1400" dirty="0"/>
              <a:t> is also known as a System </a:t>
            </a:r>
            <a:r>
              <a:rPr lang="en-US" sz="1400" dirty="0" err="1"/>
              <a:t>ClassLoader</a:t>
            </a:r>
            <a:r>
              <a:rPr lang="en-US" sz="1400" dirty="0"/>
              <a:t>. It loads the Application type classes found in the environment variable CLASSPATH, -</a:t>
            </a:r>
            <a:r>
              <a:rPr lang="en-US" sz="1400" dirty="0" err="1"/>
              <a:t>classpath</a:t>
            </a:r>
            <a:r>
              <a:rPr lang="en-US" sz="1400" dirty="0"/>
              <a:t> or -cp command line option. </a:t>
            </a:r>
          </a:p>
          <a:p>
            <a:r>
              <a:rPr lang="en-US" sz="1400" dirty="0"/>
              <a:t>The Application </a:t>
            </a:r>
            <a:r>
              <a:rPr lang="en-US" sz="1400" dirty="0" err="1"/>
              <a:t>ClassLoader</a:t>
            </a:r>
            <a:r>
              <a:rPr lang="en-US" sz="1400" dirty="0"/>
              <a:t> is a child class of Extension </a:t>
            </a:r>
            <a:r>
              <a:rPr lang="en-US" sz="1400" dirty="0" err="1"/>
              <a:t>ClassLoader</a:t>
            </a:r>
            <a:r>
              <a:rPr lang="en-US" sz="1400" dirty="0"/>
              <a:t>.</a:t>
            </a:r>
          </a:p>
          <a:p>
            <a:r>
              <a:rPr lang="en-US" sz="1400" dirty="0"/>
              <a:t>Note : The </a:t>
            </a:r>
            <a:r>
              <a:rPr lang="en-US" sz="1400" dirty="0" err="1"/>
              <a:t>ClassLoader</a:t>
            </a:r>
            <a:r>
              <a:rPr lang="en-US" sz="1400" dirty="0"/>
              <a:t> Delegation Hierarchy Model always functions in the order Application </a:t>
            </a:r>
            <a:r>
              <a:rPr lang="en-US" sz="1400" dirty="0" err="1"/>
              <a:t>ClassLoader</a:t>
            </a:r>
            <a:r>
              <a:rPr lang="en-US" sz="1400" dirty="0"/>
              <a:t>-&gt;Extension </a:t>
            </a:r>
            <a:r>
              <a:rPr lang="en-US" sz="1400" dirty="0" err="1"/>
              <a:t>ClassLoader</a:t>
            </a:r>
            <a:r>
              <a:rPr lang="en-US" sz="1400" dirty="0"/>
              <a:t>-&gt;Bootstrap </a:t>
            </a:r>
            <a:r>
              <a:rPr lang="en-US" sz="1400" dirty="0" err="1"/>
              <a:t>ClassLoader</a:t>
            </a:r>
            <a:r>
              <a:rPr lang="en-US" sz="1400" dirty="0"/>
              <a:t>. </a:t>
            </a:r>
          </a:p>
          <a:p>
            <a:r>
              <a:rPr lang="en-US" sz="1400" dirty="0"/>
              <a:t>The Bootstrap </a:t>
            </a:r>
            <a:r>
              <a:rPr lang="en-US" sz="1400" dirty="0" err="1"/>
              <a:t>ClassLoader</a:t>
            </a:r>
            <a:r>
              <a:rPr lang="en-US" sz="1400" dirty="0"/>
              <a:t> is always given the higher priority, next is Extension </a:t>
            </a:r>
            <a:r>
              <a:rPr lang="en-US" sz="1400" dirty="0" err="1"/>
              <a:t>ClassLoader</a:t>
            </a:r>
            <a:r>
              <a:rPr lang="en-US" sz="1400" dirty="0"/>
              <a:t> and then Application </a:t>
            </a:r>
            <a:r>
              <a:rPr lang="en-US" sz="1400" dirty="0" err="1"/>
              <a:t>ClassLoader</a:t>
            </a:r>
            <a:r>
              <a:rPr lang="en-US" sz="1400" dirty="0"/>
              <a:t>.</a:t>
            </a:r>
            <a:endParaRPr lang="en-IN" sz="1400" dirty="0"/>
          </a:p>
        </p:txBody>
      </p:sp>
    </p:spTree>
    <p:extLst>
      <p:ext uri="{BB962C8B-B14F-4D97-AF65-F5344CB8AC3E}">
        <p14:creationId xmlns:p14="http://schemas.microsoft.com/office/powerpoint/2010/main" val="2196517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58CB3F-BFC8-4E92-92D1-61537398DAEA}"/>
              </a:ext>
            </a:extLst>
          </p:cNvPr>
          <p:cNvPicPr>
            <a:picLocks noChangeAspect="1"/>
          </p:cNvPicPr>
          <p:nvPr/>
        </p:nvPicPr>
        <p:blipFill>
          <a:blip r:embed="rId2"/>
          <a:stretch>
            <a:fillRect/>
          </a:stretch>
        </p:blipFill>
        <p:spPr>
          <a:xfrm>
            <a:off x="2533650" y="1362075"/>
            <a:ext cx="7124700" cy="4133850"/>
          </a:xfrm>
          <a:prstGeom prst="rect">
            <a:avLst/>
          </a:prstGeom>
        </p:spPr>
      </p:pic>
    </p:spTree>
    <p:extLst>
      <p:ext uri="{BB962C8B-B14F-4D97-AF65-F5344CB8AC3E}">
        <p14:creationId xmlns:p14="http://schemas.microsoft.com/office/powerpoint/2010/main" val="3022658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4047-9D0A-4751-84C0-C8861D014923}"/>
              </a:ext>
            </a:extLst>
          </p:cNvPr>
          <p:cNvSpPr>
            <a:spLocks noGrp="1"/>
          </p:cNvSpPr>
          <p:nvPr>
            <p:ph type="title"/>
          </p:nvPr>
        </p:nvSpPr>
        <p:spPr>
          <a:xfrm>
            <a:off x="838200" y="365125"/>
            <a:ext cx="10515600" cy="611419"/>
          </a:xfrm>
        </p:spPr>
        <p:txBody>
          <a:bodyPr>
            <a:noAutofit/>
          </a:bodyPr>
          <a:lstStyle/>
          <a:p>
            <a:r>
              <a:rPr lang="en-IN" sz="4000" b="1" dirty="0"/>
              <a:t>1. Delegation Model</a:t>
            </a:r>
          </a:p>
        </p:txBody>
      </p:sp>
      <p:sp>
        <p:nvSpPr>
          <p:cNvPr id="3" name="Content Placeholder 2">
            <a:extLst>
              <a:ext uri="{FF2B5EF4-FFF2-40B4-BE49-F238E27FC236}">
                <a16:creationId xmlns:a16="http://schemas.microsoft.com/office/drawing/2014/main" id="{F6F85452-98DA-4A86-AAAB-2E16BB573C38}"/>
              </a:ext>
            </a:extLst>
          </p:cNvPr>
          <p:cNvSpPr>
            <a:spLocks noGrp="1"/>
          </p:cNvSpPr>
          <p:nvPr>
            <p:ph idx="1"/>
          </p:nvPr>
        </p:nvSpPr>
        <p:spPr>
          <a:xfrm>
            <a:off x="838200" y="1233996"/>
            <a:ext cx="10515600" cy="4942967"/>
          </a:xfrm>
        </p:spPr>
        <p:txBody>
          <a:bodyPr>
            <a:normAutofit fontScale="85000" lnSpcReduction="20000"/>
          </a:bodyPr>
          <a:lstStyle/>
          <a:p>
            <a:r>
              <a:rPr lang="en-US" sz="2300" dirty="0"/>
              <a:t>The Java Virtual Machine and the Java </a:t>
            </a:r>
            <a:r>
              <a:rPr lang="en-US" sz="2300" dirty="0" err="1"/>
              <a:t>ClassLoader</a:t>
            </a:r>
            <a:r>
              <a:rPr lang="en-US" sz="2300" dirty="0"/>
              <a:t> use an algorithm called the Delegation Hierarchy Algorithm to Load the classes into the Java file.</a:t>
            </a:r>
          </a:p>
          <a:p>
            <a:r>
              <a:rPr lang="en-US" sz="2300" dirty="0"/>
              <a:t>The </a:t>
            </a:r>
            <a:r>
              <a:rPr lang="en-US" sz="2300" dirty="0" err="1"/>
              <a:t>ClassLoader</a:t>
            </a:r>
            <a:r>
              <a:rPr lang="en-US" sz="2300" dirty="0"/>
              <a:t> works based on a set of operations given by the delegation model. They are:</a:t>
            </a:r>
          </a:p>
          <a:p>
            <a:r>
              <a:rPr lang="en-US" sz="2300" dirty="0" err="1"/>
              <a:t>ClassLoader</a:t>
            </a:r>
            <a:r>
              <a:rPr lang="en-US" sz="2300" dirty="0"/>
              <a:t> always follows the Delegation Hierarchy Principle.</a:t>
            </a:r>
          </a:p>
          <a:p>
            <a:r>
              <a:rPr lang="en-US" sz="2300" dirty="0"/>
              <a:t>Whenever JVM comes across a class, it checks whether that class is already loaded or not.</a:t>
            </a:r>
          </a:p>
          <a:p>
            <a:r>
              <a:rPr lang="en-US" sz="2300" dirty="0"/>
              <a:t>If the Class is already loaded in the method area then the JVM proceeds with execution.</a:t>
            </a:r>
          </a:p>
          <a:p>
            <a:r>
              <a:rPr lang="en-US" sz="2300" dirty="0"/>
              <a:t>If the class is not present in the method area then the JVM asks the Java </a:t>
            </a:r>
            <a:r>
              <a:rPr lang="en-US" sz="2300" dirty="0" err="1"/>
              <a:t>ClassLoader</a:t>
            </a:r>
            <a:r>
              <a:rPr lang="en-US" sz="2300" dirty="0"/>
              <a:t> to load that particular class, then </a:t>
            </a:r>
            <a:r>
              <a:rPr lang="en-US" sz="2300" dirty="0" err="1"/>
              <a:t>ClassLoader</a:t>
            </a:r>
            <a:r>
              <a:rPr lang="en-US" sz="2300" dirty="0"/>
              <a:t> hands over the control to Application </a:t>
            </a:r>
            <a:r>
              <a:rPr lang="en-US" sz="2300" dirty="0" err="1"/>
              <a:t>ClassLoader</a:t>
            </a:r>
            <a:r>
              <a:rPr lang="en-US" sz="2300" dirty="0"/>
              <a:t>.</a:t>
            </a:r>
          </a:p>
          <a:p>
            <a:r>
              <a:rPr lang="en-US" sz="2300" dirty="0"/>
              <a:t>Application </a:t>
            </a:r>
            <a:r>
              <a:rPr lang="en-US" sz="2300" dirty="0" err="1"/>
              <a:t>ClassLoader</a:t>
            </a:r>
            <a:r>
              <a:rPr lang="en-US" sz="2300" dirty="0"/>
              <a:t> then delegates the request to Extension </a:t>
            </a:r>
            <a:r>
              <a:rPr lang="en-US" sz="2300" dirty="0" err="1"/>
              <a:t>ClassLoader</a:t>
            </a:r>
            <a:r>
              <a:rPr lang="en-US" sz="2300" dirty="0"/>
              <a:t> and the Extension </a:t>
            </a:r>
            <a:r>
              <a:rPr lang="en-US" sz="2300" dirty="0" err="1"/>
              <a:t>ClassLoader</a:t>
            </a:r>
            <a:r>
              <a:rPr lang="en-US" sz="2300" dirty="0"/>
              <a:t> in turn delegates the request to Bootstrap </a:t>
            </a:r>
            <a:r>
              <a:rPr lang="en-US" sz="2300" dirty="0" err="1"/>
              <a:t>ClassLoader</a:t>
            </a:r>
            <a:r>
              <a:rPr lang="en-US" sz="2300" dirty="0"/>
              <a:t>.</a:t>
            </a:r>
          </a:p>
          <a:p>
            <a:r>
              <a:rPr lang="en-US" sz="2300" dirty="0"/>
              <a:t>Bootstrap </a:t>
            </a:r>
            <a:r>
              <a:rPr lang="en-US" sz="2300" dirty="0" err="1"/>
              <a:t>ClassLoader</a:t>
            </a:r>
            <a:r>
              <a:rPr lang="en-US" sz="2300" dirty="0"/>
              <a:t> will search in the Bootstrap </a:t>
            </a:r>
            <a:r>
              <a:rPr lang="en-US" sz="2300" dirty="0" err="1"/>
              <a:t>classpath</a:t>
            </a:r>
            <a:r>
              <a:rPr lang="en-US" sz="2300" dirty="0"/>
              <a:t>(JDK/JRE/LIB). If the class is available then it is loaded, if not the request is delegated to Extension </a:t>
            </a:r>
            <a:r>
              <a:rPr lang="en-US" sz="2300" dirty="0" err="1"/>
              <a:t>ClassLoader</a:t>
            </a:r>
            <a:r>
              <a:rPr lang="en-US" sz="2300" dirty="0"/>
              <a:t>.</a:t>
            </a:r>
          </a:p>
          <a:p>
            <a:r>
              <a:rPr lang="en-US" sz="2300" dirty="0"/>
              <a:t>Extension </a:t>
            </a:r>
            <a:r>
              <a:rPr lang="en-US" sz="2300" dirty="0" err="1"/>
              <a:t>ClassLoader</a:t>
            </a:r>
            <a:r>
              <a:rPr lang="en-US" sz="2300" dirty="0"/>
              <a:t> searches for the class in the Extension </a:t>
            </a:r>
            <a:r>
              <a:rPr lang="en-US" sz="2300" dirty="0" err="1"/>
              <a:t>Classpath</a:t>
            </a:r>
            <a:r>
              <a:rPr lang="en-US" sz="2300" dirty="0"/>
              <a:t>(JDK/JRE/LIB/EXT). If the class is available then it is loaded, if not the request is delegated to the Application </a:t>
            </a:r>
            <a:r>
              <a:rPr lang="en-US" sz="2300" dirty="0" err="1"/>
              <a:t>ClassLoader</a:t>
            </a:r>
            <a:r>
              <a:rPr lang="en-US" sz="2300" dirty="0"/>
              <a:t>.</a:t>
            </a:r>
          </a:p>
          <a:p>
            <a:r>
              <a:rPr lang="en-US" sz="2300" dirty="0"/>
              <a:t>Application </a:t>
            </a:r>
            <a:r>
              <a:rPr lang="en-US" sz="2300" dirty="0" err="1"/>
              <a:t>ClassLoader</a:t>
            </a:r>
            <a:r>
              <a:rPr lang="en-US" sz="2300" dirty="0"/>
              <a:t> searches for the class in the Application </a:t>
            </a:r>
            <a:r>
              <a:rPr lang="en-US" sz="2300" dirty="0" err="1"/>
              <a:t>Classpath</a:t>
            </a:r>
            <a:r>
              <a:rPr lang="en-US" sz="2300" dirty="0"/>
              <a:t>. If the class is available then it is loaded, if not then a </a:t>
            </a:r>
            <a:r>
              <a:rPr lang="en-US" sz="2300" dirty="0" err="1"/>
              <a:t>ClassNotFoundException</a:t>
            </a:r>
            <a:r>
              <a:rPr lang="en-US" sz="2300" dirty="0"/>
              <a:t> exception is generated.</a:t>
            </a:r>
          </a:p>
          <a:p>
            <a:endParaRPr lang="en-IN" dirty="0"/>
          </a:p>
        </p:txBody>
      </p:sp>
    </p:spTree>
    <p:extLst>
      <p:ext uri="{BB962C8B-B14F-4D97-AF65-F5344CB8AC3E}">
        <p14:creationId xmlns:p14="http://schemas.microsoft.com/office/powerpoint/2010/main" val="3947468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541DAF2-FCE2-449C-9AB7-8F6DBC30E64A}"/>
              </a:ext>
            </a:extLst>
          </p:cNvPr>
          <p:cNvPicPr>
            <a:picLocks noGrp="1" noChangeAspect="1"/>
          </p:cNvPicPr>
          <p:nvPr>
            <p:ph idx="1"/>
          </p:nvPr>
        </p:nvPicPr>
        <p:blipFill>
          <a:blip r:embed="rId2"/>
          <a:stretch>
            <a:fillRect/>
          </a:stretch>
        </p:blipFill>
        <p:spPr>
          <a:xfrm>
            <a:off x="838200" y="2343858"/>
            <a:ext cx="10515600" cy="3314872"/>
          </a:xfrm>
        </p:spPr>
      </p:pic>
    </p:spTree>
    <p:extLst>
      <p:ext uri="{BB962C8B-B14F-4D97-AF65-F5344CB8AC3E}">
        <p14:creationId xmlns:p14="http://schemas.microsoft.com/office/powerpoint/2010/main" val="4137847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5CCF0-AA53-4DF1-B106-E6AADC57D16A}"/>
              </a:ext>
            </a:extLst>
          </p:cNvPr>
          <p:cNvSpPr>
            <a:spLocks noGrp="1"/>
          </p:cNvSpPr>
          <p:nvPr>
            <p:ph type="title"/>
          </p:nvPr>
        </p:nvSpPr>
        <p:spPr>
          <a:xfrm>
            <a:off x="838200" y="365126"/>
            <a:ext cx="10515600" cy="567030"/>
          </a:xfrm>
        </p:spPr>
        <p:txBody>
          <a:bodyPr>
            <a:normAutofit fontScale="90000"/>
          </a:bodyPr>
          <a:lstStyle/>
          <a:p>
            <a:r>
              <a:rPr lang="en-IN" sz="4000" b="1" i="0" dirty="0">
                <a:solidFill>
                  <a:srgbClr val="273239"/>
                </a:solidFill>
                <a:effectLst/>
                <a:latin typeface="urw-din"/>
              </a:rPr>
              <a:t>2. Visibility Principle</a:t>
            </a:r>
            <a:endParaRPr lang="en-IN" sz="4000" dirty="0"/>
          </a:p>
        </p:txBody>
      </p:sp>
      <p:sp>
        <p:nvSpPr>
          <p:cNvPr id="3" name="Content Placeholder 2">
            <a:extLst>
              <a:ext uri="{FF2B5EF4-FFF2-40B4-BE49-F238E27FC236}">
                <a16:creationId xmlns:a16="http://schemas.microsoft.com/office/drawing/2014/main" id="{CE043EFC-99BD-4433-A508-74DCEE05D968}"/>
              </a:ext>
            </a:extLst>
          </p:cNvPr>
          <p:cNvSpPr>
            <a:spLocks noGrp="1"/>
          </p:cNvSpPr>
          <p:nvPr>
            <p:ph idx="1"/>
          </p:nvPr>
        </p:nvSpPr>
        <p:spPr>
          <a:xfrm>
            <a:off x="838200" y="1260629"/>
            <a:ext cx="10515600" cy="4916334"/>
          </a:xfrm>
        </p:spPr>
        <p:txBody>
          <a:bodyPr/>
          <a:lstStyle/>
          <a:p>
            <a:r>
              <a:rPr lang="en-US" dirty="0"/>
              <a:t> </a:t>
            </a:r>
            <a:r>
              <a:rPr lang="en-US" sz="1600" dirty="0"/>
              <a:t>The Visibility Principle states that a class loaded by a parent </a:t>
            </a:r>
            <a:r>
              <a:rPr lang="en-US" sz="1600" dirty="0" err="1"/>
              <a:t>ClassLoader</a:t>
            </a:r>
            <a:r>
              <a:rPr lang="en-US" sz="1600" dirty="0"/>
              <a:t> is visible to the child </a:t>
            </a:r>
            <a:r>
              <a:rPr lang="en-US" sz="1600" dirty="0" err="1"/>
              <a:t>ClassLoaders</a:t>
            </a:r>
            <a:r>
              <a:rPr lang="en-US" sz="1600" dirty="0"/>
              <a:t> but a class loaded by a child </a:t>
            </a:r>
            <a:r>
              <a:rPr lang="en-US" sz="1600" dirty="0" err="1"/>
              <a:t>ClassLoader</a:t>
            </a:r>
            <a:r>
              <a:rPr lang="en-US" sz="1600" dirty="0"/>
              <a:t> is not visible to the parent </a:t>
            </a:r>
            <a:r>
              <a:rPr lang="en-US" sz="1600" dirty="0" err="1"/>
              <a:t>ClassLoaders</a:t>
            </a:r>
            <a:r>
              <a:rPr lang="en-US" sz="1600" dirty="0"/>
              <a:t>.</a:t>
            </a:r>
          </a:p>
          <a:p>
            <a:r>
              <a:rPr lang="en-US" sz="1600" dirty="0"/>
              <a:t> Suppose a class </a:t>
            </a:r>
            <a:r>
              <a:rPr lang="en-US" sz="1600" dirty="0" err="1"/>
              <a:t>GEEKS.class</a:t>
            </a:r>
            <a:r>
              <a:rPr lang="en-US" sz="1600" dirty="0"/>
              <a:t> has been loaded by the Extension </a:t>
            </a:r>
            <a:r>
              <a:rPr lang="en-US" sz="1600" dirty="0" err="1"/>
              <a:t>ClassLoader</a:t>
            </a:r>
            <a:r>
              <a:rPr lang="en-US" sz="1600" dirty="0"/>
              <a:t>, then that class is only visible to the Extension </a:t>
            </a:r>
            <a:r>
              <a:rPr lang="en-US" sz="1600" dirty="0" err="1"/>
              <a:t>ClassLoader</a:t>
            </a:r>
            <a:r>
              <a:rPr lang="en-US" sz="1600" dirty="0"/>
              <a:t> and Application </a:t>
            </a:r>
            <a:r>
              <a:rPr lang="en-US" sz="1600" dirty="0" err="1"/>
              <a:t>ClassLoader</a:t>
            </a:r>
            <a:r>
              <a:rPr lang="en-US" sz="1600" dirty="0"/>
              <a:t> but not to the Bootstrap </a:t>
            </a:r>
            <a:r>
              <a:rPr lang="en-US" sz="1600" dirty="0" err="1"/>
              <a:t>ClassLoader</a:t>
            </a:r>
            <a:r>
              <a:rPr lang="en-US" sz="1600" dirty="0"/>
              <a:t>. </a:t>
            </a:r>
          </a:p>
          <a:p>
            <a:r>
              <a:rPr lang="en-US" sz="1600" dirty="0"/>
              <a:t>If that class is again tried to load using Bootstrap </a:t>
            </a:r>
            <a:r>
              <a:rPr lang="en-US" sz="1600" dirty="0" err="1"/>
              <a:t>ClassLoader</a:t>
            </a:r>
            <a:r>
              <a:rPr lang="en-US" sz="1600" dirty="0"/>
              <a:t> it gives an exception </a:t>
            </a:r>
            <a:r>
              <a:rPr lang="en-US" sz="1600" dirty="0" err="1"/>
              <a:t>java.lang.ClassNotFoundException</a:t>
            </a:r>
            <a:r>
              <a:rPr lang="en-US" sz="1600" dirty="0"/>
              <a:t>.</a:t>
            </a:r>
            <a:endParaRPr lang="en-IN" sz="1600" dirty="0"/>
          </a:p>
        </p:txBody>
      </p:sp>
    </p:spTree>
    <p:extLst>
      <p:ext uri="{BB962C8B-B14F-4D97-AF65-F5344CB8AC3E}">
        <p14:creationId xmlns:p14="http://schemas.microsoft.com/office/powerpoint/2010/main" val="576863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D5621-DD8E-4D43-8073-28127383E0B6}"/>
              </a:ext>
            </a:extLst>
          </p:cNvPr>
          <p:cNvSpPr>
            <a:spLocks noGrp="1"/>
          </p:cNvSpPr>
          <p:nvPr>
            <p:ph type="title"/>
          </p:nvPr>
        </p:nvSpPr>
        <p:spPr>
          <a:xfrm>
            <a:off x="838200" y="365125"/>
            <a:ext cx="10515600" cy="700195"/>
          </a:xfrm>
        </p:spPr>
        <p:txBody>
          <a:bodyPr>
            <a:normAutofit/>
          </a:bodyPr>
          <a:lstStyle/>
          <a:p>
            <a:r>
              <a:rPr lang="en-IN" sz="4000" b="1" dirty="0">
                <a:solidFill>
                  <a:srgbClr val="273239"/>
                </a:solidFill>
                <a:latin typeface="urw-din"/>
              </a:rPr>
              <a:t>3. Uniqueness Property</a:t>
            </a:r>
          </a:p>
        </p:txBody>
      </p:sp>
      <p:sp>
        <p:nvSpPr>
          <p:cNvPr id="3" name="Content Placeholder 2">
            <a:extLst>
              <a:ext uri="{FF2B5EF4-FFF2-40B4-BE49-F238E27FC236}">
                <a16:creationId xmlns:a16="http://schemas.microsoft.com/office/drawing/2014/main" id="{9BB404E7-1241-4AE8-95F8-4DFC73F57498}"/>
              </a:ext>
            </a:extLst>
          </p:cNvPr>
          <p:cNvSpPr>
            <a:spLocks noGrp="1"/>
          </p:cNvSpPr>
          <p:nvPr>
            <p:ph idx="1"/>
          </p:nvPr>
        </p:nvSpPr>
        <p:spPr>
          <a:xfrm>
            <a:off x="838200" y="1393794"/>
            <a:ext cx="10515600" cy="4783169"/>
          </a:xfrm>
        </p:spPr>
        <p:txBody>
          <a:bodyPr>
            <a:normAutofit lnSpcReduction="10000"/>
          </a:bodyPr>
          <a:lstStyle/>
          <a:p>
            <a:r>
              <a:rPr lang="en-US" sz="2000" dirty="0"/>
              <a:t>The </a:t>
            </a:r>
            <a:r>
              <a:rPr lang="en-US" sz="2000" dirty="0" err="1"/>
              <a:t>Uniquesness</a:t>
            </a:r>
            <a:r>
              <a:rPr lang="en-US" sz="2000" dirty="0"/>
              <a:t> Property ensures that the classes are unique and there is no repetition of classes. This also ensures that the classes loaded by parent </a:t>
            </a:r>
            <a:r>
              <a:rPr lang="en-US" sz="2000" dirty="0" err="1"/>
              <a:t>classloaders</a:t>
            </a:r>
            <a:r>
              <a:rPr lang="en-US" sz="2000" dirty="0"/>
              <a:t> are not loaded by the child </a:t>
            </a:r>
            <a:r>
              <a:rPr lang="en-US" sz="2000" dirty="0" err="1"/>
              <a:t>classloaders</a:t>
            </a:r>
            <a:r>
              <a:rPr lang="en-US" sz="2000" dirty="0"/>
              <a:t>. </a:t>
            </a:r>
          </a:p>
          <a:p>
            <a:r>
              <a:rPr lang="en-US" sz="2000" dirty="0"/>
              <a:t>If the parent class loader isn’t able to find the class, only then the current instance would attempt to do so itself.</a:t>
            </a:r>
          </a:p>
          <a:p>
            <a:pPr algn="ctr" fontAlgn="base"/>
            <a:r>
              <a:rPr lang="en-US" sz="2000" b="1" dirty="0">
                <a:solidFill>
                  <a:srgbClr val="273239"/>
                </a:solidFill>
                <a:latin typeface="urw-din"/>
                <a:ea typeface="+mj-ea"/>
                <a:cs typeface="+mj-cs"/>
              </a:rPr>
              <a:t>Methods of </a:t>
            </a:r>
            <a:r>
              <a:rPr lang="en-US" sz="2000" b="1" dirty="0" err="1">
                <a:solidFill>
                  <a:srgbClr val="273239"/>
                </a:solidFill>
                <a:latin typeface="urw-din"/>
                <a:ea typeface="+mj-ea"/>
                <a:cs typeface="+mj-cs"/>
              </a:rPr>
              <a:t>Java.lang.ClassLoader</a:t>
            </a:r>
            <a:endParaRPr lang="en-US" sz="2000" b="1" dirty="0">
              <a:solidFill>
                <a:srgbClr val="273239"/>
              </a:solidFill>
              <a:latin typeface="urw-din"/>
              <a:ea typeface="+mj-ea"/>
              <a:cs typeface="+mj-cs"/>
            </a:endParaRPr>
          </a:p>
          <a:p>
            <a:pPr algn="l" fontAlgn="base"/>
            <a:r>
              <a:rPr lang="en-US" sz="2000" dirty="0"/>
              <a:t>After the JVM requests for the class, a few steps are to be followed in order to load a class. The Classes are loaded as per the delegation model but there are a few important Methods or Functions that play a vital role in loading a Class.</a:t>
            </a:r>
          </a:p>
          <a:p>
            <a:pPr algn="l" fontAlgn="base">
              <a:buFont typeface="+mj-lt"/>
              <a:buAutoNum type="arabicPeriod"/>
            </a:pPr>
            <a:r>
              <a:rPr lang="en-US" sz="2000" dirty="0" err="1"/>
              <a:t>loadClass</a:t>
            </a:r>
            <a:r>
              <a:rPr lang="en-US" sz="2000" dirty="0"/>
              <a:t>(String name, </a:t>
            </a:r>
            <a:r>
              <a:rPr lang="en-US" sz="2000" dirty="0" err="1"/>
              <a:t>boolean</a:t>
            </a:r>
            <a:r>
              <a:rPr lang="en-US" sz="2000" dirty="0"/>
              <a:t> resolve): This method is used to load the classes which are referenced by the JVM. It takes the name of the class as a parameter. This is of type </a:t>
            </a:r>
            <a:r>
              <a:rPr lang="en-US" sz="2000" dirty="0" err="1"/>
              <a:t>loadClass</a:t>
            </a:r>
            <a:r>
              <a:rPr lang="en-US" sz="2000" dirty="0"/>
              <a:t>(String, </a:t>
            </a:r>
            <a:r>
              <a:rPr lang="en-US" sz="2000" dirty="0" err="1"/>
              <a:t>boolean</a:t>
            </a:r>
            <a:r>
              <a:rPr lang="en-US" sz="2000" dirty="0"/>
              <a:t>).</a:t>
            </a:r>
          </a:p>
          <a:p>
            <a:pPr algn="l" fontAlgn="base">
              <a:buFont typeface="+mj-lt"/>
              <a:buAutoNum type="arabicPeriod"/>
            </a:pPr>
            <a:r>
              <a:rPr lang="en-US" sz="2000" dirty="0" err="1"/>
              <a:t>defineClass</a:t>
            </a:r>
            <a:r>
              <a:rPr lang="en-US" sz="2000" dirty="0"/>
              <a:t>(): The </a:t>
            </a:r>
            <a:r>
              <a:rPr lang="en-US" sz="2000" dirty="0" err="1"/>
              <a:t>defineClass</a:t>
            </a:r>
            <a:r>
              <a:rPr lang="en-US" sz="2000" dirty="0"/>
              <a:t>() method is a final method and cannot be </a:t>
            </a:r>
            <a:r>
              <a:rPr lang="en-US" sz="2000" dirty="0" err="1"/>
              <a:t>overriden</a:t>
            </a:r>
            <a:r>
              <a:rPr lang="en-US" sz="2000" dirty="0"/>
              <a:t>. This method is used to define a array of bytes as an instance of class. If the class is invalid then it throws </a:t>
            </a:r>
            <a:r>
              <a:rPr lang="en-US" sz="2000" dirty="0" err="1"/>
              <a:t>ClassFormatError</a:t>
            </a:r>
            <a:r>
              <a:rPr lang="en-US" sz="1600" b="0" i="0" dirty="0">
                <a:solidFill>
                  <a:srgbClr val="273239"/>
                </a:solidFill>
                <a:effectLst/>
                <a:latin typeface="+mj-lt"/>
              </a:rPr>
              <a:t>.</a:t>
            </a:r>
          </a:p>
          <a:p>
            <a:endParaRPr lang="en-US" sz="2000" dirty="0"/>
          </a:p>
        </p:txBody>
      </p:sp>
    </p:spTree>
    <p:extLst>
      <p:ext uri="{BB962C8B-B14F-4D97-AF65-F5344CB8AC3E}">
        <p14:creationId xmlns:p14="http://schemas.microsoft.com/office/powerpoint/2010/main" val="3927661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591180-FE9C-474A-B5BF-CE8D2FBDB7B9}"/>
              </a:ext>
            </a:extLst>
          </p:cNvPr>
          <p:cNvSpPr>
            <a:spLocks noGrp="1"/>
          </p:cNvSpPr>
          <p:nvPr>
            <p:ph idx="1"/>
          </p:nvPr>
        </p:nvSpPr>
        <p:spPr>
          <a:xfrm>
            <a:off x="838200" y="239697"/>
            <a:ext cx="10515600" cy="5937266"/>
          </a:xfrm>
        </p:spPr>
        <p:txBody>
          <a:bodyPr>
            <a:normAutofit/>
          </a:bodyPr>
          <a:lstStyle/>
          <a:p>
            <a:pPr marL="0" indent="0" algn="l" fontAlgn="base">
              <a:buNone/>
            </a:pPr>
            <a:r>
              <a:rPr lang="en-US" sz="1900" dirty="0"/>
              <a:t>3. </a:t>
            </a:r>
            <a:r>
              <a:rPr lang="en-US" sz="1900" dirty="0" err="1"/>
              <a:t>findLoadedClass</a:t>
            </a:r>
            <a:r>
              <a:rPr lang="en-US" sz="1900" dirty="0"/>
              <a:t>(String name): This method is used to verify whether the Class referenced by the JVM was previously loaded or not.</a:t>
            </a:r>
          </a:p>
          <a:p>
            <a:pPr marL="0" indent="0" algn="l" fontAlgn="base">
              <a:buNone/>
            </a:pPr>
            <a:r>
              <a:rPr lang="en-US" sz="1900" dirty="0"/>
              <a:t>4. </a:t>
            </a:r>
            <a:r>
              <a:rPr lang="en-US" sz="1900" dirty="0" err="1"/>
              <a:t>Class.forName</a:t>
            </a:r>
            <a:r>
              <a:rPr lang="en-US" sz="1900" dirty="0"/>
              <a:t>(String name, </a:t>
            </a:r>
            <a:r>
              <a:rPr lang="en-US" sz="1900" dirty="0" err="1"/>
              <a:t>boolean</a:t>
            </a:r>
            <a:r>
              <a:rPr lang="en-US" sz="1900" dirty="0"/>
              <a:t> initialize, </a:t>
            </a:r>
            <a:r>
              <a:rPr lang="en-US" sz="1900" dirty="0" err="1"/>
              <a:t>ClassLoader</a:t>
            </a:r>
            <a:r>
              <a:rPr lang="en-US" sz="1900" dirty="0"/>
              <a:t> loader): This method is used to load the class as well as initialize the class. This method also gives the option to choose any one of the </a:t>
            </a:r>
            <a:r>
              <a:rPr lang="en-US" sz="1900" dirty="0" err="1"/>
              <a:t>ClassLoaders</a:t>
            </a:r>
            <a:r>
              <a:rPr lang="en-US" sz="1900" dirty="0"/>
              <a:t>. If the </a:t>
            </a:r>
            <a:r>
              <a:rPr lang="en-US" sz="1900" dirty="0" err="1"/>
              <a:t>ClassLoader</a:t>
            </a:r>
            <a:r>
              <a:rPr lang="en-US" sz="1900" dirty="0"/>
              <a:t> parameter is NULL then Bootstrap </a:t>
            </a:r>
            <a:r>
              <a:rPr lang="en-US" sz="1900" dirty="0" err="1"/>
              <a:t>ClassLoader</a:t>
            </a:r>
            <a:r>
              <a:rPr lang="en-US" sz="1900" dirty="0"/>
              <a:t> is used.</a:t>
            </a:r>
          </a:p>
          <a:p>
            <a:pPr marL="0" indent="0" algn="l" fontAlgn="base">
              <a:buNone/>
            </a:pPr>
            <a:r>
              <a:rPr lang="en-US" sz="1900" dirty="0"/>
              <a:t>5. </a:t>
            </a:r>
            <a:r>
              <a:rPr lang="en-US" sz="1900" dirty="0" err="1"/>
              <a:t>findClass</a:t>
            </a:r>
            <a:r>
              <a:rPr lang="en-US" sz="1900" dirty="0"/>
              <a:t>(String name): This method is used to find a specified class. This method only finds but doesn’t load the class.</a:t>
            </a:r>
          </a:p>
          <a:p>
            <a:pPr marL="0" indent="0">
              <a:buNone/>
            </a:pPr>
            <a:endParaRPr lang="en-IN" dirty="0"/>
          </a:p>
        </p:txBody>
      </p:sp>
    </p:spTree>
    <p:extLst>
      <p:ext uri="{BB962C8B-B14F-4D97-AF65-F5344CB8AC3E}">
        <p14:creationId xmlns:p14="http://schemas.microsoft.com/office/powerpoint/2010/main" val="1450904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2993</TotalTime>
  <Words>1163</Words>
  <Application>Microsoft Office PowerPoint</Application>
  <PresentationFormat>Widescreen</PresentationFormat>
  <Paragraphs>64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urw-din</vt:lpstr>
      <vt:lpstr>Office Theme</vt:lpstr>
      <vt:lpstr>Difference Between JDK and JRE</vt:lpstr>
      <vt:lpstr>Class Loaders in Java</vt:lpstr>
      <vt:lpstr>Boot Strap Class Loader</vt:lpstr>
      <vt:lpstr>Extension Class Loader</vt:lpstr>
      <vt:lpstr>System Class Loader</vt:lpstr>
      <vt:lpstr>PowerPoint Presentation</vt:lpstr>
      <vt:lpstr>1. Delegation Model</vt:lpstr>
      <vt:lpstr>PowerPoint Presentation</vt:lpstr>
      <vt:lpstr>2. Visibility Principle</vt:lpstr>
      <vt:lpstr>3. Uniqueness Property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 gaikwad</dc:creator>
  <cp:lastModifiedBy>prashant gaikwad</cp:lastModifiedBy>
  <cp:revision>54</cp:revision>
  <dcterms:created xsi:type="dcterms:W3CDTF">2021-08-12T14:59:47Z</dcterms:created>
  <dcterms:modified xsi:type="dcterms:W3CDTF">2023-02-10T04:11:57Z</dcterms:modified>
</cp:coreProperties>
</file>