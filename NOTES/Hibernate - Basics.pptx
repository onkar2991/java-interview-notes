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8B59D-E7DA-4B57-BFAC-067BBE37DD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5A9263D-CF3F-4BBF-8725-4DDFF987C8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0A256EE-ADB6-48D2-B2BA-59319EB95FAC}"/>
              </a:ext>
            </a:extLst>
          </p:cNvPr>
          <p:cNvSpPr>
            <a:spLocks noGrp="1"/>
          </p:cNvSpPr>
          <p:nvPr>
            <p:ph type="dt" sz="half" idx="10"/>
          </p:nvPr>
        </p:nvSpPr>
        <p:spPr/>
        <p:txBody>
          <a:bodyPr/>
          <a:lstStyle/>
          <a:p>
            <a:fld id="{A9A6D8C6-D499-4CD7-9080-1E49221F37AC}" type="datetimeFigureOut">
              <a:rPr lang="en-IN" smtClean="0"/>
              <a:t>13-11-2022</a:t>
            </a:fld>
            <a:endParaRPr lang="en-IN"/>
          </a:p>
        </p:txBody>
      </p:sp>
      <p:sp>
        <p:nvSpPr>
          <p:cNvPr id="5" name="Footer Placeholder 4">
            <a:extLst>
              <a:ext uri="{FF2B5EF4-FFF2-40B4-BE49-F238E27FC236}">
                <a16:creationId xmlns:a16="http://schemas.microsoft.com/office/drawing/2014/main" id="{FA0FF82E-46C0-4791-B94F-8AAFDA4636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13F28C-0C29-45F9-B5A6-61E186507026}"/>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75842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6769D-BFDD-4F18-B71E-5B2991F185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E71FCC-F6BB-46E1-B0C8-16FE08B6CF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2CFABD-47C7-404F-9FEA-B149CACFFD36}"/>
              </a:ext>
            </a:extLst>
          </p:cNvPr>
          <p:cNvSpPr>
            <a:spLocks noGrp="1"/>
          </p:cNvSpPr>
          <p:nvPr>
            <p:ph type="dt" sz="half" idx="10"/>
          </p:nvPr>
        </p:nvSpPr>
        <p:spPr/>
        <p:txBody>
          <a:bodyPr/>
          <a:lstStyle/>
          <a:p>
            <a:fld id="{A9A6D8C6-D499-4CD7-9080-1E49221F37AC}" type="datetimeFigureOut">
              <a:rPr lang="en-IN" smtClean="0"/>
              <a:t>13-11-2022</a:t>
            </a:fld>
            <a:endParaRPr lang="en-IN"/>
          </a:p>
        </p:txBody>
      </p:sp>
      <p:sp>
        <p:nvSpPr>
          <p:cNvPr id="5" name="Footer Placeholder 4">
            <a:extLst>
              <a:ext uri="{FF2B5EF4-FFF2-40B4-BE49-F238E27FC236}">
                <a16:creationId xmlns:a16="http://schemas.microsoft.com/office/drawing/2014/main" id="{EB88F9A5-87FD-4115-A01C-B966574058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2C801E-2D39-4A77-8C1E-EAECECEB367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24729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2DC88-AB71-4F21-81DF-5F87D7D79B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6613F50-E715-42BF-84A6-E75758AB48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B8B33-E08C-4CA0-9CC3-806F113BEA1A}"/>
              </a:ext>
            </a:extLst>
          </p:cNvPr>
          <p:cNvSpPr>
            <a:spLocks noGrp="1"/>
          </p:cNvSpPr>
          <p:nvPr>
            <p:ph type="dt" sz="half" idx="10"/>
          </p:nvPr>
        </p:nvSpPr>
        <p:spPr/>
        <p:txBody>
          <a:bodyPr/>
          <a:lstStyle/>
          <a:p>
            <a:fld id="{A9A6D8C6-D499-4CD7-9080-1E49221F37AC}" type="datetimeFigureOut">
              <a:rPr lang="en-IN" smtClean="0"/>
              <a:t>13-11-2022</a:t>
            </a:fld>
            <a:endParaRPr lang="en-IN"/>
          </a:p>
        </p:txBody>
      </p:sp>
      <p:sp>
        <p:nvSpPr>
          <p:cNvPr id="5" name="Footer Placeholder 4">
            <a:extLst>
              <a:ext uri="{FF2B5EF4-FFF2-40B4-BE49-F238E27FC236}">
                <a16:creationId xmlns:a16="http://schemas.microsoft.com/office/drawing/2014/main" id="{E1E2A163-F793-4223-BB34-95E1158A32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428612-989E-4103-8C0A-AE8545359EA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038909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6E7C-81BD-41C5-A452-6EAE546BEA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0A3E81-14F8-423D-89EE-2F45CDA78C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5B42597-3B5D-4601-A6D6-EBC51E025C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FD93759-B0B1-420D-802F-2A00B6E7E36B}"/>
              </a:ext>
            </a:extLst>
          </p:cNvPr>
          <p:cNvSpPr>
            <a:spLocks noGrp="1"/>
          </p:cNvSpPr>
          <p:nvPr>
            <p:ph type="dt" sz="half" idx="10"/>
          </p:nvPr>
        </p:nvSpPr>
        <p:spPr/>
        <p:txBody>
          <a:bodyPr/>
          <a:lstStyle/>
          <a:p>
            <a:fld id="{A9A6D8C6-D499-4CD7-9080-1E49221F37AC}" type="datetimeFigureOut">
              <a:rPr lang="en-IN" smtClean="0"/>
              <a:t>13-11-2022</a:t>
            </a:fld>
            <a:endParaRPr lang="en-IN"/>
          </a:p>
        </p:txBody>
      </p:sp>
      <p:sp>
        <p:nvSpPr>
          <p:cNvPr id="6" name="Footer Placeholder 5">
            <a:extLst>
              <a:ext uri="{FF2B5EF4-FFF2-40B4-BE49-F238E27FC236}">
                <a16:creationId xmlns:a16="http://schemas.microsoft.com/office/drawing/2014/main" id="{25B0346A-06DC-4552-B787-4C8B08AB23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BF1500-8649-42D5-9FDA-C1D17C4D94F0}"/>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4034390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2F412-893B-4BAD-9222-2B1499D076A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5A0AF1-2C0F-4F48-95A7-587ADBDD5C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A275F0-B4A2-4CC0-8567-B5C1F6B1C3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064487-5112-4E99-97F5-E6FB03C999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F1B33D-9DA7-4A41-9D7E-55B54A350D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A059A3A-2B9F-44EF-8BEB-A56BB5ED834E}"/>
              </a:ext>
            </a:extLst>
          </p:cNvPr>
          <p:cNvSpPr>
            <a:spLocks noGrp="1"/>
          </p:cNvSpPr>
          <p:nvPr>
            <p:ph type="dt" sz="half" idx="10"/>
          </p:nvPr>
        </p:nvSpPr>
        <p:spPr/>
        <p:txBody>
          <a:bodyPr/>
          <a:lstStyle/>
          <a:p>
            <a:fld id="{A9A6D8C6-D499-4CD7-9080-1E49221F37AC}" type="datetimeFigureOut">
              <a:rPr lang="en-IN" smtClean="0"/>
              <a:t>13-11-2022</a:t>
            </a:fld>
            <a:endParaRPr lang="en-IN"/>
          </a:p>
        </p:txBody>
      </p:sp>
      <p:sp>
        <p:nvSpPr>
          <p:cNvPr id="8" name="Footer Placeholder 7">
            <a:extLst>
              <a:ext uri="{FF2B5EF4-FFF2-40B4-BE49-F238E27FC236}">
                <a16:creationId xmlns:a16="http://schemas.microsoft.com/office/drawing/2014/main" id="{DBC381BD-6C74-4F7F-A9BE-9676A13034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F8E0753-A0F0-4FB0-B4C8-1CE1FB324306}"/>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916256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A6D91-5FCC-4172-82EC-B8B46E21C6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C1A1DF3-2E3D-456D-948C-D24614EC4E63}"/>
              </a:ext>
            </a:extLst>
          </p:cNvPr>
          <p:cNvSpPr>
            <a:spLocks noGrp="1"/>
          </p:cNvSpPr>
          <p:nvPr>
            <p:ph type="dt" sz="half" idx="10"/>
          </p:nvPr>
        </p:nvSpPr>
        <p:spPr/>
        <p:txBody>
          <a:bodyPr/>
          <a:lstStyle/>
          <a:p>
            <a:fld id="{A9A6D8C6-D499-4CD7-9080-1E49221F37AC}" type="datetimeFigureOut">
              <a:rPr lang="en-IN" smtClean="0"/>
              <a:t>13-11-2022</a:t>
            </a:fld>
            <a:endParaRPr lang="en-IN"/>
          </a:p>
        </p:txBody>
      </p:sp>
      <p:sp>
        <p:nvSpPr>
          <p:cNvPr id="4" name="Footer Placeholder 3">
            <a:extLst>
              <a:ext uri="{FF2B5EF4-FFF2-40B4-BE49-F238E27FC236}">
                <a16:creationId xmlns:a16="http://schemas.microsoft.com/office/drawing/2014/main" id="{FFF6B5A1-AAE5-4FB6-8D27-7FA65D4FF0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25F4B5-2898-429F-A970-BD324CCD4D5F}"/>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194213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BD9A7A-58E5-458E-B4CB-AAD67A5EFFA5}"/>
              </a:ext>
            </a:extLst>
          </p:cNvPr>
          <p:cNvSpPr>
            <a:spLocks noGrp="1"/>
          </p:cNvSpPr>
          <p:nvPr>
            <p:ph type="dt" sz="half" idx="10"/>
          </p:nvPr>
        </p:nvSpPr>
        <p:spPr/>
        <p:txBody>
          <a:bodyPr/>
          <a:lstStyle/>
          <a:p>
            <a:fld id="{A9A6D8C6-D499-4CD7-9080-1E49221F37AC}" type="datetimeFigureOut">
              <a:rPr lang="en-IN" smtClean="0"/>
              <a:t>13-11-2022</a:t>
            </a:fld>
            <a:endParaRPr lang="en-IN"/>
          </a:p>
        </p:txBody>
      </p:sp>
      <p:sp>
        <p:nvSpPr>
          <p:cNvPr id="3" name="Footer Placeholder 2">
            <a:extLst>
              <a:ext uri="{FF2B5EF4-FFF2-40B4-BE49-F238E27FC236}">
                <a16:creationId xmlns:a16="http://schemas.microsoft.com/office/drawing/2014/main" id="{C5C573B6-26EF-4C85-9BFA-8E2C47573B0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0196F7-8B52-4A6B-88CC-0016D2E9145D}"/>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667179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83CEF-4060-42D5-9F68-DE162E3931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8DD1A7-6A23-4F5F-BA62-68195DB5A9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C1F8DE1-12BC-40D5-B4EC-82693692D1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9A25DB-4F54-4E03-B958-776A1ED550DA}"/>
              </a:ext>
            </a:extLst>
          </p:cNvPr>
          <p:cNvSpPr>
            <a:spLocks noGrp="1"/>
          </p:cNvSpPr>
          <p:nvPr>
            <p:ph type="dt" sz="half" idx="10"/>
          </p:nvPr>
        </p:nvSpPr>
        <p:spPr/>
        <p:txBody>
          <a:bodyPr/>
          <a:lstStyle/>
          <a:p>
            <a:fld id="{A9A6D8C6-D499-4CD7-9080-1E49221F37AC}" type="datetimeFigureOut">
              <a:rPr lang="en-IN" smtClean="0"/>
              <a:t>13-11-2022</a:t>
            </a:fld>
            <a:endParaRPr lang="en-IN"/>
          </a:p>
        </p:txBody>
      </p:sp>
      <p:sp>
        <p:nvSpPr>
          <p:cNvPr id="6" name="Footer Placeholder 5">
            <a:extLst>
              <a:ext uri="{FF2B5EF4-FFF2-40B4-BE49-F238E27FC236}">
                <a16:creationId xmlns:a16="http://schemas.microsoft.com/office/drawing/2014/main" id="{AB9EE867-6B1D-4AB1-823C-4C55C05542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58D8D8-5BAA-4C89-86FF-156DE9FF60D2}"/>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2408171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4267-CB7C-486F-B7E5-A67402E527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ECC613C-82B2-4DA7-8479-FE33C936FB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B1EB17-1800-4819-9A81-43527BD60B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6F945-E87E-4530-826D-37E9CD42F531}"/>
              </a:ext>
            </a:extLst>
          </p:cNvPr>
          <p:cNvSpPr>
            <a:spLocks noGrp="1"/>
          </p:cNvSpPr>
          <p:nvPr>
            <p:ph type="dt" sz="half" idx="10"/>
          </p:nvPr>
        </p:nvSpPr>
        <p:spPr/>
        <p:txBody>
          <a:bodyPr/>
          <a:lstStyle/>
          <a:p>
            <a:fld id="{A9A6D8C6-D499-4CD7-9080-1E49221F37AC}" type="datetimeFigureOut">
              <a:rPr lang="en-IN" smtClean="0"/>
              <a:t>13-11-2022</a:t>
            </a:fld>
            <a:endParaRPr lang="en-IN"/>
          </a:p>
        </p:txBody>
      </p:sp>
      <p:sp>
        <p:nvSpPr>
          <p:cNvPr id="6" name="Footer Placeholder 5">
            <a:extLst>
              <a:ext uri="{FF2B5EF4-FFF2-40B4-BE49-F238E27FC236}">
                <a16:creationId xmlns:a16="http://schemas.microsoft.com/office/drawing/2014/main" id="{8CA5A578-E4DC-4ADA-A3C8-CC1F75DCC3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95C3EA-F3A9-43A4-B771-E7310A6CE29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493361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8D649-0B86-4932-A3F3-2FE55007CB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4D4290-2212-455F-8CFA-5A5F8721C6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1A63E5-67C8-4D42-9B0C-B6DC98350156}"/>
              </a:ext>
            </a:extLst>
          </p:cNvPr>
          <p:cNvSpPr>
            <a:spLocks noGrp="1"/>
          </p:cNvSpPr>
          <p:nvPr>
            <p:ph type="dt" sz="half" idx="10"/>
          </p:nvPr>
        </p:nvSpPr>
        <p:spPr/>
        <p:txBody>
          <a:bodyPr/>
          <a:lstStyle/>
          <a:p>
            <a:fld id="{A9A6D8C6-D499-4CD7-9080-1E49221F37AC}" type="datetimeFigureOut">
              <a:rPr lang="en-IN" smtClean="0"/>
              <a:t>13-11-2022</a:t>
            </a:fld>
            <a:endParaRPr lang="en-IN"/>
          </a:p>
        </p:txBody>
      </p:sp>
      <p:sp>
        <p:nvSpPr>
          <p:cNvPr id="5" name="Footer Placeholder 4">
            <a:extLst>
              <a:ext uri="{FF2B5EF4-FFF2-40B4-BE49-F238E27FC236}">
                <a16:creationId xmlns:a16="http://schemas.microsoft.com/office/drawing/2014/main" id="{CF9C1DB8-AB24-4B9A-987D-B58E0B2697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D6F6B7-C0C5-4DA4-85BD-BA138E178698}"/>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1737326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843A7B-802E-420A-9054-9999508BF2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B54851-8002-4904-9716-F86E789C92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E64EF9-F89F-4495-AF22-E6571AACCFF7}"/>
              </a:ext>
            </a:extLst>
          </p:cNvPr>
          <p:cNvSpPr>
            <a:spLocks noGrp="1"/>
          </p:cNvSpPr>
          <p:nvPr>
            <p:ph type="dt" sz="half" idx="10"/>
          </p:nvPr>
        </p:nvSpPr>
        <p:spPr/>
        <p:txBody>
          <a:bodyPr/>
          <a:lstStyle/>
          <a:p>
            <a:fld id="{A9A6D8C6-D499-4CD7-9080-1E49221F37AC}" type="datetimeFigureOut">
              <a:rPr lang="en-IN" smtClean="0"/>
              <a:t>13-11-2022</a:t>
            </a:fld>
            <a:endParaRPr lang="en-IN"/>
          </a:p>
        </p:txBody>
      </p:sp>
      <p:sp>
        <p:nvSpPr>
          <p:cNvPr id="5" name="Footer Placeholder 4">
            <a:extLst>
              <a:ext uri="{FF2B5EF4-FFF2-40B4-BE49-F238E27FC236}">
                <a16:creationId xmlns:a16="http://schemas.microsoft.com/office/drawing/2014/main" id="{FF5C9A7B-9DBF-4061-A285-6A47367E2C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325262-DBEE-43EC-817A-584E0D57329E}"/>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564218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AAC875-E80F-4309-96CB-689383C5A2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443B97-0C9D-4EDE-8B0A-9A8B5E148F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2391E8-6A8E-49B6-83EA-13F47E755F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6D8C6-D499-4CD7-9080-1E49221F37AC}" type="datetimeFigureOut">
              <a:rPr lang="en-IN" smtClean="0"/>
              <a:t>13-11-2022</a:t>
            </a:fld>
            <a:endParaRPr lang="en-IN"/>
          </a:p>
        </p:txBody>
      </p:sp>
      <p:sp>
        <p:nvSpPr>
          <p:cNvPr id="5" name="Footer Placeholder 4">
            <a:extLst>
              <a:ext uri="{FF2B5EF4-FFF2-40B4-BE49-F238E27FC236}">
                <a16:creationId xmlns:a16="http://schemas.microsoft.com/office/drawing/2014/main" id="{27983029-60F6-4D33-B1B3-66F771FB3C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4D5A56-975D-4176-A871-66C018D2F0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345B19-1A90-476D-85DA-9750C8D70378}" type="slidenum">
              <a:rPr lang="en-IN" smtClean="0"/>
              <a:t>‹#›</a:t>
            </a:fld>
            <a:endParaRPr lang="en-IN"/>
          </a:p>
        </p:txBody>
      </p:sp>
    </p:spTree>
    <p:extLst>
      <p:ext uri="{BB962C8B-B14F-4D97-AF65-F5344CB8AC3E}">
        <p14:creationId xmlns:p14="http://schemas.microsoft.com/office/powerpoint/2010/main" val="894267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5E26-A669-419F-9BF7-0ED888F286B1}"/>
              </a:ext>
            </a:extLst>
          </p:cNvPr>
          <p:cNvSpPr>
            <a:spLocks noGrp="1"/>
          </p:cNvSpPr>
          <p:nvPr>
            <p:ph type="title"/>
          </p:nvPr>
        </p:nvSpPr>
        <p:spPr>
          <a:xfrm>
            <a:off x="838200" y="365126"/>
            <a:ext cx="10515600" cy="682439"/>
          </a:xfrm>
        </p:spPr>
        <p:txBody>
          <a:bodyPr>
            <a:normAutofit fontScale="90000"/>
          </a:bodyPr>
          <a:lstStyle/>
          <a:p>
            <a:br>
              <a:rPr lang="en-IN" b="1" i="0" u="none" strike="noStrike" dirty="0">
                <a:solidFill>
                  <a:srgbClr val="000000"/>
                </a:solidFill>
                <a:effectLst/>
                <a:latin typeface="Calibri" panose="020F0502020204030204" pitchFamily="34" charset="0"/>
                <a:cs typeface="Calibri" panose="020F0502020204030204" pitchFamily="34" charset="0"/>
              </a:rPr>
            </a:br>
            <a:br>
              <a:rPr lang="en-IN" b="1" i="0" u="none" strike="noStrike" dirty="0">
                <a:solidFill>
                  <a:srgbClr val="000000"/>
                </a:solidFill>
                <a:effectLst/>
                <a:latin typeface="Calibri" panose="020F0502020204030204" pitchFamily="34" charset="0"/>
                <a:cs typeface="Calibri" panose="020F0502020204030204" pitchFamily="34" charset="0"/>
              </a:rPr>
            </a:br>
            <a:r>
              <a:rPr lang="en-IN" b="1" i="0" dirty="0">
                <a:solidFill>
                  <a:srgbClr val="273239"/>
                </a:solidFill>
                <a:effectLst/>
                <a:latin typeface="sofia-pro"/>
              </a:rPr>
              <a:t>Hibernate</a:t>
            </a:r>
            <a:br>
              <a:rPr lang="en-IN" b="1" i="0" dirty="0">
                <a:solidFill>
                  <a:srgbClr val="273239"/>
                </a:solidFill>
                <a:effectLst/>
                <a:latin typeface="sofia-pro"/>
              </a:rPr>
            </a:br>
            <a:br>
              <a:rPr lang="en-IN" b="0" i="0" u="none" strike="noStrike" dirty="0">
                <a:solidFill>
                  <a:srgbClr val="000000"/>
                </a:solidFill>
                <a:effectLst/>
                <a:latin typeface="Titillium Web"/>
              </a:rPr>
            </a:br>
            <a:endParaRPr lang="en-IN" b="1" dirty="0"/>
          </a:p>
        </p:txBody>
      </p:sp>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1047564"/>
            <a:ext cx="10515600" cy="5810435"/>
          </a:xfrm>
        </p:spPr>
        <p:txBody>
          <a:bodyPr>
            <a:normAutofit fontScale="92500" lnSpcReduction="10000"/>
          </a:bodyPr>
          <a:lstStyle/>
          <a:p>
            <a:r>
              <a:rPr lang="en-US" sz="1600" dirty="0"/>
              <a:t>Hibernate is ORM tool. Object-relational mapping or ORM is the programming technique to map application domain model objects to the relational database tables. Hibernate is java based ORM tool that provides framework for mapping application domain objects to the relational database tables and vice versa.</a:t>
            </a:r>
          </a:p>
          <a:p>
            <a:r>
              <a:rPr lang="en-US" sz="1600" b="1" dirty="0"/>
              <a:t>Some of the benefits of using Hibernate as ORM tool are:</a:t>
            </a:r>
          </a:p>
          <a:p>
            <a:r>
              <a:rPr lang="en-US" sz="1600" dirty="0"/>
              <a:t>Hibernate supports mapping of java classes to database tables and vice versa. It provides features to perform CRUD operations across all the major relational databases.</a:t>
            </a:r>
          </a:p>
          <a:p>
            <a:r>
              <a:rPr lang="en-US" sz="1600" dirty="0"/>
              <a:t>Hibernate eliminates all the boiler-plate code that comes with JDBC and takes care of managing resources, so we can focus on business use cases rather than making sure that database operations are not causing resource leaks.</a:t>
            </a:r>
          </a:p>
          <a:p>
            <a:r>
              <a:rPr lang="en-US" sz="1600" dirty="0"/>
              <a:t>Hibernate supports transaction management and make sure there is no inconsistent data present in the system.</a:t>
            </a:r>
          </a:p>
          <a:p>
            <a:r>
              <a:rPr lang="en-US" sz="1600" dirty="0"/>
              <a:t>Since we use XML, property files or annotations for mapping java classes to database tables, it provides an abstraction layer between application and database.</a:t>
            </a:r>
          </a:p>
          <a:p>
            <a:r>
              <a:rPr lang="en-US" sz="1600" dirty="0"/>
              <a:t>Hibernate helps us in mapping joins, collections, inheritance objects and we can easily visualize how our model classes are representing database tables.</a:t>
            </a:r>
          </a:p>
          <a:p>
            <a:r>
              <a:rPr lang="en-US" sz="1600" dirty="0"/>
              <a:t>Hibernate provides a powerful query language (HQL) that is similar to SQL. However, HQL is fully object-oriented and understands concepts like inheritance, polymorphism and association.</a:t>
            </a:r>
          </a:p>
          <a:p>
            <a:r>
              <a:rPr lang="en-US" sz="1600" dirty="0"/>
              <a:t>Hibernate also offers integration with some external modules. For example Hibernate Validator is the reference implementation of Bean Validation (JSR 303).</a:t>
            </a:r>
          </a:p>
          <a:p>
            <a:r>
              <a:rPr lang="en-US" sz="1600" dirty="0"/>
              <a:t>Hibernate is an open source project from Red Hat Community and used worldwide. This makes it a better choice than others because learning curve is small and there are tons of online documentations and help is easily available in forums.</a:t>
            </a:r>
          </a:p>
          <a:p>
            <a:r>
              <a:rPr lang="en-US" sz="1600" dirty="0"/>
              <a:t>Hibernate is easy to integrate with other Java EE frameworks, it’s so popular that Spring Framework provides built-in support for integrating hibernate with Spring applications.</a:t>
            </a:r>
          </a:p>
          <a:p>
            <a:r>
              <a:rPr lang="en-US" sz="1600" dirty="0"/>
              <a:t>I hope all the above benefits will convince you that Hibernate is the best choice for your application object-relational mapping requirements. </a:t>
            </a:r>
          </a:p>
        </p:txBody>
      </p:sp>
    </p:spTree>
    <p:extLst>
      <p:ext uri="{BB962C8B-B14F-4D97-AF65-F5344CB8AC3E}">
        <p14:creationId xmlns:p14="http://schemas.microsoft.com/office/powerpoint/2010/main" val="3062579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5E26-A669-419F-9BF7-0ED888F286B1}"/>
              </a:ext>
            </a:extLst>
          </p:cNvPr>
          <p:cNvSpPr>
            <a:spLocks noGrp="1"/>
          </p:cNvSpPr>
          <p:nvPr>
            <p:ph type="title"/>
          </p:nvPr>
        </p:nvSpPr>
        <p:spPr>
          <a:xfrm>
            <a:off x="838200" y="365126"/>
            <a:ext cx="10515600" cy="682439"/>
          </a:xfrm>
        </p:spPr>
        <p:txBody>
          <a:bodyPr>
            <a:normAutofit fontScale="90000"/>
          </a:bodyPr>
          <a:lstStyle/>
          <a:p>
            <a:br>
              <a:rPr lang="en-IN" b="1" i="0" u="none" strike="noStrike" dirty="0">
                <a:solidFill>
                  <a:srgbClr val="000000"/>
                </a:solidFill>
                <a:effectLst/>
                <a:latin typeface="Calibri" panose="020F0502020204030204" pitchFamily="34" charset="0"/>
                <a:cs typeface="Calibri" panose="020F0502020204030204" pitchFamily="34" charset="0"/>
              </a:rPr>
            </a:br>
            <a:br>
              <a:rPr lang="en-IN" b="1" i="0" u="none" strike="noStrike" dirty="0">
                <a:solidFill>
                  <a:srgbClr val="000000"/>
                </a:solidFill>
                <a:effectLst/>
                <a:latin typeface="Calibri" panose="020F0502020204030204" pitchFamily="34" charset="0"/>
                <a:cs typeface="Calibri" panose="020F0502020204030204" pitchFamily="34" charset="0"/>
              </a:rPr>
            </a:br>
            <a:r>
              <a:rPr lang="en-IN" b="1" i="0" dirty="0">
                <a:solidFill>
                  <a:srgbClr val="273239"/>
                </a:solidFill>
                <a:effectLst/>
                <a:latin typeface="sofia-pro"/>
              </a:rPr>
              <a:t>Hibernate Architecture</a:t>
            </a:r>
            <a:br>
              <a:rPr lang="en-IN" b="1" i="0" dirty="0">
                <a:solidFill>
                  <a:srgbClr val="273239"/>
                </a:solidFill>
                <a:effectLst/>
                <a:latin typeface="sofia-pro"/>
              </a:rPr>
            </a:br>
            <a:br>
              <a:rPr lang="en-IN" b="0" i="0" u="none" strike="noStrike" dirty="0">
                <a:solidFill>
                  <a:srgbClr val="000000"/>
                </a:solidFill>
                <a:effectLst/>
                <a:latin typeface="Titillium Web"/>
              </a:rPr>
            </a:br>
            <a:endParaRPr lang="en-IN" b="1" dirty="0"/>
          </a:p>
        </p:txBody>
      </p:sp>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1047564"/>
            <a:ext cx="10515600" cy="5810435"/>
          </a:xfrm>
        </p:spPr>
        <p:txBody>
          <a:bodyPr>
            <a:normAutofit/>
          </a:bodyPr>
          <a:lstStyle/>
          <a:p>
            <a:r>
              <a:rPr lang="en-US" sz="1600" dirty="0"/>
              <a:t>Hibernate is a middleware used for object-relational mapping and for performing efficient object persistence. To understand about the architecture of Hibernate, let's first take a look at how Hibernate fits in the development of an application, between an application and the database server.</a:t>
            </a:r>
          </a:p>
          <a:p>
            <a:r>
              <a:rPr lang="en-US" sz="1600" dirty="0"/>
              <a:t>A Java application code comprises of all the classes that define the business logic of application. These classes communicate with the Hibernate.</a:t>
            </a:r>
          </a:p>
          <a:p>
            <a:r>
              <a:rPr lang="en-US" sz="1600" dirty="0"/>
              <a:t>Next comes, the Hibernate and its core interfaces, using which we could persist(store and retrieve) the objects of our business layer classes by communicating with the database server.</a:t>
            </a:r>
          </a:p>
          <a:p>
            <a:r>
              <a:rPr lang="en-US" sz="1600" dirty="0"/>
              <a:t>Hibernate uses the Java core API, Java Database Connectivity(JDBC), Java Transaction API(JTA), Java Naming and Directory Interface(JNDI) to communicate with database in order to persist the state of object by performing create, read, update, delete(CRUD) operations.</a:t>
            </a:r>
          </a:p>
          <a:p>
            <a:endParaRPr lang="en-US" sz="1600" dirty="0"/>
          </a:p>
          <a:p>
            <a:pPr marL="0" indent="0">
              <a:buNone/>
            </a:pPr>
            <a:endParaRPr lang="en-US" sz="1600" dirty="0"/>
          </a:p>
          <a:p>
            <a:endParaRPr lang="en-US" sz="1600" dirty="0"/>
          </a:p>
        </p:txBody>
      </p:sp>
    </p:spTree>
    <p:extLst>
      <p:ext uri="{BB962C8B-B14F-4D97-AF65-F5344CB8AC3E}">
        <p14:creationId xmlns:p14="http://schemas.microsoft.com/office/powerpoint/2010/main" val="3278776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D771E-D4FF-40FD-A81F-9021DEFEFEBB}"/>
              </a:ext>
            </a:extLst>
          </p:cNvPr>
          <p:cNvSpPr>
            <a:spLocks noGrp="1"/>
          </p:cNvSpPr>
          <p:nvPr>
            <p:ph type="title"/>
          </p:nvPr>
        </p:nvSpPr>
        <p:spPr>
          <a:xfrm>
            <a:off x="838200" y="365126"/>
            <a:ext cx="10515600" cy="726828"/>
          </a:xfrm>
        </p:spPr>
        <p:txBody>
          <a:bodyPr/>
          <a:lstStyle/>
          <a:p>
            <a:r>
              <a:rPr lang="en-IN" b="1" i="0" dirty="0">
                <a:solidFill>
                  <a:srgbClr val="273239"/>
                </a:solidFill>
                <a:effectLst/>
                <a:latin typeface="urw-din"/>
              </a:rPr>
              <a:t>Need of Hibernate Framework</a:t>
            </a:r>
            <a:endParaRPr lang="en-IN" dirty="0"/>
          </a:p>
        </p:txBody>
      </p:sp>
      <p:sp>
        <p:nvSpPr>
          <p:cNvPr id="3" name="Content Placeholder 2">
            <a:extLst>
              <a:ext uri="{FF2B5EF4-FFF2-40B4-BE49-F238E27FC236}">
                <a16:creationId xmlns:a16="http://schemas.microsoft.com/office/drawing/2014/main" id="{8A08CEEA-BC18-4D78-A8EB-3C2A2AB1DCB6}"/>
              </a:ext>
            </a:extLst>
          </p:cNvPr>
          <p:cNvSpPr>
            <a:spLocks noGrp="1"/>
          </p:cNvSpPr>
          <p:nvPr>
            <p:ph idx="1"/>
          </p:nvPr>
        </p:nvSpPr>
        <p:spPr>
          <a:xfrm>
            <a:off x="838200" y="1349406"/>
            <a:ext cx="10515600" cy="4827557"/>
          </a:xfrm>
        </p:spPr>
        <p:txBody>
          <a:bodyPr/>
          <a:lstStyle/>
          <a:p>
            <a:r>
              <a:rPr lang="en-US" sz="1600" dirty="0"/>
              <a:t>Hibernate is used to overcome the of limitations of JDBC like:</a:t>
            </a:r>
          </a:p>
          <a:p>
            <a:pPr marL="342900" indent="-342900">
              <a:buAutoNum type="arabicParenR"/>
            </a:pPr>
            <a:r>
              <a:rPr lang="en-US" sz="1600" dirty="0"/>
              <a:t>JDBC code is dependent upon the </a:t>
            </a:r>
            <a:r>
              <a:rPr lang="en-US" sz="1600"/>
              <a:t>Database being </a:t>
            </a:r>
            <a:r>
              <a:rPr lang="en-US" sz="1600" dirty="0"/>
              <a:t>used i.e. our persistence logic is dependent, because of using JDBC. Here we are inserting a record into Employee table but our query is Database software-dependent i.e. Here we are using MySQL. But if we change our Database then this query won’t work.</a:t>
            </a:r>
          </a:p>
          <a:p>
            <a:pPr marL="342900" indent="-342900">
              <a:buAutoNum type="arabicParenR"/>
            </a:pPr>
            <a:r>
              <a:rPr lang="en-US" sz="1600" dirty="0"/>
              <a:t>If working with JDBC, changing of Database in middle of the project is very costly.</a:t>
            </a:r>
          </a:p>
          <a:p>
            <a:pPr marL="342900" indent="-342900">
              <a:buAutoNum type="arabicParenR"/>
            </a:pPr>
            <a:r>
              <a:rPr lang="en-US" sz="1600" dirty="0"/>
              <a:t>JDBC code is not portable code across the multiple database software.</a:t>
            </a:r>
          </a:p>
          <a:p>
            <a:pPr marL="342900" indent="-342900">
              <a:buAutoNum type="arabicParenR"/>
            </a:pPr>
            <a:r>
              <a:rPr lang="en-US" sz="1600" dirty="0"/>
              <a:t>While working with JDBC, There is no support Object-level relationship.</a:t>
            </a:r>
          </a:p>
          <a:p>
            <a:endParaRPr lang="en-US" dirty="0"/>
          </a:p>
        </p:txBody>
      </p:sp>
    </p:spTree>
    <p:extLst>
      <p:ext uri="{BB962C8B-B14F-4D97-AF65-F5344CB8AC3E}">
        <p14:creationId xmlns:p14="http://schemas.microsoft.com/office/powerpoint/2010/main" val="3008371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E4851BD-3B23-41B6-8E5E-F5A4C874EA53}"/>
              </a:ext>
            </a:extLst>
          </p:cNvPr>
          <p:cNvPicPr>
            <a:picLocks noGrp="1" noChangeAspect="1"/>
          </p:cNvPicPr>
          <p:nvPr>
            <p:ph idx="1"/>
          </p:nvPr>
        </p:nvPicPr>
        <p:blipFill>
          <a:blip r:embed="rId2"/>
          <a:stretch>
            <a:fillRect/>
          </a:stretch>
        </p:blipFill>
        <p:spPr>
          <a:xfrm>
            <a:off x="838200" y="369720"/>
            <a:ext cx="10515600" cy="5605798"/>
          </a:xfrm>
        </p:spPr>
      </p:pic>
    </p:spTree>
    <p:extLst>
      <p:ext uri="{BB962C8B-B14F-4D97-AF65-F5344CB8AC3E}">
        <p14:creationId xmlns:p14="http://schemas.microsoft.com/office/powerpoint/2010/main" val="4114116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EA1E9-EC66-4B3A-B856-244FF10C1A8F}"/>
              </a:ext>
            </a:extLst>
          </p:cNvPr>
          <p:cNvSpPr>
            <a:spLocks noGrp="1"/>
          </p:cNvSpPr>
          <p:nvPr>
            <p:ph type="title"/>
          </p:nvPr>
        </p:nvSpPr>
        <p:spPr>
          <a:xfrm>
            <a:off x="491970" y="268225"/>
            <a:ext cx="10515600" cy="825623"/>
          </a:xfrm>
        </p:spPr>
        <p:txBody>
          <a:bodyPr>
            <a:normAutofit/>
          </a:bodyPr>
          <a:lstStyle/>
          <a:p>
            <a:r>
              <a:rPr lang="en-US" sz="1600" dirty="0"/>
              <a:t>5) In JDBC, Exception handling is mandatory. Here We can see that we are handling lots of Exception for connection.</a:t>
            </a:r>
            <a:endParaRPr lang="en-IN" sz="1600" dirty="0"/>
          </a:p>
        </p:txBody>
      </p:sp>
      <p:pic>
        <p:nvPicPr>
          <p:cNvPr id="5" name="Content Placeholder 4">
            <a:extLst>
              <a:ext uri="{FF2B5EF4-FFF2-40B4-BE49-F238E27FC236}">
                <a16:creationId xmlns:a16="http://schemas.microsoft.com/office/drawing/2014/main" id="{810157D7-EC7B-44E5-A71C-11D8B01078C2}"/>
              </a:ext>
            </a:extLst>
          </p:cNvPr>
          <p:cNvPicPr>
            <a:picLocks noGrp="1" noChangeAspect="1"/>
          </p:cNvPicPr>
          <p:nvPr>
            <p:ph idx="1"/>
          </p:nvPr>
        </p:nvPicPr>
        <p:blipFill>
          <a:blip r:embed="rId2"/>
          <a:stretch>
            <a:fillRect/>
          </a:stretch>
        </p:blipFill>
        <p:spPr>
          <a:xfrm>
            <a:off x="492125" y="1704592"/>
            <a:ext cx="10861675" cy="3761553"/>
          </a:xfrm>
        </p:spPr>
      </p:pic>
    </p:spTree>
    <p:extLst>
      <p:ext uri="{BB962C8B-B14F-4D97-AF65-F5344CB8AC3E}">
        <p14:creationId xmlns:p14="http://schemas.microsoft.com/office/powerpoint/2010/main" val="4147547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EA1E9-EC66-4B3A-B856-244FF10C1A8F}"/>
              </a:ext>
            </a:extLst>
          </p:cNvPr>
          <p:cNvSpPr>
            <a:spLocks noGrp="1"/>
          </p:cNvSpPr>
          <p:nvPr>
            <p:ph type="title"/>
          </p:nvPr>
        </p:nvSpPr>
        <p:spPr>
          <a:xfrm>
            <a:off x="491970" y="268225"/>
            <a:ext cx="10515600" cy="825623"/>
          </a:xfrm>
        </p:spPr>
        <p:txBody>
          <a:bodyPr>
            <a:normAutofit/>
          </a:bodyPr>
          <a:lstStyle/>
          <a:p>
            <a:r>
              <a:rPr lang="en-US" sz="1600" dirty="0"/>
              <a:t>6) In JDBC, there occurs a Boilerplate problem i.e. For each and every project we have to write the below code. That increases the code length and reduce the readability.</a:t>
            </a:r>
            <a:endParaRPr lang="en-IN" sz="1600" dirty="0"/>
          </a:p>
        </p:txBody>
      </p:sp>
      <p:pic>
        <p:nvPicPr>
          <p:cNvPr id="7" name="Content Placeholder 6">
            <a:extLst>
              <a:ext uri="{FF2B5EF4-FFF2-40B4-BE49-F238E27FC236}">
                <a16:creationId xmlns:a16="http://schemas.microsoft.com/office/drawing/2014/main" id="{43779D4A-1CA5-4EF4-868B-F120E1DDE706}"/>
              </a:ext>
            </a:extLst>
          </p:cNvPr>
          <p:cNvPicPr>
            <a:picLocks noGrp="1" noChangeAspect="1"/>
          </p:cNvPicPr>
          <p:nvPr>
            <p:ph idx="1"/>
          </p:nvPr>
        </p:nvPicPr>
        <p:blipFill>
          <a:blip r:embed="rId2"/>
          <a:stretch>
            <a:fillRect/>
          </a:stretch>
        </p:blipFill>
        <p:spPr>
          <a:xfrm>
            <a:off x="319088" y="2576345"/>
            <a:ext cx="11034712" cy="2294272"/>
          </a:xfrm>
        </p:spPr>
      </p:pic>
    </p:spTree>
    <p:extLst>
      <p:ext uri="{BB962C8B-B14F-4D97-AF65-F5344CB8AC3E}">
        <p14:creationId xmlns:p14="http://schemas.microsoft.com/office/powerpoint/2010/main" val="2711685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1A7AA-2CC0-48F8-8E28-7BA989D47EAF}"/>
              </a:ext>
            </a:extLst>
          </p:cNvPr>
          <p:cNvSpPr>
            <a:spLocks noGrp="1"/>
          </p:cNvSpPr>
          <p:nvPr>
            <p:ph type="title"/>
          </p:nvPr>
        </p:nvSpPr>
        <p:spPr>
          <a:xfrm>
            <a:off x="838200" y="365125"/>
            <a:ext cx="10515600" cy="771217"/>
          </a:xfrm>
        </p:spPr>
        <p:txBody>
          <a:bodyPr>
            <a:normAutofit/>
          </a:bodyPr>
          <a:lstStyle/>
          <a:p>
            <a:r>
              <a:rPr lang="en-US" sz="3200" b="1" i="0" dirty="0">
                <a:solidFill>
                  <a:srgbClr val="273239"/>
                </a:solidFill>
                <a:effectLst/>
                <a:latin typeface="urw-din"/>
              </a:rPr>
              <a:t>Functionalities supported by Hibernate framework</a:t>
            </a:r>
            <a:endParaRPr lang="en-IN" sz="3200" dirty="0"/>
          </a:p>
        </p:txBody>
      </p:sp>
      <p:sp>
        <p:nvSpPr>
          <p:cNvPr id="3" name="Content Placeholder 2">
            <a:extLst>
              <a:ext uri="{FF2B5EF4-FFF2-40B4-BE49-F238E27FC236}">
                <a16:creationId xmlns:a16="http://schemas.microsoft.com/office/drawing/2014/main" id="{A0451D39-3CD7-4215-9018-F84C79FD0EA8}"/>
              </a:ext>
            </a:extLst>
          </p:cNvPr>
          <p:cNvSpPr>
            <a:spLocks noGrp="1"/>
          </p:cNvSpPr>
          <p:nvPr>
            <p:ph idx="1"/>
          </p:nvPr>
        </p:nvSpPr>
        <p:spPr>
          <a:xfrm>
            <a:off x="838200" y="1207363"/>
            <a:ext cx="10515600" cy="4969600"/>
          </a:xfrm>
        </p:spPr>
        <p:txBody>
          <a:bodyPr>
            <a:normAutofit fontScale="77500" lnSpcReduction="20000"/>
          </a:bodyPr>
          <a:lstStyle/>
          <a:p>
            <a:pPr algn="l" fontAlgn="base">
              <a:buFont typeface="Arial" panose="020B0604020202020204" pitchFamily="34" charset="0"/>
              <a:buChar char="•"/>
            </a:pPr>
            <a:r>
              <a:rPr lang="en-US" b="0" i="0" dirty="0">
                <a:solidFill>
                  <a:srgbClr val="273239"/>
                </a:solidFill>
                <a:effectLst/>
                <a:latin typeface="urw-din"/>
              </a:rPr>
              <a:t>Hibernate framework support </a:t>
            </a:r>
            <a:r>
              <a:rPr lang="en-US" b="1" i="0" dirty="0">
                <a:solidFill>
                  <a:srgbClr val="273239"/>
                </a:solidFill>
                <a:effectLst/>
                <a:latin typeface="urw-din"/>
              </a:rPr>
              <a:t>Auto DDL</a:t>
            </a:r>
            <a:r>
              <a:rPr lang="en-US" b="0" i="0" dirty="0">
                <a:solidFill>
                  <a:srgbClr val="273239"/>
                </a:solidFill>
                <a:effectLst/>
                <a:latin typeface="urw-din"/>
              </a:rPr>
              <a:t> operations. In JDBC manually we have to create table and declare the data-type for each and every column. But Hibernate can do </a:t>
            </a:r>
            <a:r>
              <a:rPr lang="en-US" b="1" i="0" dirty="0">
                <a:solidFill>
                  <a:srgbClr val="273239"/>
                </a:solidFill>
                <a:effectLst/>
                <a:latin typeface="urw-din"/>
              </a:rPr>
              <a:t>DDL operations</a:t>
            </a:r>
            <a:r>
              <a:rPr lang="en-US" b="0" i="0" dirty="0">
                <a:solidFill>
                  <a:srgbClr val="273239"/>
                </a:solidFill>
                <a:effectLst/>
                <a:latin typeface="urw-din"/>
              </a:rPr>
              <a:t> for you internally like creation of table, drop a table, alter a table etc.</a:t>
            </a:r>
          </a:p>
          <a:p>
            <a:pPr algn="l" fontAlgn="base">
              <a:buFont typeface="Arial" panose="020B0604020202020204" pitchFamily="34" charset="0"/>
              <a:buChar char="•"/>
            </a:pPr>
            <a:r>
              <a:rPr lang="en-US" b="0" i="0" dirty="0">
                <a:solidFill>
                  <a:srgbClr val="273239"/>
                </a:solidFill>
                <a:effectLst/>
                <a:latin typeface="urw-din"/>
              </a:rPr>
              <a:t>Hibernate supports </a:t>
            </a:r>
            <a:r>
              <a:rPr lang="en-US" b="1" i="0" dirty="0">
                <a:solidFill>
                  <a:srgbClr val="273239"/>
                </a:solidFill>
                <a:effectLst/>
                <a:latin typeface="urw-din"/>
              </a:rPr>
              <a:t>Auto Primary key generation</a:t>
            </a:r>
            <a:r>
              <a:rPr lang="en-US" b="0" i="0" dirty="0">
                <a:solidFill>
                  <a:srgbClr val="273239"/>
                </a:solidFill>
                <a:effectLst/>
                <a:latin typeface="urw-din"/>
              </a:rPr>
              <a:t>. It means in JDBC we have to manually set a primary key for a table. But Hibernate can this task for you.</a:t>
            </a:r>
          </a:p>
          <a:p>
            <a:pPr algn="l" fontAlgn="base">
              <a:buFont typeface="Arial" panose="020B0604020202020204" pitchFamily="34" charset="0"/>
              <a:buChar char="•"/>
            </a:pPr>
            <a:r>
              <a:rPr lang="en-US" b="0" i="0" dirty="0">
                <a:solidFill>
                  <a:srgbClr val="273239"/>
                </a:solidFill>
                <a:effectLst/>
                <a:latin typeface="urw-din"/>
              </a:rPr>
              <a:t>Hibernate framework is independent of Database because it supports </a:t>
            </a:r>
            <a:r>
              <a:rPr lang="en-US" b="1" i="0" dirty="0">
                <a:solidFill>
                  <a:srgbClr val="273239"/>
                </a:solidFill>
                <a:effectLst/>
                <a:latin typeface="urw-din"/>
              </a:rPr>
              <a:t>HQL (Hibernate Query Language)</a:t>
            </a:r>
            <a:r>
              <a:rPr lang="en-US" b="0" i="0" dirty="0">
                <a:solidFill>
                  <a:srgbClr val="273239"/>
                </a:solidFill>
                <a:effectLst/>
                <a:latin typeface="urw-din"/>
              </a:rPr>
              <a:t> which is not specific to any database, whereas JDBC is database dependent.</a:t>
            </a:r>
          </a:p>
          <a:p>
            <a:pPr algn="l" fontAlgn="base">
              <a:buFont typeface="Arial" panose="020B0604020202020204" pitchFamily="34" charset="0"/>
              <a:buChar char="•"/>
            </a:pPr>
            <a:r>
              <a:rPr lang="en-US" b="0" i="0" dirty="0">
                <a:solidFill>
                  <a:srgbClr val="273239"/>
                </a:solidFill>
                <a:effectLst/>
                <a:latin typeface="urw-din"/>
              </a:rPr>
              <a:t>In Hibernate, </a:t>
            </a:r>
            <a:r>
              <a:rPr lang="en-US" b="1" i="0" dirty="0">
                <a:solidFill>
                  <a:srgbClr val="273239"/>
                </a:solidFill>
                <a:effectLst/>
                <a:latin typeface="urw-din"/>
              </a:rPr>
              <a:t>Exception Handling is not mandatory</a:t>
            </a:r>
            <a:r>
              <a:rPr lang="en-US" b="0" i="0" dirty="0">
                <a:solidFill>
                  <a:srgbClr val="273239"/>
                </a:solidFill>
                <a:effectLst/>
                <a:latin typeface="urw-din"/>
              </a:rPr>
              <a:t>, whereas In JDBC exception handling is mandatory.</a:t>
            </a:r>
          </a:p>
          <a:p>
            <a:pPr algn="l" fontAlgn="base">
              <a:buFont typeface="Arial" panose="020B0604020202020204" pitchFamily="34" charset="0"/>
              <a:buChar char="•"/>
            </a:pPr>
            <a:r>
              <a:rPr lang="en-US" b="0" i="0" dirty="0">
                <a:solidFill>
                  <a:srgbClr val="273239"/>
                </a:solidFill>
                <a:effectLst/>
                <a:latin typeface="urw-din"/>
              </a:rPr>
              <a:t>Hibernate supports </a:t>
            </a:r>
            <a:r>
              <a:rPr lang="en-US" b="1" i="0" dirty="0">
                <a:solidFill>
                  <a:srgbClr val="273239"/>
                </a:solidFill>
                <a:effectLst/>
                <a:latin typeface="urw-din"/>
              </a:rPr>
              <a:t>Cache Memory</a:t>
            </a:r>
            <a:r>
              <a:rPr lang="en-US" b="0" i="0" dirty="0">
                <a:solidFill>
                  <a:srgbClr val="273239"/>
                </a:solidFill>
                <a:effectLst/>
                <a:latin typeface="urw-din"/>
              </a:rPr>
              <a:t> whereas JDBC does not support cache memory.</a:t>
            </a:r>
          </a:p>
          <a:p>
            <a:pPr algn="l" fontAlgn="base">
              <a:buFont typeface="Arial" panose="020B0604020202020204" pitchFamily="34" charset="0"/>
              <a:buChar char="•"/>
            </a:pPr>
            <a:r>
              <a:rPr lang="en-US" b="0" i="0" dirty="0">
                <a:solidFill>
                  <a:srgbClr val="273239"/>
                </a:solidFill>
                <a:effectLst/>
                <a:latin typeface="urw-din"/>
              </a:rPr>
              <a:t>Hibernate is a </a:t>
            </a:r>
            <a:r>
              <a:rPr lang="en-US" b="1" i="0" dirty="0">
                <a:solidFill>
                  <a:srgbClr val="273239"/>
                </a:solidFill>
                <a:effectLst/>
                <a:latin typeface="urw-din"/>
              </a:rPr>
              <a:t>ORM tool</a:t>
            </a:r>
            <a:r>
              <a:rPr lang="en-US" b="0" i="0" dirty="0">
                <a:solidFill>
                  <a:srgbClr val="273239"/>
                </a:solidFill>
                <a:effectLst/>
                <a:latin typeface="urw-din"/>
              </a:rPr>
              <a:t> means it support Object relational mapping. Whereas JDBC is not object oriented moreover we are dealing with values means primitive data. In hibernate each record is represented as a Object but in JDBC each record is nothing but a data which is nothing but primitive values.</a:t>
            </a:r>
          </a:p>
          <a:p>
            <a:endParaRPr lang="en-IN" dirty="0"/>
          </a:p>
        </p:txBody>
      </p:sp>
    </p:spTree>
    <p:extLst>
      <p:ext uri="{BB962C8B-B14F-4D97-AF65-F5344CB8AC3E}">
        <p14:creationId xmlns:p14="http://schemas.microsoft.com/office/powerpoint/2010/main" val="2819315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8875</TotalTime>
  <Words>884</Words>
  <Application>Microsoft Office PowerPoint</Application>
  <PresentationFormat>Widescreen</PresentationFormat>
  <Paragraphs>34</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Calibri Light</vt:lpstr>
      <vt:lpstr>sofia-pro</vt:lpstr>
      <vt:lpstr>Titillium Web</vt:lpstr>
      <vt:lpstr>urw-din</vt:lpstr>
      <vt:lpstr>Office Theme</vt:lpstr>
      <vt:lpstr>  Hibernate  </vt:lpstr>
      <vt:lpstr>  Hibernate Architecture  </vt:lpstr>
      <vt:lpstr>Need of Hibernate Framework</vt:lpstr>
      <vt:lpstr>PowerPoint Presentation</vt:lpstr>
      <vt:lpstr>5) In JDBC, Exception handling is mandatory. Here We can see that we are handling lots of Exception for connection.</vt:lpstr>
      <vt:lpstr>6) In JDBC, there occurs a Boilerplate problem i.e. For each and every project we have to write the below code. That increases the code length and reduce the readability.</vt:lpstr>
      <vt:lpstr>Functionalities supported by Hibernate framework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prashant gaikwad</dc:creator>
  <cp:lastModifiedBy>prashant gaikwad</cp:lastModifiedBy>
  <cp:revision>94</cp:revision>
  <dcterms:created xsi:type="dcterms:W3CDTF">2021-08-12T14:59:47Z</dcterms:created>
  <dcterms:modified xsi:type="dcterms:W3CDTF">2022-11-13T04:32:36Z</dcterms:modified>
</cp:coreProperties>
</file>