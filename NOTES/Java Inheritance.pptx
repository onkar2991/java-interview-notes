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8B59D-E7DA-4B57-BFAC-067BBE37D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9263D-CF3F-4BBF-8725-4DDFF987C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256EE-ADB6-48D2-B2BA-59319EB95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FF82E-46C0-4791-B94F-8AAFDA463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3F28C-0C29-45F9-B5A6-61E18650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4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769D-BFDD-4F18-B71E-5B2991F18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71FCC-F6BB-46E1-B0C8-16FE08B6C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CFABD-47C7-404F-9FEA-B149CACFF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8F9A5-87FD-4115-A01C-B96657405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C801E-2D39-4A77-8C1E-EAECECEB3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29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2DC88-AB71-4F21-81DF-5F87D7D7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13F50-E715-42BF-84A6-E75758AB4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B8B33-E08C-4CA0-9CC3-806F113B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2A163-F793-4223-BB34-95E1158A3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28612-989E-4103-8C0A-AE854535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90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6E7C-81BD-41C5-A452-6EAE546BE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A3E81-14F8-423D-89EE-2F45CDA78C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42597-3B5D-4601-A6D6-EBC51E025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93759-B0B1-420D-802F-2A00B6E7E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0346A-06DC-4552-B787-4C8B08AB2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F1500-8649-42D5-9FDA-C1D17C4D9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39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2F412-893B-4BAD-9222-2B1499D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A0AF1-2C0F-4F48-95A7-587ADBDD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275F0-B4A2-4CC0-8567-B5C1F6B1C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64487-5112-4E99-97F5-E6FB03C99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F1B33D-9DA7-4A41-9D7E-55B54A350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59A3A-2B9F-44EF-8BEB-A56BB5ED8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C381BD-6C74-4F7F-A9BE-9676A1303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E0753-A0F0-4FB0-B4C8-1CE1FB32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25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A6D91-5FCC-4172-82EC-B8B46E21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A1DF3-2E3D-456D-948C-D24614EC4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6B5A1-AAE5-4FB6-8D27-7FA65D4FF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5F4B5-2898-429F-A970-BD324CCD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21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BD9A7A-58E5-458E-B4CB-AAD67A5EF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C573B6-26EF-4C85-9BFA-8E2C4757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196F7-8B52-4A6B-88CC-0016D2E91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17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83CEF-4060-42D5-9F68-DE162E393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DD1A7-6A23-4F5F-BA62-68195DB5A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F8DE1-12BC-40D5-B4EC-82693692D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A25DB-4F54-4E03-B958-776A1ED5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EE867-6B1D-4AB1-823C-4C55C0554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D8D8-5BAA-4C89-86FF-156DE9FF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17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B4267-CB7C-486F-B7E5-A67402E52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C613C-82B2-4DA7-8479-FE33C936F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1EB17-1800-4819-9A81-43527BD60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6F945-E87E-4530-826D-37E9CD42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5A578-E4DC-4ADA-A3C8-CC1F75DCC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5C3EA-F3A9-43A4-B771-E7310A6CE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361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D649-0B86-4932-A3F3-2FE55007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D4290-2212-455F-8CFA-5A5F8721C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A63E5-67C8-4D42-9B0C-B6DC9835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C1DB8-AB24-4B9A-987D-B58E0B269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6F6B7-C0C5-4DA4-85BD-BA138E178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326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3A7B-802E-420A-9054-9999508BF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54851-8002-4904-9716-F86E789C9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4EF9-F89F-4495-AF22-E6571AACC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C9A7B-9DBF-4061-A285-6A47367E2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25262-DBEE-43EC-817A-584E0D57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218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AC875-E80F-4309-96CB-689383C5A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43B97-0C9D-4EDE-8B0A-9A8B5E148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391E8-6A8E-49B6-83EA-13F47E755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6D8C6-D499-4CD7-9080-1E49221F37AC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83029-60F6-4D33-B1B3-66F771FB3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D5A56-975D-4176-A871-66C018D2F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267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g-fact-63/" TargetMode="External"/><Relationship Id="rId2" Type="http://schemas.openxmlformats.org/officeDocument/2006/relationships/hyperlink" Target="https://www.geeksforgeeks.org/overriding-in-jav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super-keywor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5E26-A669-419F-9BF7-0ED888F2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5403"/>
          </a:xfrm>
        </p:spPr>
        <p:txBody>
          <a:bodyPr/>
          <a:lstStyle/>
          <a:p>
            <a:r>
              <a:rPr lang="en-IN" b="1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4CBF-1994-4BCB-B42D-99E05EB4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959"/>
            <a:ext cx="10515600" cy="5113538"/>
          </a:xfrm>
        </p:spPr>
        <p:txBody>
          <a:bodyPr>
            <a:normAutofit fontScale="85000" lnSpcReduction="20000"/>
          </a:bodyPr>
          <a:lstStyle/>
          <a:p>
            <a:r>
              <a:rPr lang="en-US" sz="1300" dirty="0"/>
              <a:t>Inheritance in java is used to add additional functionalities to the existing class. </a:t>
            </a:r>
          </a:p>
          <a:p>
            <a:r>
              <a:rPr lang="en-US" sz="1300" dirty="0"/>
              <a:t>Inheritance is used to extend the present class by adding some more properties to it. </a:t>
            </a:r>
          </a:p>
          <a:p>
            <a:r>
              <a:rPr lang="en-US" sz="1300" dirty="0"/>
              <a:t>Inheritance is used to reuse the present tried and tested code so that you may not have to write them and compile them again.</a:t>
            </a:r>
          </a:p>
          <a:p>
            <a:r>
              <a:rPr lang="en-US" sz="1300" dirty="0"/>
              <a:t>Inheritance in java is implemented by using extend keyword like below</a:t>
            </a:r>
          </a:p>
          <a:p>
            <a:pPr marL="0" indent="0">
              <a:buNone/>
            </a:pPr>
            <a:r>
              <a:rPr lang="en-IN" sz="1300" dirty="0"/>
              <a:t>class A</a:t>
            </a:r>
          </a:p>
          <a:p>
            <a:pPr marL="0" indent="0">
              <a:buNone/>
            </a:pPr>
            <a:r>
              <a:rPr lang="en-IN" sz="1300" dirty="0"/>
              <a:t>{</a:t>
            </a:r>
          </a:p>
          <a:p>
            <a:pPr marL="0" indent="0">
              <a:buNone/>
            </a:pPr>
            <a:r>
              <a:rPr lang="en-IN" sz="1300" dirty="0"/>
              <a:t>    int </a:t>
            </a:r>
            <a:r>
              <a:rPr lang="en-IN" sz="1300" dirty="0" err="1"/>
              <a:t>i</a:t>
            </a:r>
            <a:r>
              <a:rPr lang="en-IN" sz="1300" dirty="0"/>
              <a:t>;</a:t>
            </a:r>
          </a:p>
          <a:p>
            <a:pPr marL="0" indent="0">
              <a:buNone/>
            </a:pPr>
            <a:r>
              <a:rPr lang="en-IN" sz="1300" dirty="0"/>
              <a:t>    void </a:t>
            </a:r>
            <a:r>
              <a:rPr lang="en-IN" sz="1300" dirty="0" err="1"/>
              <a:t>methodOne</a:t>
            </a:r>
            <a:r>
              <a:rPr lang="en-IN" sz="1300" dirty="0"/>
              <a:t>()</a:t>
            </a:r>
          </a:p>
          <a:p>
            <a:pPr marL="0" indent="0">
              <a:buNone/>
            </a:pPr>
            <a:r>
              <a:rPr lang="en-IN" sz="1300" dirty="0"/>
              <a:t>    {</a:t>
            </a:r>
          </a:p>
          <a:p>
            <a:pPr marL="0" indent="0">
              <a:buNone/>
            </a:pPr>
            <a:r>
              <a:rPr lang="en-IN" sz="1300" dirty="0"/>
              <a:t>        </a:t>
            </a:r>
            <a:r>
              <a:rPr lang="en-IN" sz="1300" dirty="0" err="1"/>
              <a:t>System.out.println</a:t>
            </a:r>
            <a:r>
              <a:rPr lang="en-IN" sz="1300" dirty="0"/>
              <a:t>("From </a:t>
            </a:r>
            <a:r>
              <a:rPr lang="en-IN" sz="1300" dirty="0" err="1"/>
              <a:t>methodOne</a:t>
            </a:r>
            <a:r>
              <a:rPr lang="en-IN" sz="1300" dirty="0"/>
              <a:t>");</a:t>
            </a:r>
          </a:p>
          <a:p>
            <a:pPr marL="0" indent="0">
              <a:buNone/>
            </a:pPr>
            <a:r>
              <a:rPr lang="en-IN" sz="1300" dirty="0"/>
              <a:t>    }</a:t>
            </a:r>
          </a:p>
          <a:p>
            <a:pPr marL="0" indent="0">
              <a:buNone/>
            </a:pPr>
            <a:r>
              <a:rPr lang="en-IN" sz="1300" dirty="0"/>
              <a:t>}</a:t>
            </a:r>
          </a:p>
          <a:p>
            <a:pPr marL="0" indent="0">
              <a:buNone/>
            </a:pPr>
            <a:r>
              <a:rPr lang="en-IN" sz="1300" dirty="0"/>
              <a:t> </a:t>
            </a:r>
          </a:p>
          <a:p>
            <a:pPr marL="0" indent="0">
              <a:buNone/>
            </a:pPr>
            <a:r>
              <a:rPr lang="en-IN" sz="1300" dirty="0"/>
              <a:t>class B extends A</a:t>
            </a:r>
          </a:p>
          <a:p>
            <a:pPr marL="0" indent="0">
              <a:buNone/>
            </a:pPr>
            <a:r>
              <a:rPr lang="en-IN" sz="1300" dirty="0"/>
              <a:t>{</a:t>
            </a:r>
          </a:p>
          <a:p>
            <a:pPr marL="0" indent="0">
              <a:buNone/>
            </a:pPr>
            <a:r>
              <a:rPr lang="en-IN" sz="1300" dirty="0"/>
              <a:t>    int j;</a:t>
            </a:r>
          </a:p>
          <a:p>
            <a:pPr marL="0" indent="0">
              <a:buNone/>
            </a:pPr>
            <a:r>
              <a:rPr lang="en-IN" sz="1300" dirty="0"/>
              <a:t>    void </a:t>
            </a:r>
            <a:r>
              <a:rPr lang="en-IN" sz="1300" dirty="0" err="1"/>
              <a:t>methodTwo</a:t>
            </a:r>
            <a:r>
              <a:rPr lang="en-IN" sz="1300" dirty="0"/>
              <a:t>()</a:t>
            </a:r>
          </a:p>
          <a:p>
            <a:pPr marL="0" indent="0">
              <a:buNone/>
            </a:pPr>
            <a:r>
              <a:rPr lang="en-IN" sz="1300" dirty="0"/>
              <a:t>    {</a:t>
            </a:r>
          </a:p>
          <a:p>
            <a:pPr marL="0" indent="0">
              <a:buNone/>
            </a:pPr>
            <a:r>
              <a:rPr lang="en-IN" sz="1300" dirty="0"/>
              <a:t>        </a:t>
            </a:r>
            <a:r>
              <a:rPr lang="en-IN" sz="1300" dirty="0" err="1"/>
              <a:t>System.out.println</a:t>
            </a:r>
            <a:r>
              <a:rPr lang="en-IN" sz="1300" dirty="0"/>
              <a:t>("From </a:t>
            </a:r>
            <a:r>
              <a:rPr lang="en-IN" sz="1300" dirty="0" err="1"/>
              <a:t>methodTwo</a:t>
            </a:r>
            <a:r>
              <a:rPr lang="en-IN" sz="1300" dirty="0"/>
              <a:t>");</a:t>
            </a:r>
          </a:p>
          <a:p>
            <a:pPr marL="0" indent="0">
              <a:buNone/>
            </a:pPr>
            <a:r>
              <a:rPr lang="en-IN" sz="1300" dirty="0"/>
              <a:t>    }</a:t>
            </a:r>
          </a:p>
          <a:p>
            <a:pPr marL="0" indent="0">
              <a:buNone/>
            </a:pPr>
            <a:r>
              <a:rPr lang="en-IN" sz="13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257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5E26-A669-419F-9BF7-0ED888F2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692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Points-To-Remember About Inheritance In Java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4CBF-1994-4BCB-B42D-99E05EB4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959"/>
            <a:ext cx="10515600" cy="5220070"/>
          </a:xfrm>
        </p:spPr>
        <p:txBody>
          <a:bodyPr>
            <a:normAutofit lnSpcReduction="10000"/>
          </a:bodyPr>
          <a:lstStyle/>
          <a:p>
            <a:r>
              <a:rPr lang="en-US" sz="1400" dirty="0">
                <a:solidFill>
                  <a:srgbClr val="000000"/>
                </a:solidFill>
                <a:latin typeface="Titillium Web"/>
              </a:rPr>
              <a:t>Constructors, Static Initialization Block and Instance Initialization Block of super class will not be inheriting to its sub class. But they are executed while creating an object to sub class.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tillium Web"/>
              </a:rPr>
              <a:t>class A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tillium Web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tillium Web"/>
              </a:rPr>
              <a:t>    int </a:t>
            </a:r>
            <a:r>
              <a:rPr lang="en-US" sz="1400" dirty="0" err="1">
                <a:solidFill>
                  <a:srgbClr val="000000"/>
                </a:solidFill>
                <a:latin typeface="Titillium Web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Titillium Web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tillium Web"/>
              </a:rPr>
              <a:t>   static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tillium Web"/>
              </a:rPr>
              <a:t>   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tillium Web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Titillium Web"/>
              </a:rPr>
              <a:t>System.out.println</a:t>
            </a:r>
            <a:r>
              <a:rPr lang="en-US" sz="1400" dirty="0">
                <a:solidFill>
                  <a:srgbClr val="000000"/>
                </a:solidFill>
                <a:latin typeface="Titillium Web"/>
              </a:rPr>
              <a:t>("Class A SIB");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tillium Web"/>
              </a:rPr>
              <a:t>    }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tillium Web"/>
              </a:rPr>
              <a:t>   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tillium Web"/>
              </a:rPr>
              <a:t>     </a:t>
            </a:r>
            <a:r>
              <a:rPr lang="en-US" sz="1400" dirty="0" err="1">
                <a:solidFill>
                  <a:srgbClr val="000000"/>
                </a:solidFill>
                <a:latin typeface="Titillium Web"/>
              </a:rPr>
              <a:t>System.out.println</a:t>
            </a:r>
            <a:r>
              <a:rPr lang="en-US" sz="1400" dirty="0">
                <a:solidFill>
                  <a:srgbClr val="000000"/>
                </a:solidFill>
                <a:latin typeface="Titillium Web"/>
              </a:rPr>
              <a:t>("Class A IIB");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tillium Web"/>
              </a:rPr>
              <a:t>   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tillium Web"/>
              </a:rPr>
              <a:t>   A()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tillium Web"/>
              </a:rPr>
              <a:t>  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tillium Web"/>
              </a:rPr>
              <a:t>       </a:t>
            </a:r>
            <a:r>
              <a:rPr lang="en-US" sz="1400" dirty="0" err="1">
                <a:solidFill>
                  <a:srgbClr val="000000"/>
                </a:solidFill>
                <a:latin typeface="Titillium Web"/>
              </a:rPr>
              <a:t>System.out.println</a:t>
            </a:r>
            <a:r>
              <a:rPr lang="en-US" sz="1400" dirty="0">
                <a:solidFill>
                  <a:srgbClr val="000000"/>
                </a:solidFill>
                <a:latin typeface="Titillium Web"/>
              </a:rPr>
              <a:t>("Class A Constructor"); </a:t>
            </a:r>
          </a:p>
          <a:p>
            <a:pPr marL="0" indent="0">
              <a:buNone/>
            </a:pPr>
            <a:r>
              <a:rPr lang="en-IN" sz="1400" dirty="0"/>
              <a:t>   }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4382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5E26-A669-419F-9BF7-0ED888F2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2760"/>
            <a:ext cx="10515600" cy="1012056"/>
          </a:xfrm>
        </p:spPr>
        <p:txBody>
          <a:bodyPr>
            <a:normAutofit fontScale="90000"/>
          </a:bodyPr>
          <a:lstStyle/>
          <a:p>
            <a:br>
              <a:rPr lang="en-US" b="1" i="0" u="none" strike="noStrike" dirty="0">
                <a:solidFill>
                  <a:srgbClr val="000000"/>
                </a:solidFill>
                <a:effectLst/>
                <a:latin typeface="Titillium Web"/>
              </a:rPr>
            </a:br>
            <a:r>
              <a:rPr lang="en-US" sz="3600" b="1" dirty="0"/>
              <a:t>Effect of private, default, protected and public keyword on inheritance in java:</a:t>
            </a:r>
            <a:br>
              <a:rPr lang="en-US" sz="3600" b="1" dirty="0"/>
            </a:b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4CBF-1994-4BCB-B42D-99E05EB4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7375"/>
            <a:ext cx="10515600" cy="4669654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private : Private members can not be inherited to sub class.</a:t>
            </a:r>
          </a:p>
          <a:p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Default : Default members can be inherited to sub class within package.</a:t>
            </a:r>
          </a:p>
          <a:p>
            <a:pPr algn="l" fontAlgn="base"/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protected : protected members can be inherited to any sub class but usage of protected member is limited within package.</a:t>
            </a:r>
          </a:p>
          <a:p>
            <a:pPr algn="l" fontAlgn="base"/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public : public members are inherited to all sub classes.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Static members of super class are inheriting to sub class as static members and non-static members are inheriting as non-static members only.</a:t>
            </a:r>
          </a:p>
          <a:p>
            <a:endParaRPr lang="en-US" sz="1400" b="0" i="0" u="none" strike="noStrike" dirty="0">
              <a:solidFill>
                <a:srgbClr val="000000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856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5E26-A669-419F-9BF7-0ED888F2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2760"/>
            <a:ext cx="10515600" cy="1012056"/>
          </a:xfrm>
        </p:spPr>
        <p:txBody>
          <a:bodyPr>
            <a:normAutofit fontScale="90000"/>
          </a:bodyPr>
          <a:lstStyle/>
          <a:p>
            <a:br>
              <a:rPr lang="en-US" b="1" i="0" u="none" strike="noStrike" dirty="0">
                <a:solidFill>
                  <a:srgbClr val="000000"/>
                </a:solidFill>
                <a:effectLst/>
                <a:latin typeface="Titillium Web"/>
              </a:rPr>
            </a:br>
            <a:r>
              <a:rPr lang="en-US" sz="3600" b="1" dirty="0"/>
              <a:t>Types Of Inheritance In Java:</a:t>
            </a:r>
            <a:br>
              <a:rPr lang="en-US" sz="3600" b="1" dirty="0"/>
            </a:b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4CBF-1994-4BCB-B42D-99E05EB4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167"/>
            <a:ext cx="10515600" cy="4669654"/>
          </a:xfrm>
        </p:spPr>
        <p:txBody>
          <a:bodyPr>
            <a:normAutofit/>
          </a:bodyPr>
          <a:lstStyle/>
          <a:p>
            <a:pPr algn="l" fontAlgn="base"/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1) Single Inheritance : One class is extended by only one class.</a:t>
            </a:r>
          </a:p>
          <a:p>
            <a:pPr algn="l" fontAlgn="base"/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 Multilevel Inheritance : One class is extended by a class and that class is extended by another class thus forming chain of inheritance.</a:t>
            </a:r>
          </a:p>
          <a:p>
            <a:pPr algn="l" fontAlgn="base"/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 Hierarchical Inheritance : One class is extended by many class.</a:t>
            </a:r>
          </a:p>
          <a:p>
            <a:pPr algn="l" fontAlgn="base"/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4) Hybrid Inheritance : It is a combination of above types of inheritance.</a:t>
            </a:r>
            <a:endParaRPr lang="en-US" sz="1400" b="1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algn="just" fontAlgn="base">
              <a:buNone/>
            </a:pPr>
            <a:r>
              <a:rPr lang="en-US" sz="1400" b="1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What all can be done in a Subclass?</a:t>
            </a:r>
          </a:p>
          <a:p>
            <a:pPr algn="just" fontAlgn="base"/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 sub-classes we can inherit members as is, replace them, hide them, or supplement them with new members: 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 inherited fields can be used directly, just like any other fields.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 can declare new fields in the subclass that are not in the superclass.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 inherited methods can be used directly as they are.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 can write a new instance method in the subclass that has the same signature as the one in the superclass, thus </a:t>
            </a: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overriding</a:t>
            </a: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 it (as in the example above, </a:t>
            </a:r>
            <a:r>
              <a:rPr lang="en-US" sz="1400" dirty="0" err="1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toString</a:t>
            </a: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() method is overridden).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 can write a new static method in the subclass that has the same signature as the one in the superclass, thus </a:t>
            </a: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hiding</a:t>
            </a: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 it.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 can declare new methods in the subclass that are not in the superclass.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 can write a subclass constructor that invokes the constructor of the superclass, either implicitly or by using the keyword </a:t>
            </a: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super</a:t>
            </a:r>
            <a:r>
              <a:rPr lang="en-US" sz="14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94671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564</Words>
  <Application>Microsoft Office PowerPoint</Application>
  <PresentationFormat>Widescreen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Titillium Web</vt:lpstr>
      <vt:lpstr>Office Theme</vt:lpstr>
      <vt:lpstr>Inheritance</vt:lpstr>
      <vt:lpstr>Points-To-Remember About Inheritance In Java</vt:lpstr>
      <vt:lpstr> Effect of private, default, protected and public keyword on inheritance in java: </vt:lpstr>
      <vt:lpstr> Types Of Inheritance In Java: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prashant gaikwad</dc:creator>
  <cp:lastModifiedBy>prashant gaikwad</cp:lastModifiedBy>
  <cp:revision>34</cp:revision>
  <dcterms:created xsi:type="dcterms:W3CDTF">2021-08-12T14:59:47Z</dcterms:created>
  <dcterms:modified xsi:type="dcterms:W3CDTF">2021-08-15T08:19:54Z</dcterms:modified>
</cp:coreProperties>
</file>