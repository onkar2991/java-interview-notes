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8B59D-E7DA-4B57-BFAC-067BBE37DD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A9263D-CF3F-4BBF-8725-4DDFF987C8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A256EE-ADB6-48D2-B2BA-59319EB95FAC}"/>
              </a:ext>
            </a:extLst>
          </p:cNvPr>
          <p:cNvSpPr>
            <a:spLocks noGrp="1"/>
          </p:cNvSpPr>
          <p:nvPr>
            <p:ph type="dt" sz="half" idx="10"/>
          </p:nvPr>
        </p:nvSpPr>
        <p:spPr/>
        <p:txBody>
          <a:bodyPr/>
          <a:lstStyle/>
          <a:p>
            <a:fld id="{A9A6D8C6-D499-4CD7-9080-1E49221F37AC}" type="datetimeFigureOut">
              <a:rPr lang="en-IN" smtClean="0"/>
              <a:t>10-03-2022</a:t>
            </a:fld>
            <a:endParaRPr lang="en-IN"/>
          </a:p>
        </p:txBody>
      </p:sp>
      <p:sp>
        <p:nvSpPr>
          <p:cNvPr id="5" name="Footer Placeholder 4">
            <a:extLst>
              <a:ext uri="{FF2B5EF4-FFF2-40B4-BE49-F238E27FC236}">
                <a16:creationId xmlns:a16="http://schemas.microsoft.com/office/drawing/2014/main" id="{FA0FF82E-46C0-4791-B94F-8AAFDA4636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13F28C-0C29-45F9-B5A6-61E186507026}"/>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75842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769D-BFDD-4F18-B71E-5B2991F185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E71FCC-F6BB-46E1-B0C8-16FE08B6CF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2CFABD-47C7-404F-9FEA-B149CACFFD36}"/>
              </a:ext>
            </a:extLst>
          </p:cNvPr>
          <p:cNvSpPr>
            <a:spLocks noGrp="1"/>
          </p:cNvSpPr>
          <p:nvPr>
            <p:ph type="dt" sz="half" idx="10"/>
          </p:nvPr>
        </p:nvSpPr>
        <p:spPr/>
        <p:txBody>
          <a:bodyPr/>
          <a:lstStyle/>
          <a:p>
            <a:fld id="{A9A6D8C6-D499-4CD7-9080-1E49221F37AC}" type="datetimeFigureOut">
              <a:rPr lang="en-IN" smtClean="0"/>
              <a:t>10-03-2022</a:t>
            </a:fld>
            <a:endParaRPr lang="en-IN"/>
          </a:p>
        </p:txBody>
      </p:sp>
      <p:sp>
        <p:nvSpPr>
          <p:cNvPr id="5" name="Footer Placeholder 4">
            <a:extLst>
              <a:ext uri="{FF2B5EF4-FFF2-40B4-BE49-F238E27FC236}">
                <a16:creationId xmlns:a16="http://schemas.microsoft.com/office/drawing/2014/main" id="{EB88F9A5-87FD-4115-A01C-B966574058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2C801E-2D39-4A77-8C1E-EAECECEB367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24729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2DC88-AB71-4F21-81DF-5F87D7D79B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6613F50-E715-42BF-84A6-E75758AB48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B8B33-E08C-4CA0-9CC3-806F113BEA1A}"/>
              </a:ext>
            </a:extLst>
          </p:cNvPr>
          <p:cNvSpPr>
            <a:spLocks noGrp="1"/>
          </p:cNvSpPr>
          <p:nvPr>
            <p:ph type="dt" sz="half" idx="10"/>
          </p:nvPr>
        </p:nvSpPr>
        <p:spPr/>
        <p:txBody>
          <a:bodyPr/>
          <a:lstStyle/>
          <a:p>
            <a:fld id="{A9A6D8C6-D499-4CD7-9080-1E49221F37AC}" type="datetimeFigureOut">
              <a:rPr lang="en-IN" smtClean="0"/>
              <a:t>10-03-2022</a:t>
            </a:fld>
            <a:endParaRPr lang="en-IN"/>
          </a:p>
        </p:txBody>
      </p:sp>
      <p:sp>
        <p:nvSpPr>
          <p:cNvPr id="5" name="Footer Placeholder 4">
            <a:extLst>
              <a:ext uri="{FF2B5EF4-FFF2-40B4-BE49-F238E27FC236}">
                <a16:creationId xmlns:a16="http://schemas.microsoft.com/office/drawing/2014/main" id="{E1E2A163-F793-4223-BB34-95E1158A32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428612-989E-4103-8C0A-AE8545359EA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038909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6E7C-81BD-41C5-A452-6EAE546BEA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0A3E81-14F8-423D-89EE-2F45CDA78C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B42597-3B5D-4601-A6D6-EBC51E025C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D93759-B0B1-420D-802F-2A00B6E7E36B}"/>
              </a:ext>
            </a:extLst>
          </p:cNvPr>
          <p:cNvSpPr>
            <a:spLocks noGrp="1"/>
          </p:cNvSpPr>
          <p:nvPr>
            <p:ph type="dt" sz="half" idx="10"/>
          </p:nvPr>
        </p:nvSpPr>
        <p:spPr/>
        <p:txBody>
          <a:bodyPr/>
          <a:lstStyle/>
          <a:p>
            <a:fld id="{A9A6D8C6-D499-4CD7-9080-1E49221F37AC}" type="datetimeFigureOut">
              <a:rPr lang="en-IN" smtClean="0"/>
              <a:t>10-03-2022</a:t>
            </a:fld>
            <a:endParaRPr lang="en-IN"/>
          </a:p>
        </p:txBody>
      </p:sp>
      <p:sp>
        <p:nvSpPr>
          <p:cNvPr id="6" name="Footer Placeholder 5">
            <a:extLst>
              <a:ext uri="{FF2B5EF4-FFF2-40B4-BE49-F238E27FC236}">
                <a16:creationId xmlns:a16="http://schemas.microsoft.com/office/drawing/2014/main" id="{25B0346A-06DC-4552-B787-4C8B08AB23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BF1500-8649-42D5-9FDA-C1D17C4D94F0}"/>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4034390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2F412-893B-4BAD-9222-2B1499D076A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5A0AF1-2C0F-4F48-95A7-587ADBDD5C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A275F0-B4A2-4CC0-8567-B5C1F6B1C3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064487-5112-4E99-97F5-E6FB03C999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F1B33D-9DA7-4A41-9D7E-55B54A350D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059A3A-2B9F-44EF-8BEB-A56BB5ED834E}"/>
              </a:ext>
            </a:extLst>
          </p:cNvPr>
          <p:cNvSpPr>
            <a:spLocks noGrp="1"/>
          </p:cNvSpPr>
          <p:nvPr>
            <p:ph type="dt" sz="half" idx="10"/>
          </p:nvPr>
        </p:nvSpPr>
        <p:spPr/>
        <p:txBody>
          <a:bodyPr/>
          <a:lstStyle/>
          <a:p>
            <a:fld id="{A9A6D8C6-D499-4CD7-9080-1E49221F37AC}" type="datetimeFigureOut">
              <a:rPr lang="en-IN" smtClean="0"/>
              <a:t>10-03-2022</a:t>
            </a:fld>
            <a:endParaRPr lang="en-IN"/>
          </a:p>
        </p:txBody>
      </p:sp>
      <p:sp>
        <p:nvSpPr>
          <p:cNvPr id="8" name="Footer Placeholder 7">
            <a:extLst>
              <a:ext uri="{FF2B5EF4-FFF2-40B4-BE49-F238E27FC236}">
                <a16:creationId xmlns:a16="http://schemas.microsoft.com/office/drawing/2014/main" id="{DBC381BD-6C74-4F7F-A9BE-9676A13034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F8E0753-A0F0-4FB0-B4C8-1CE1FB324306}"/>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916256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A6D91-5FCC-4172-82EC-B8B46E21C6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1A1DF3-2E3D-456D-948C-D24614EC4E63}"/>
              </a:ext>
            </a:extLst>
          </p:cNvPr>
          <p:cNvSpPr>
            <a:spLocks noGrp="1"/>
          </p:cNvSpPr>
          <p:nvPr>
            <p:ph type="dt" sz="half" idx="10"/>
          </p:nvPr>
        </p:nvSpPr>
        <p:spPr/>
        <p:txBody>
          <a:bodyPr/>
          <a:lstStyle/>
          <a:p>
            <a:fld id="{A9A6D8C6-D499-4CD7-9080-1E49221F37AC}" type="datetimeFigureOut">
              <a:rPr lang="en-IN" smtClean="0"/>
              <a:t>10-03-2022</a:t>
            </a:fld>
            <a:endParaRPr lang="en-IN"/>
          </a:p>
        </p:txBody>
      </p:sp>
      <p:sp>
        <p:nvSpPr>
          <p:cNvPr id="4" name="Footer Placeholder 3">
            <a:extLst>
              <a:ext uri="{FF2B5EF4-FFF2-40B4-BE49-F238E27FC236}">
                <a16:creationId xmlns:a16="http://schemas.microsoft.com/office/drawing/2014/main" id="{FFF6B5A1-AAE5-4FB6-8D27-7FA65D4FF0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25F4B5-2898-429F-A970-BD324CCD4D5F}"/>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194213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BD9A7A-58E5-458E-B4CB-AAD67A5EFFA5}"/>
              </a:ext>
            </a:extLst>
          </p:cNvPr>
          <p:cNvSpPr>
            <a:spLocks noGrp="1"/>
          </p:cNvSpPr>
          <p:nvPr>
            <p:ph type="dt" sz="half" idx="10"/>
          </p:nvPr>
        </p:nvSpPr>
        <p:spPr/>
        <p:txBody>
          <a:bodyPr/>
          <a:lstStyle/>
          <a:p>
            <a:fld id="{A9A6D8C6-D499-4CD7-9080-1E49221F37AC}" type="datetimeFigureOut">
              <a:rPr lang="en-IN" smtClean="0"/>
              <a:t>10-03-2022</a:t>
            </a:fld>
            <a:endParaRPr lang="en-IN"/>
          </a:p>
        </p:txBody>
      </p:sp>
      <p:sp>
        <p:nvSpPr>
          <p:cNvPr id="3" name="Footer Placeholder 2">
            <a:extLst>
              <a:ext uri="{FF2B5EF4-FFF2-40B4-BE49-F238E27FC236}">
                <a16:creationId xmlns:a16="http://schemas.microsoft.com/office/drawing/2014/main" id="{C5C573B6-26EF-4C85-9BFA-8E2C47573B0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0196F7-8B52-4A6B-88CC-0016D2E9145D}"/>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667179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83CEF-4060-42D5-9F68-DE162E3931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8DD1A7-6A23-4F5F-BA62-68195DB5A9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C1F8DE1-12BC-40D5-B4EC-82693692D1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9A25DB-4F54-4E03-B958-776A1ED550DA}"/>
              </a:ext>
            </a:extLst>
          </p:cNvPr>
          <p:cNvSpPr>
            <a:spLocks noGrp="1"/>
          </p:cNvSpPr>
          <p:nvPr>
            <p:ph type="dt" sz="half" idx="10"/>
          </p:nvPr>
        </p:nvSpPr>
        <p:spPr/>
        <p:txBody>
          <a:bodyPr/>
          <a:lstStyle/>
          <a:p>
            <a:fld id="{A9A6D8C6-D499-4CD7-9080-1E49221F37AC}" type="datetimeFigureOut">
              <a:rPr lang="en-IN" smtClean="0"/>
              <a:t>10-03-2022</a:t>
            </a:fld>
            <a:endParaRPr lang="en-IN"/>
          </a:p>
        </p:txBody>
      </p:sp>
      <p:sp>
        <p:nvSpPr>
          <p:cNvPr id="6" name="Footer Placeholder 5">
            <a:extLst>
              <a:ext uri="{FF2B5EF4-FFF2-40B4-BE49-F238E27FC236}">
                <a16:creationId xmlns:a16="http://schemas.microsoft.com/office/drawing/2014/main" id="{AB9EE867-6B1D-4AB1-823C-4C55C05542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58D8D8-5BAA-4C89-86FF-156DE9FF60D2}"/>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2408171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4267-CB7C-486F-B7E5-A67402E527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ECC613C-82B2-4DA7-8479-FE33C936FB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B1EB17-1800-4819-9A81-43527BD60B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6F945-E87E-4530-826D-37E9CD42F531}"/>
              </a:ext>
            </a:extLst>
          </p:cNvPr>
          <p:cNvSpPr>
            <a:spLocks noGrp="1"/>
          </p:cNvSpPr>
          <p:nvPr>
            <p:ph type="dt" sz="half" idx="10"/>
          </p:nvPr>
        </p:nvSpPr>
        <p:spPr/>
        <p:txBody>
          <a:bodyPr/>
          <a:lstStyle/>
          <a:p>
            <a:fld id="{A9A6D8C6-D499-4CD7-9080-1E49221F37AC}" type="datetimeFigureOut">
              <a:rPr lang="en-IN" smtClean="0"/>
              <a:t>10-03-2022</a:t>
            </a:fld>
            <a:endParaRPr lang="en-IN"/>
          </a:p>
        </p:txBody>
      </p:sp>
      <p:sp>
        <p:nvSpPr>
          <p:cNvPr id="6" name="Footer Placeholder 5">
            <a:extLst>
              <a:ext uri="{FF2B5EF4-FFF2-40B4-BE49-F238E27FC236}">
                <a16:creationId xmlns:a16="http://schemas.microsoft.com/office/drawing/2014/main" id="{8CA5A578-E4DC-4ADA-A3C8-CC1F75DCC3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95C3EA-F3A9-43A4-B771-E7310A6CE29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493361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8D649-0B86-4932-A3F3-2FE55007CB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4D4290-2212-455F-8CFA-5A5F8721C6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1A63E5-67C8-4D42-9B0C-B6DC98350156}"/>
              </a:ext>
            </a:extLst>
          </p:cNvPr>
          <p:cNvSpPr>
            <a:spLocks noGrp="1"/>
          </p:cNvSpPr>
          <p:nvPr>
            <p:ph type="dt" sz="half" idx="10"/>
          </p:nvPr>
        </p:nvSpPr>
        <p:spPr/>
        <p:txBody>
          <a:bodyPr/>
          <a:lstStyle/>
          <a:p>
            <a:fld id="{A9A6D8C6-D499-4CD7-9080-1E49221F37AC}" type="datetimeFigureOut">
              <a:rPr lang="en-IN" smtClean="0"/>
              <a:t>10-03-2022</a:t>
            </a:fld>
            <a:endParaRPr lang="en-IN"/>
          </a:p>
        </p:txBody>
      </p:sp>
      <p:sp>
        <p:nvSpPr>
          <p:cNvPr id="5" name="Footer Placeholder 4">
            <a:extLst>
              <a:ext uri="{FF2B5EF4-FFF2-40B4-BE49-F238E27FC236}">
                <a16:creationId xmlns:a16="http://schemas.microsoft.com/office/drawing/2014/main" id="{CF9C1DB8-AB24-4B9A-987D-B58E0B2697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D6F6B7-C0C5-4DA4-85BD-BA138E178698}"/>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1737326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843A7B-802E-420A-9054-9999508BF2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B54851-8002-4904-9716-F86E789C92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E64EF9-F89F-4495-AF22-E6571AACCFF7}"/>
              </a:ext>
            </a:extLst>
          </p:cNvPr>
          <p:cNvSpPr>
            <a:spLocks noGrp="1"/>
          </p:cNvSpPr>
          <p:nvPr>
            <p:ph type="dt" sz="half" idx="10"/>
          </p:nvPr>
        </p:nvSpPr>
        <p:spPr/>
        <p:txBody>
          <a:bodyPr/>
          <a:lstStyle/>
          <a:p>
            <a:fld id="{A9A6D8C6-D499-4CD7-9080-1E49221F37AC}" type="datetimeFigureOut">
              <a:rPr lang="en-IN" smtClean="0"/>
              <a:t>10-03-2022</a:t>
            </a:fld>
            <a:endParaRPr lang="en-IN"/>
          </a:p>
        </p:txBody>
      </p:sp>
      <p:sp>
        <p:nvSpPr>
          <p:cNvPr id="5" name="Footer Placeholder 4">
            <a:extLst>
              <a:ext uri="{FF2B5EF4-FFF2-40B4-BE49-F238E27FC236}">
                <a16:creationId xmlns:a16="http://schemas.microsoft.com/office/drawing/2014/main" id="{FF5C9A7B-9DBF-4061-A285-6A47367E2C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325262-DBEE-43EC-817A-584E0D57329E}"/>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564218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AAC875-E80F-4309-96CB-689383C5A2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443B97-0C9D-4EDE-8B0A-9A8B5E148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2391E8-6A8E-49B6-83EA-13F47E755F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6D8C6-D499-4CD7-9080-1E49221F37AC}" type="datetimeFigureOut">
              <a:rPr lang="en-IN" smtClean="0"/>
              <a:t>10-03-2022</a:t>
            </a:fld>
            <a:endParaRPr lang="en-IN"/>
          </a:p>
        </p:txBody>
      </p:sp>
      <p:sp>
        <p:nvSpPr>
          <p:cNvPr id="5" name="Footer Placeholder 4">
            <a:extLst>
              <a:ext uri="{FF2B5EF4-FFF2-40B4-BE49-F238E27FC236}">
                <a16:creationId xmlns:a16="http://schemas.microsoft.com/office/drawing/2014/main" id="{27983029-60F6-4D33-B1B3-66F771FB3C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4D5A56-975D-4176-A871-66C018D2F0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345B19-1A90-476D-85DA-9750C8D70378}" type="slidenum">
              <a:rPr lang="en-IN" smtClean="0"/>
              <a:t>‹#›</a:t>
            </a:fld>
            <a:endParaRPr lang="en-IN"/>
          </a:p>
        </p:txBody>
      </p:sp>
    </p:spTree>
    <p:extLst>
      <p:ext uri="{BB962C8B-B14F-4D97-AF65-F5344CB8AC3E}">
        <p14:creationId xmlns:p14="http://schemas.microsoft.com/office/powerpoint/2010/main" val="894267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write.geeksforgeeks.org/encapsulation-in-jav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5E26-A669-419F-9BF7-0ED888F286B1}"/>
              </a:ext>
            </a:extLst>
          </p:cNvPr>
          <p:cNvSpPr>
            <a:spLocks noGrp="1"/>
          </p:cNvSpPr>
          <p:nvPr>
            <p:ph type="title"/>
          </p:nvPr>
        </p:nvSpPr>
        <p:spPr>
          <a:xfrm>
            <a:off x="838200" y="164238"/>
            <a:ext cx="10515600" cy="830062"/>
          </a:xfrm>
        </p:spPr>
        <p:txBody>
          <a:bodyPr>
            <a:normAutofit fontScale="90000"/>
          </a:bodyPr>
          <a:lstStyle/>
          <a:p>
            <a:br>
              <a:rPr lang="en-IN" b="0" i="0" u="none" strike="noStrike" dirty="0">
                <a:solidFill>
                  <a:srgbClr val="000000"/>
                </a:solidFill>
                <a:effectLst/>
                <a:latin typeface="Titillium Web"/>
              </a:rPr>
            </a:br>
            <a:r>
              <a:rPr lang="en-IN" b="0" i="0" u="none" strike="noStrike" dirty="0">
                <a:solidFill>
                  <a:srgbClr val="000000"/>
                </a:solidFill>
                <a:effectLst/>
                <a:latin typeface="Titillium Web"/>
              </a:rPr>
              <a:t>Enca</a:t>
            </a:r>
            <a:r>
              <a:rPr lang="en-IN" dirty="0">
                <a:solidFill>
                  <a:srgbClr val="000000"/>
                </a:solidFill>
                <a:latin typeface="Titillium Web"/>
              </a:rPr>
              <a:t>psulation</a:t>
            </a:r>
            <a:br>
              <a:rPr lang="en-IN" dirty="0">
                <a:solidFill>
                  <a:srgbClr val="000000"/>
                </a:solidFill>
                <a:latin typeface="Titillium Web"/>
              </a:rPr>
            </a:br>
            <a:endParaRPr lang="en-IN" b="1" dirty="0"/>
          </a:p>
        </p:txBody>
      </p:sp>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1065320"/>
            <a:ext cx="10515600" cy="5601809"/>
          </a:xfrm>
        </p:spPr>
        <p:txBody>
          <a:bodyPr>
            <a:normAutofit/>
          </a:bodyPr>
          <a:lstStyle/>
          <a:p>
            <a:r>
              <a:rPr lang="en-US" sz="1600" dirty="0"/>
              <a:t>Encapsulation simply means binding object state(fields) and behavior(methods) together. If you are creating class, you are doing encapsulation.</a:t>
            </a:r>
          </a:p>
          <a:p>
            <a:pPr marL="0" indent="0">
              <a:buNone/>
            </a:pPr>
            <a:r>
              <a:rPr lang="en-US" sz="1600" b="1" dirty="0"/>
              <a:t>What is encapsulation?</a:t>
            </a:r>
          </a:p>
          <a:p>
            <a:r>
              <a:rPr lang="en-US" sz="1600" dirty="0"/>
              <a:t>The whole idea behind encapsulation is to hide the details from users. If a data member is private it means it can only be accessed within the same class. No outside class can access private data member (variable) of other class.</a:t>
            </a:r>
          </a:p>
          <a:p>
            <a:r>
              <a:rPr lang="en-US" sz="1600" dirty="0"/>
              <a:t>However if we setup public getter and setter methods to update (for example void </a:t>
            </a:r>
            <a:r>
              <a:rPr lang="en-US" sz="1600" dirty="0" err="1"/>
              <a:t>setEmpNumber</a:t>
            </a:r>
            <a:r>
              <a:rPr lang="en-US" sz="1600" dirty="0"/>
              <a:t>(int </a:t>
            </a:r>
            <a:r>
              <a:rPr lang="en-US" sz="1600" dirty="0" err="1"/>
              <a:t>empNUmber</a:t>
            </a:r>
            <a:r>
              <a:rPr lang="en-US" sz="1600" dirty="0"/>
              <a:t>))and read (for example  int </a:t>
            </a:r>
            <a:r>
              <a:rPr lang="en-US" sz="1600" dirty="0" err="1"/>
              <a:t>getEmpNumber</a:t>
            </a:r>
            <a:r>
              <a:rPr lang="en-US" sz="1600" dirty="0"/>
              <a:t> ()) the private data fields then the outside class can access those private data fields via public methods.</a:t>
            </a:r>
          </a:p>
          <a:p>
            <a:r>
              <a:rPr lang="en-US" sz="1600" dirty="0"/>
              <a:t>This way data can only be accessed by public methods thus making the private fields and their implementation hidden for outside classes. That’s why encapsulation is known as data hiding.</a:t>
            </a:r>
          </a:p>
          <a:p>
            <a:r>
              <a:rPr lang="en-US" sz="1600" dirty="0"/>
              <a:t>Every Java class is an example of encapsulation because we write everything within the class only that binds variables and methods together and hides their complexity from other classes. </a:t>
            </a:r>
          </a:p>
          <a:p>
            <a:endParaRPr lang="en-US" sz="1600" dirty="0"/>
          </a:p>
          <a:p>
            <a:pPr marL="0" indent="0">
              <a:buNone/>
            </a:pPr>
            <a:endParaRPr lang="en-IN" sz="1600" b="1" dirty="0"/>
          </a:p>
        </p:txBody>
      </p:sp>
    </p:spTree>
    <p:extLst>
      <p:ext uri="{BB962C8B-B14F-4D97-AF65-F5344CB8AC3E}">
        <p14:creationId xmlns:p14="http://schemas.microsoft.com/office/powerpoint/2010/main" val="306257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5E26-A669-419F-9BF7-0ED888F286B1}"/>
              </a:ext>
            </a:extLst>
          </p:cNvPr>
          <p:cNvSpPr>
            <a:spLocks noGrp="1"/>
          </p:cNvSpPr>
          <p:nvPr>
            <p:ph type="title"/>
          </p:nvPr>
        </p:nvSpPr>
        <p:spPr>
          <a:xfrm>
            <a:off x="838200" y="164238"/>
            <a:ext cx="10515600" cy="830062"/>
          </a:xfrm>
        </p:spPr>
        <p:txBody>
          <a:bodyPr>
            <a:normAutofit fontScale="90000"/>
          </a:bodyPr>
          <a:lstStyle/>
          <a:p>
            <a:br>
              <a:rPr lang="en-IN" b="0" i="0" u="none" strike="noStrike" dirty="0">
                <a:solidFill>
                  <a:srgbClr val="000000"/>
                </a:solidFill>
                <a:effectLst/>
                <a:latin typeface="Titillium Web"/>
              </a:rPr>
            </a:br>
            <a:r>
              <a:rPr lang="en-IN" b="0" i="0" u="none" strike="noStrike" dirty="0">
                <a:solidFill>
                  <a:srgbClr val="000000"/>
                </a:solidFill>
                <a:effectLst/>
                <a:latin typeface="Titillium Web"/>
              </a:rPr>
              <a:t>Advantages of Enca</a:t>
            </a:r>
            <a:r>
              <a:rPr lang="en-IN" dirty="0">
                <a:solidFill>
                  <a:srgbClr val="000000"/>
                </a:solidFill>
                <a:latin typeface="Titillium Web"/>
              </a:rPr>
              <a:t>psulation</a:t>
            </a:r>
            <a:br>
              <a:rPr lang="en-IN" dirty="0">
                <a:solidFill>
                  <a:srgbClr val="000000"/>
                </a:solidFill>
                <a:latin typeface="Titillium Web"/>
              </a:rPr>
            </a:br>
            <a:endParaRPr lang="en-IN" b="1" dirty="0"/>
          </a:p>
        </p:txBody>
      </p:sp>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1065320"/>
            <a:ext cx="10515600" cy="5601809"/>
          </a:xfrm>
        </p:spPr>
        <p:txBody>
          <a:bodyPr>
            <a:normAutofit/>
          </a:bodyPr>
          <a:lstStyle/>
          <a:p>
            <a:r>
              <a:rPr lang="en-US" sz="1600" b="1" dirty="0"/>
              <a:t>It improves maintainability and flexibility and re-usability:</a:t>
            </a:r>
            <a:r>
              <a:rPr lang="en-US" sz="1600" dirty="0"/>
              <a:t> For e.g. In the above code the implementation code of void </a:t>
            </a:r>
            <a:r>
              <a:rPr lang="en-US" sz="1600" dirty="0" err="1"/>
              <a:t>setEmpName</a:t>
            </a:r>
            <a:r>
              <a:rPr lang="en-US" sz="1600" dirty="0"/>
              <a:t>(String name) and String </a:t>
            </a:r>
            <a:r>
              <a:rPr lang="en-US" sz="1600" dirty="0" err="1"/>
              <a:t>getEmpName</a:t>
            </a:r>
            <a:r>
              <a:rPr lang="en-US" sz="1600" dirty="0"/>
              <a:t>() can be changed at any point of time. Since the implementation is purely hidden for outside classes they would still be accessing the private field </a:t>
            </a:r>
            <a:r>
              <a:rPr lang="en-US" sz="1600" dirty="0" err="1"/>
              <a:t>empName</a:t>
            </a:r>
            <a:r>
              <a:rPr lang="en-US" sz="1600" dirty="0"/>
              <a:t> using the same methods (</a:t>
            </a:r>
            <a:r>
              <a:rPr lang="en-US" sz="1600" dirty="0" err="1"/>
              <a:t>setEmpName</a:t>
            </a:r>
            <a:r>
              <a:rPr lang="en-US" sz="1600" dirty="0"/>
              <a:t>(String name) and </a:t>
            </a:r>
            <a:r>
              <a:rPr lang="en-US" sz="1600" dirty="0" err="1"/>
              <a:t>getEmpName</a:t>
            </a:r>
            <a:r>
              <a:rPr lang="en-US" sz="1600" dirty="0"/>
              <a:t>()). Hence the code can be maintained at any point of time without breaking the classes that uses the code. This improves the re-usability of the underlying class.</a:t>
            </a:r>
          </a:p>
          <a:p>
            <a:r>
              <a:rPr lang="en-US" sz="1600" b="1" dirty="0"/>
              <a:t>The fields can be made read-only or write-only.</a:t>
            </a:r>
            <a:r>
              <a:rPr lang="en-US" sz="1600" dirty="0"/>
              <a:t> For e.g. If we have a field(or variable) that we don’t want to be changed so we simply define the variable as private and instead of set and get both we just need to define the get method for that variable. Since the set method is not present there is no way an outside class can modify the value of that field.</a:t>
            </a:r>
          </a:p>
          <a:p>
            <a:r>
              <a:rPr lang="en-US" sz="1600" b="1" dirty="0"/>
              <a:t>Data Hiding: </a:t>
            </a:r>
            <a:r>
              <a:rPr lang="en-US" sz="1600" dirty="0"/>
              <a:t>User would not be knowing what is going on behind the scene. They would only be knowing that to update a field call set method and to read a field call get method but what these set and get methods are doing is purely hidden from them.</a:t>
            </a:r>
          </a:p>
          <a:p>
            <a:pPr marL="0" indent="0">
              <a:buNone/>
            </a:pPr>
            <a:endParaRPr lang="en-US" sz="1600" dirty="0"/>
          </a:p>
          <a:p>
            <a:pPr marL="0" indent="0">
              <a:buNone/>
            </a:pPr>
            <a:endParaRPr lang="en-IN" sz="1600" b="1" dirty="0"/>
          </a:p>
        </p:txBody>
      </p:sp>
    </p:spTree>
    <p:extLst>
      <p:ext uri="{BB962C8B-B14F-4D97-AF65-F5344CB8AC3E}">
        <p14:creationId xmlns:p14="http://schemas.microsoft.com/office/powerpoint/2010/main" val="2690892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926976" y="550415"/>
            <a:ext cx="10515600" cy="4669654"/>
          </a:xfrm>
        </p:spPr>
        <p:txBody>
          <a:bodyPr>
            <a:normAutofit/>
          </a:bodyPr>
          <a:lstStyle/>
          <a:p>
            <a:pPr marL="0" indent="0" algn="just" fontAlgn="base">
              <a:buNone/>
            </a:pPr>
            <a:r>
              <a:rPr lang="en-US" sz="1600" b="1" dirty="0">
                <a:solidFill>
                  <a:srgbClr val="000000"/>
                </a:solidFill>
                <a:latin typeface="Calibri Light" panose="020F0302020204030204" pitchFamily="34" charset="0"/>
                <a:cs typeface="Calibri Light" panose="020F0302020204030204" pitchFamily="34" charset="0"/>
              </a:rPr>
              <a:t>Encapsulation vs Data Abstraction</a:t>
            </a:r>
          </a:p>
          <a:p>
            <a:pPr algn="just" fontAlgn="base">
              <a:buFont typeface="+mj-lt"/>
              <a:buAutoNum type="arabicPeriod"/>
            </a:pPr>
            <a:r>
              <a:rPr lang="en-US" sz="1400" dirty="0">
                <a:solidFill>
                  <a:srgbClr val="000000"/>
                </a:solidFill>
                <a:latin typeface="Calibri Light" panose="020F0302020204030204" pitchFamily="34" charset="0"/>
                <a:cs typeface="Calibri Light" panose="020F0302020204030204" pitchFamily="34" charset="0"/>
                <a:hlinkClick r:id="rId2">
                  <a:extLst>
                    <a:ext uri="{A12FA001-AC4F-418D-AE19-62706E023703}">
                      <ahyp:hlinkClr xmlns:ahyp="http://schemas.microsoft.com/office/drawing/2018/hyperlinkcolor" val="tx"/>
                    </a:ext>
                  </a:extLst>
                </a:hlinkClick>
              </a:rPr>
              <a:t>Encapsulation</a:t>
            </a:r>
            <a:r>
              <a:rPr lang="en-US" sz="1400" dirty="0">
                <a:solidFill>
                  <a:srgbClr val="000000"/>
                </a:solidFill>
                <a:latin typeface="Calibri Light" panose="020F0302020204030204" pitchFamily="34" charset="0"/>
                <a:cs typeface="Calibri Light" panose="020F0302020204030204" pitchFamily="34" charset="0"/>
              </a:rPr>
              <a:t> is data hiding(information hiding) while Abstraction is detail hiding(implementation hiding).</a:t>
            </a:r>
          </a:p>
          <a:p>
            <a:pPr algn="just" fontAlgn="base">
              <a:buFont typeface="+mj-lt"/>
              <a:buAutoNum type="arabicPeriod"/>
            </a:pPr>
            <a:r>
              <a:rPr lang="en-US" sz="1400" dirty="0">
                <a:solidFill>
                  <a:srgbClr val="000000"/>
                </a:solidFill>
                <a:latin typeface="Calibri Light" panose="020F0302020204030204" pitchFamily="34" charset="0"/>
                <a:cs typeface="Calibri Light" panose="020F0302020204030204" pitchFamily="34" charset="0"/>
              </a:rPr>
              <a:t>While encapsulation groups together data and methods that act upon the data, data abstraction deals with exposing the interface to the user and hiding the details of implementation.</a:t>
            </a:r>
          </a:p>
          <a:p>
            <a:pPr marL="0" indent="0" algn="just" fontAlgn="base">
              <a:buNone/>
            </a:pPr>
            <a:endParaRPr lang="en-US" sz="1400" dirty="0">
              <a:solidFill>
                <a:srgbClr val="000000"/>
              </a:solidFill>
              <a:latin typeface="Calibri Light" panose="020F0302020204030204" pitchFamily="34" charset="0"/>
              <a:cs typeface="Calibri Light" panose="020F0302020204030204" pitchFamily="34" charset="0"/>
            </a:endParaRPr>
          </a:p>
          <a:p>
            <a:pPr marL="0" indent="0">
              <a:buNone/>
            </a:pPr>
            <a:endParaRPr lang="en-IN" sz="1400" dirty="0"/>
          </a:p>
        </p:txBody>
      </p:sp>
    </p:spTree>
    <p:extLst>
      <p:ext uri="{BB962C8B-B14F-4D97-AF65-F5344CB8AC3E}">
        <p14:creationId xmlns:p14="http://schemas.microsoft.com/office/powerpoint/2010/main" val="27946710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4533</TotalTime>
  <Words>475</Words>
  <Application>Microsoft Office PowerPoint</Application>
  <PresentationFormat>Widescreen</PresentationFormat>
  <Paragraphs>14</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Titillium Web</vt:lpstr>
      <vt:lpstr>Office Theme</vt:lpstr>
      <vt:lpstr> Encapsulation </vt:lpstr>
      <vt:lpstr> Advantages of Encapsulation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prashant gaikwad</dc:creator>
  <cp:lastModifiedBy>prashant gaikwad</cp:lastModifiedBy>
  <cp:revision>81</cp:revision>
  <dcterms:created xsi:type="dcterms:W3CDTF">2021-08-12T14:59:47Z</dcterms:created>
  <dcterms:modified xsi:type="dcterms:W3CDTF">2022-03-10T03:55:57Z</dcterms:modified>
</cp:coreProperties>
</file>