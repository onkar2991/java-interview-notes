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8" r:id="rId4"/>
    <p:sldId id="26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12-03-2022</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12-03-2022</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68243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u="none" strike="noStrike" dirty="0">
                <a:solidFill>
                  <a:srgbClr val="000000"/>
                </a:solidFill>
                <a:effectLst/>
                <a:latin typeface="Calibri" panose="020F0502020204030204" pitchFamily="34" charset="0"/>
                <a:cs typeface="Calibri" panose="020F0502020204030204" pitchFamily="34" charset="0"/>
              </a:rPr>
              <a:t>Dynamic Polymor</a:t>
            </a:r>
            <a:r>
              <a:rPr lang="en-IN" b="1" dirty="0">
                <a:solidFill>
                  <a:srgbClr val="000000"/>
                </a:solidFill>
                <a:latin typeface="Calibri" panose="020F0502020204030204" pitchFamily="34" charset="0"/>
                <a:cs typeface="Calibri" panose="020F0502020204030204" pitchFamily="34" charset="0"/>
              </a:rPr>
              <a:t>phism</a:t>
            </a: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491449"/>
            <a:ext cx="10515600" cy="5149048"/>
          </a:xfrm>
        </p:spPr>
        <p:txBody>
          <a:bodyPr>
            <a:normAutofit/>
          </a:bodyPr>
          <a:lstStyle/>
          <a:p>
            <a:pPr marL="0" indent="0">
              <a:buNone/>
            </a:pPr>
            <a:r>
              <a:rPr lang="en-US" sz="1600" b="1" dirty="0"/>
              <a:t>2) Dynamic Polymorphism</a:t>
            </a:r>
          </a:p>
          <a:p>
            <a:r>
              <a:rPr lang="en-US" sz="1600" dirty="0"/>
              <a:t>Any entity which shows polymorphism during run time is called dynamic polymorphism. Method Overriding is the best example of dynamic polymorphism. It is also called dynamic binding or late binding, because type of the object used will be determined at run time only.</a:t>
            </a:r>
          </a:p>
          <a:p>
            <a:r>
              <a:rPr lang="en-US" sz="1600" dirty="0"/>
              <a:t>Method </a:t>
            </a:r>
            <a:r>
              <a:rPr lang="en-IN" sz="1600" dirty="0"/>
              <a:t>Overriding</a:t>
            </a:r>
            <a:r>
              <a:rPr lang="en-IN" sz="1100" b="1" i="0" u="none" strike="noStrike" dirty="0">
                <a:solidFill>
                  <a:srgbClr val="000000"/>
                </a:solidFill>
                <a:effectLst/>
                <a:latin typeface="Titillium Web"/>
              </a:rPr>
              <a:t> </a:t>
            </a:r>
            <a:r>
              <a:rPr lang="en-US" sz="1600" dirty="0"/>
              <a:t> : When a class extends its super class, all or some members of super class are inherited to sub class. When a inherited super class method is modified in the sub class, then we call it as method is </a:t>
            </a:r>
            <a:r>
              <a:rPr lang="en-US" sz="1600" dirty="0" err="1"/>
              <a:t>overrided</a:t>
            </a:r>
            <a:r>
              <a:rPr lang="en-US" sz="1600" dirty="0"/>
              <a:t>. Through method overriding, we can modify super class method according to requirements of sub class.</a:t>
            </a:r>
          </a:p>
          <a:p>
            <a:r>
              <a:rPr lang="en-US" sz="1600" dirty="0"/>
              <a:t>Method Overriding in java is most useful features of java. Through inheritance we can reuse already existed code and through method overriding we can modify that reused code according to our requirements. This can be best explained with example.</a:t>
            </a:r>
          </a:p>
          <a:p>
            <a:endParaRPr lang="en-IN" sz="1600" b="1" dirty="0"/>
          </a:p>
        </p:txBody>
      </p:sp>
    </p:spTree>
    <p:extLst>
      <p:ext uri="{BB962C8B-B14F-4D97-AF65-F5344CB8AC3E}">
        <p14:creationId xmlns:p14="http://schemas.microsoft.com/office/powerpoint/2010/main" val="30625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217502"/>
            <a:ext cx="10515600" cy="780094"/>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u="none" strike="noStrike" dirty="0">
                <a:solidFill>
                  <a:srgbClr val="000000"/>
                </a:solidFill>
                <a:effectLst/>
                <a:latin typeface="Calibri" panose="020F0502020204030204" pitchFamily="34" charset="0"/>
                <a:cs typeface="Calibri" panose="020F0502020204030204" pitchFamily="34" charset="0"/>
              </a:rPr>
              <a:t>Method </a:t>
            </a:r>
            <a:r>
              <a:rPr lang="en-IN" b="1" i="0" u="none" strike="noStrike" dirty="0">
                <a:solidFill>
                  <a:srgbClr val="000000"/>
                </a:solidFill>
                <a:effectLst/>
                <a:latin typeface="Titillium Web"/>
              </a:rPr>
              <a:t>Overriding</a:t>
            </a:r>
            <a:r>
              <a:rPr lang="en-IN" b="1" i="0" u="none" strike="noStrike" dirty="0">
                <a:solidFill>
                  <a:srgbClr val="000000"/>
                </a:solidFill>
                <a:effectLst/>
                <a:latin typeface="Calibri" panose="020F0502020204030204" pitchFamily="34" charset="0"/>
                <a:cs typeface="Calibri" panose="020F0502020204030204" pitchFamily="34" charset="0"/>
              </a:rPr>
              <a:t> Rules</a:t>
            </a: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612742" y="997596"/>
            <a:ext cx="10741058" cy="5642901"/>
          </a:xfrm>
        </p:spPr>
        <p:txBody>
          <a:bodyPr>
            <a:normAutofit fontScale="25000" lnSpcReduction="20000"/>
          </a:bodyPr>
          <a:lstStyle/>
          <a:p>
            <a:pPr marL="0" indent="0">
              <a:buNone/>
            </a:pPr>
            <a:r>
              <a:rPr lang="en-US" sz="6400" dirty="0"/>
              <a:t>The overriding method must follow following mandatory rules:</a:t>
            </a:r>
          </a:p>
          <a:p>
            <a:pPr marL="0" indent="0">
              <a:buNone/>
            </a:pPr>
            <a:r>
              <a:rPr lang="en-US" sz="6400" dirty="0"/>
              <a:t>1) It must have the same method name.</a:t>
            </a:r>
          </a:p>
          <a:p>
            <a:pPr marL="0" indent="0">
              <a:buNone/>
            </a:pPr>
            <a:r>
              <a:rPr lang="en-US" sz="6400" dirty="0"/>
              <a:t>2) It must have the same arguments.</a:t>
            </a:r>
          </a:p>
          <a:p>
            <a:pPr marL="0" indent="0">
              <a:buNone/>
            </a:pPr>
            <a:r>
              <a:rPr lang="en-US" sz="6400" dirty="0"/>
              <a:t>3) It must have the same return type. From Java 5 onward, the return type can also be a subclass (subclasses are a covariant type to their parents).</a:t>
            </a:r>
          </a:p>
          <a:p>
            <a:pPr marL="0" indent="0">
              <a:buNone/>
            </a:pPr>
            <a:r>
              <a:rPr lang="en-US" sz="6400" dirty="0"/>
              <a:t>4) It must not have a more restrictive access modifier (if parent --&gt; protected then child --&gt; private is not allowed).</a:t>
            </a:r>
          </a:p>
          <a:p>
            <a:pPr marL="0" indent="0">
              <a:buNone/>
            </a:pPr>
            <a:r>
              <a:rPr lang="en-US" sz="6400" dirty="0"/>
              <a:t>5) It must not throw new or broader checked exceptions.</a:t>
            </a:r>
          </a:p>
          <a:p>
            <a:pPr marL="0" indent="0">
              <a:buNone/>
            </a:pPr>
            <a:endParaRPr lang="en-US" sz="6400" dirty="0"/>
          </a:p>
          <a:p>
            <a:pPr marL="0" indent="0">
              <a:buNone/>
            </a:pPr>
            <a:r>
              <a:rPr lang="en-US" sz="6400" dirty="0"/>
              <a:t>And if both overriding methods follow the above mandatory rules(#4 &amp; #5), then they:</a:t>
            </a:r>
          </a:p>
          <a:p>
            <a:r>
              <a:rPr lang="en-US" sz="6400" dirty="0"/>
              <a:t>May have a less restrictive access modifier (if parent --&gt; protected then child --&gt; public is allowed).</a:t>
            </a:r>
          </a:p>
          <a:p>
            <a:r>
              <a:rPr lang="en-US" sz="6400" dirty="0"/>
              <a:t>May throw fewer or narrower checked exceptions or any unchecked exception.</a:t>
            </a:r>
          </a:p>
          <a:p>
            <a:pPr marL="0" indent="0">
              <a:buNone/>
            </a:pPr>
            <a:endParaRPr lang="en-US" sz="6400" dirty="0"/>
          </a:p>
          <a:p>
            <a:pPr marL="0" indent="0">
              <a:buNone/>
            </a:pPr>
            <a:r>
              <a:rPr lang="en-US" sz="6400" dirty="0"/>
              <a:t>Apart from the above rules, there are also some facts to keep in mind:</a:t>
            </a:r>
          </a:p>
          <a:p>
            <a:r>
              <a:rPr lang="en-US" sz="6400" dirty="0"/>
              <a:t>Only inherited methods can be overridden. That means methods can be overridden only in child classes.</a:t>
            </a:r>
          </a:p>
          <a:p>
            <a:r>
              <a:rPr lang="en-US" sz="6400" dirty="0"/>
              <a:t>Constructors and private methods are not inherited, so they cannot be overridden.</a:t>
            </a:r>
          </a:p>
          <a:p>
            <a:r>
              <a:rPr lang="en-US" sz="6400" dirty="0"/>
              <a:t>Abstract methods must be overridden by the first concrete (non-abstract) subclass.</a:t>
            </a:r>
          </a:p>
          <a:p>
            <a:r>
              <a:rPr lang="en-US" sz="6400" dirty="0"/>
              <a:t>final methods cannot be overridden.</a:t>
            </a:r>
          </a:p>
          <a:p>
            <a:r>
              <a:rPr lang="en-US" sz="6400" dirty="0"/>
              <a:t>A subclass can use </a:t>
            </a:r>
            <a:r>
              <a:rPr lang="en-US" sz="6400" dirty="0" err="1"/>
              <a:t>super.overridden_method</a:t>
            </a:r>
            <a:r>
              <a:rPr lang="en-US" sz="6400" dirty="0"/>
              <a:t>() to call the superclass version of an overridden method.</a:t>
            </a:r>
            <a:endParaRPr lang="en-IN" sz="6400" dirty="0"/>
          </a:p>
        </p:txBody>
      </p:sp>
    </p:spTree>
    <p:extLst>
      <p:ext uri="{BB962C8B-B14F-4D97-AF65-F5344CB8AC3E}">
        <p14:creationId xmlns:p14="http://schemas.microsoft.com/office/powerpoint/2010/main" val="205303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780094"/>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u="none" strike="noStrike" dirty="0">
                <a:solidFill>
                  <a:srgbClr val="000000"/>
                </a:solidFill>
                <a:effectLst/>
                <a:latin typeface="Calibri" panose="020F0502020204030204" pitchFamily="34" charset="0"/>
                <a:cs typeface="Calibri" panose="020F0502020204030204" pitchFamily="34" charset="0"/>
              </a:rPr>
              <a:t>Method </a:t>
            </a:r>
            <a:r>
              <a:rPr lang="en-IN" b="1" i="0" u="none" strike="noStrike" dirty="0">
                <a:solidFill>
                  <a:srgbClr val="000000"/>
                </a:solidFill>
                <a:effectLst/>
                <a:latin typeface="Titillium Web"/>
              </a:rPr>
              <a:t>Overriding</a:t>
            </a:r>
            <a:r>
              <a:rPr lang="en-IN" b="1" i="0" u="none" strike="noStrike" dirty="0">
                <a:solidFill>
                  <a:srgbClr val="000000"/>
                </a:solidFill>
                <a:effectLst/>
                <a:latin typeface="Calibri" panose="020F0502020204030204" pitchFamily="34" charset="0"/>
                <a:cs typeface="Calibri" panose="020F0502020204030204" pitchFamily="34" charset="0"/>
              </a:rPr>
              <a:t> Rules</a:t>
            </a: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500326"/>
            <a:ext cx="10515600" cy="5140172"/>
          </a:xfrm>
        </p:spPr>
        <p:txBody>
          <a:bodyPr>
            <a:normAutofit/>
          </a:bodyPr>
          <a:lstStyle/>
          <a:p>
            <a:pPr marL="0" indent="0">
              <a:buNone/>
            </a:pPr>
            <a:r>
              <a:rPr lang="en-US" sz="1600" dirty="0"/>
              <a:t>There are 5 main rules you should kept in mind while overriding a method. They are,</a:t>
            </a:r>
          </a:p>
          <a:p>
            <a:pPr marL="0" indent="0">
              <a:buNone/>
            </a:pPr>
            <a:r>
              <a:rPr lang="en-US" sz="1600" dirty="0"/>
              <a:t>a) Name of the method must be same as that of super class method.</a:t>
            </a:r>
          </a:p>
          <a:p>
            <a:pPr marL="0" indent="0">
              <a:buNone/>
            </a:pPr>
            <a:r>
              <a:rPr lang="en-US" sz="1600" dirty="0"/>
              <a:t>b) Return type of overridden method must be compatible with the method being overridden. </a:t>
            </a:r>
            <a:r>
              <a:rPr lang="en-US" sz="1600" dirty="0" err="1"/>
              <a:t>i.e</a:t>
            </a:r>
            <a:r>
              <a:rPr lang="en-US" sz="1600" dirty="0"/>
              <a:t> if a method has primitive type as it’s return type then it must be overridden with primitive type only and if a method has derived type as it’s return type then it must be overridden with same type or it’s sub class types.</a:t>
            </a:r>
          </a:p>
          <a:p>
            <a:pPr marL="0" indent="0">
              <a:buNone/>
            </a:pPr>
            <a:r>
              <a:rPr lang="en-US" sz="1600" dirty="0"/>
              <a:t>c) You must not reduce the visibility of a method while overriding.</a:t>
            </a:r>
          </a:p>
          <a:p>
            <a:pPr marL="0" indent="0">
              <a:buNone/>
            </a:pPr>
            <a:r>
              <a:rPr lang="en-US" sz="1600" dirty="0"/>
              <a:t>d) You must not change parameter list of a method while overriding.</a:t>
            </a:r>
          </a:p>
          <a:p>
            <a:pPr marL="0" indent="0">
              <a:buNone/>
            </a:pPr>
            <a:r>
              <a:rPr lang="en-US" sz="1600" dirty="0"/>
              <a:t>e) You can not increase the scope of exceptions while overriding a method with throws clause.</a:t>
            </a:r>
            <a:endParaRPr lang="en-IN" sz="1600" dirty="0"/>
          </a:p>
        </p:txBody>
      </p:sp>
    </p:spTree>
    <p:extLst>
      <p:ext uri="{BB962C8B-B14F-4D97-AF65-F5344CB8AC3E}">
        <p14:creationId xmlns:p14="http://schemas.microsoft.com/office/powerpoint/2010/main" val="3324280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275208"/>
            <a:ext cx="10515600" cy="6365290"/>
          </a:xfrm>
        </p:spPr>
        <p:txBody>
          <a:bodyPr>
            <a:normAutofit/>
          </a:bodyPr>
          <a:lstStyle/>
          <a:p>
            <a:r>
              <a:rPr lang="en-US" sz="2800" b="1" dirty="0">
                <a:solidFill>
                  <a:srgbClr val="000000"/>
                </a:solidFill>
                <a:latin typeface="Titillium Web"/>
              </a:rPr>
              <a:t>Return Type Of </a:t>
            </a:r>
            <a:r>
              <a:rPr lang="en-US" sz="2800" b="1" dirty="0" err="1">
                <a:solidFill>
                  <a:srgbClr val="000000"/>
                </a:solidFill>
                <a:latin typeface="Titillium Web"/>
              </a:rPr>
              <a:t>Overrided</a:t>
            </a:r>
            <a:r>
              <a:rPr lang="en-US" sz="2800" b="1" dirty="0">
                <a:solidFill>
                  <a:srgbClr val="000000"/>
                </a:solidFill>
                <a:latin typeface="Titillium Web"/>
              </a:rPr>
              <a:t> Method :</a:t>
            </a:r>
            <a:endParaRPr lang="en-US" sz="1600" dirty="0"/>
          </a:p>
          <a:p>
            <a:pPr marL="0" indent="0">
              <a:buNone/>
            </a:pPr>
            <a:r>
              <a:rPr lang="en-US" sz="1600" dirty="0"/>
              <a:t>The return type of the </a:t>
            </a:r>
            <a:r>
              <a:rPr lang="en-US" sz="1600" dirty="0" err="1"/>
              <a:t>overrided</a:t>
            </a:r>
            <a:r>
              <a:rPr lang="en-US" sz="1600" dirty="0"/>
              <a:t> method must be compatible with super class method. If super class method has primitive data type as its return type, then </a:t>
            </a:r>
            <a:r>
              <a:rPr lang="en-US" sz="1600" dirty="0" err="1"/>
              <a:t>overrided</a:t>
            </a:r>
            <a:r>
              <a:rPr lang="en-US" sz="1600" dirty="0"/>
              <a:t> method must have same return type in sub class also. If super class method has derived or user defined data type as its return type, then return type of sub class method must be of same type or its sub class. </a:t>
            </a:r>
          </a:p>
          <a:p>
            <a:r>
              <a:rPr lang="en-IN" b="1" dirty="0">
                <a:solidFill>
                  <a:srgbClr val="000000"/>
                </a:solidFill>
                <a:latin typeface="Titillium Web"/>
              </a:rPr>
              <a:t>Visibility Of </a:t>
            </a:r>
            <a:r>
              <a:rPr lang="en-IN" b="1" dirty="0" err="1">
                <a:solidFill>
                  <a:srgbClr val="000000"/>
                </a:solidFill>
                <a:latin typeface="Titillium Web"/>
              </a:rPr>
              <a:t>Overrided</a:t>
            </a:r>
            <a:r>
              <a:rPr lang="en-IN" b="1" dirty="0">
                <a:solidFill>
                  <a:srgbClr val="000000"/>
                </a:solidFill>
                <a:latin typeface="Titillium Web"/>
              </a:rPr>
              <a:t> method :</a:t>
            </a:r>
          </a:p>
          <a:p>
            <a:pPr marL="0" indent="0">
              <a:buNone/>
            </a:pPr>
            <a:r>
              <a:rPr lang="en-US" sz="1600" dirty="0"/>
              <a:t>You can keep same visibility or increase the visibility of </a:t>
            </a:r>
            <a:r>
              <a:rPr lang="en-US" sz="1600" dirty="0" err="1"/>
              <a:t>overrided</a:t>
            </a:r>
            <a:r>
              <a:rPr lang="en-US" sz="1600" dirty="0"/>
              <a:t> method but you can’t reduce the visibility of </a:t>
            </a:r>
            <a:r>
              <a:rPr lang="en-US" sz="1600" dirty="0" err="1"/>
              <a:t>overrided</a:t>
            </a:r>
            <a:r>
              <a:rPr lang="en-US" sz="1600" dirty="0"/>
              <a:t> methods in the subclass. For example, default method can be </a:t>
            </a:r>
            <a:r>
              <a:rPr lang="en-US" sz="1600" dirty="0" err="1"/>
              <a:t>overided</a:t>
            </a:r>
            <a:r>
              <a:rPr lang="en-US" sz="1600" dirty="0"/>
              <a:t> as default or protected or public method but not as private.</a:t>
            </a:r>
          </a:p>
          <a:p>
            <a:r>
              <a:rPr lang="en-IN" b="1" dirty="0">
                <a:solidFill>
                  <a:srgbClr val="000000"/>
                </a:solidFill>
                <a:latin typeface="Titillium Web"/>
              </a:rPr>
              <a:t>Arguments Of </a:t>
            </a:r>
            <a:r>
              <a:rPr lang="en-IN" b="1" dirty="0" err="1">
                <a:solidFill>
                  <a:srgbClr val="000000"/>
                </a:solidFill>
                <a:latin typeface="Titillium Web"/>
              </a:rPr>
              <a:t>Overrided</a:t>
            </a:r>
            <a:r>
              <a:rPr lang="en-IN" b="1" dirty="0">
                <a:solidFill>
                  <a:srgbClr val="000000"/>
                </a:solidFill>
                <a:latin typeface="Titillium Web"/>
              </a:rPr>
              <a:t> Methods :</a:t>
            </a:r>
          </a:p>
          <a:p>
            <a:pPr marL="0" indent="0">
              <a:buNone/>
            </a:pPr>
            <a:r>
              <a:rPr lang="en-US" sz="1600" dirty="0"/>
              <a:t>For method to be properly </a:t>
            </a:r>
            <a:r>
              <a:rPr lang="en-US" sz="1600" dirty="0" err="1"/>
              <a:t>overrided</a:t>
            </a:r>
            <a:r>
              <a:rPr lang="en-US" sz="1600" dirty="0"/>
              <a:t>, You must not change arguments of method in subclass. If you change the number of arguments or types of arguments of </a:t>
            </a:r>
            <a:r>
              <a:rPr lang="en-US" sz="1600" dirty="0" err="1"/>
              <a:t>overrided</a:t>
            </a:r>
            <a:r>
              <a:rPr lang="en-US" sz="1600" dirty="0"/>
              <a:t> method in the subclass, then method will be overloaded not </a:t>
            </a:r>
            <a:r>
              <a:rPr lang="en-US" sz="1600" dirty="0" err="1"/>
              <a:t>overrided</a:t>
            </a:r>
            <a:r>
              <a:rPr lang="en-US" sz="1600" dirty="0"/>
              <a:t>.</a:t>
            </a:r>
          </a:p>
          <a:p>
            <a:pPr marL="0" indent="0">
              <a:buNone/>
            </a:pPr>
            <a:endParaRPr lang="en-US" sz="1600" dirty="0"/>
          </a:p>
          <a:p>
            <a:pPr marL="0" indent="0">
              <a:buNone/>
            </a:pPr>
            <a:endParaRPr lang="en-IN" sz="1600" dirty="0"/>
          </a:p>
        </p:txBody>
      </p:sp>
    </p:spTree>
    <p:extLst>
      <p:ext uri="{BB962C8B-B14F-4D97-AF65-F5344CB8AC3E}">
        <p14:creationId xmlns:p14="http://schemas.microsoft.com/office/powerpoint/2010/main" val="4253887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6772</TotalTime>
  <Words>726</Words>
  <Application>Microsoft Office PowerPoint</Application>
  <PresentationFormat>Widescreen</PresentationFormat>
  <Paragraphs>36</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Titillium Web</vt:lpstr>
      <vt:lpstr>Office Theme</vt:lpstr>
      <vt:lpstr> Dynamic Polymorphism </vt:lpstr>
      <vt:lpstr> Method Overriding Rules </vt:lpstr>
      <vt:lpstr> Method Overriding Rules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75</cp:revision>
  <dcterms:created xsi:type="dcterms:W3CDTF">2021-08-12T14:59:47Z</dcterms:created>
  <dcterms:modified xsi:type="dcterms:W3CDTF">2022-03-12T08:24:59Z</dcterms:modified>
</cp:coreProperties>
</file>