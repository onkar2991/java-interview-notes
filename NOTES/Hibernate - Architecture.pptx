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67" r:id="rId4"/>
    <p:sldId id="276" r:id="rId5"/>
    <p:sldId id="277" r:id="rId6"/>
    <p:sldId id="278" r:id="rId7"/>
    <p:sldId id="279" r:id="rId8"/>
    <p:sldId id="280" r:id="rId9"/>
    <p:sldId id="282" r:id="rId10"/>
    <p:sldId id="283" r:id="rId11"/>
    <p:sldId id="28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8B59D-E7DA-4B57-BFAC-067BBE37DD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5A9263D-CF3F-4BBF-8725-4DDFF987C8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0A256EE-ADB6-48D2-B2BA-59319EB95FAC}"/>
              </a:ext>
            </a:extLst>
          </p:cNvPr>
          <p:cNvSpPr>
            <a:spLocks noGrp="1"/>
          </p:cNvSpPr>
          <p:nvPr>
            <p:ph type="dt" sz="half" idx="10"/>
          </p:nvPr>
        </p:nvSpPr>
        <p:spPr/>
        <p:txBody>
          <a:bodyPr/>
          <a:lstStyle/>
          <a:p>
            <a:fld id="{A9A6D8C6-D499-4CD7-9080-1E49221F37AC}" type="datetimeFigureOut">
              <a:rPr lang="en-IN" smtClean="0"/>
              <a:t>09-08-2022</a:t>
            </a:fld>
            <a:endParaRPr lang="en-IN"/>
          </a:p>
        </p:txBody>
      </p:sp>
      <p:sp>
        <p:nvSpPr>
          <p:cNvPr id="5" name="Footer Placeholder 4">
            <a:extLst>
              <a:ext uri="{FF2B5EF4-FFF2-40B4-BE49-F238E27FC236}">
                <a16:creationId xmlns:a16="http://schemas.microsoft.com/office/drawing/2014/main" id="{FA0FF82E-46C0-4791-B94F-8AAFDA4636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13F28C-0C29-45F9-B5A6-61E186507026}"/>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75842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769D-BFDD-4F18-B71E-5B2991F185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E71FCC-F6BB-46E1-B0C8-16FE08B6CF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2CFABD-47C7-404F-9FEA-B149CACFFD36}"/>
              </a:ext>
            </a:extLst>
          </p:cNvPr>
          <p:cNvSpPr>
            <a:spLocks noGrp="1"/>
          </p:cNvSpPr>
          <p:nvPr>
            <p:ph type="dt" sz="half" idx="10"/>
          </p:nvPr>
        </p:nvSpPr>
        <p:spPr/>
        <p:txBody>
          <a:bodyPr/>
          <a:lstStyle/>
          <a:p>
            <a:fld id="{A9A6D8C6-D499-4CD7-9080-1E49221F37AC}" type="datetimeFigureOut">
              <a:rPr lang="en-IN" smtClean="0"/>
              <a:t>09-08-2022</a:t>
            </a:fld>
            <a:endParaRPr lang="en-IN"/>
          </a:p>
        </p:txBody>
      </p:sp>
      <p:sp>
        <p:nvSpPr>
          <p:cNvPr id="5" name="Footer Placeholder 4">
            <a:extLst>
              <a:ext uri="{FF2B5EF4-FFF2-40B4-BE49-F238E27FC236}">
                <a16:creationId xmlns:a16="http://schemas.microsoft.com/office/drawing/2014/main" id="{EB88F9A5-87FD-4115-A01C-B966574058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2C801E-2D39-4A77-8C1E-EAECECEB367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24729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2DC88-AB71-4F21-81DF-5F87D7D79B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6613F50-E715-42BF-84A6-E75758AB48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B8B33-E08C-4CA0-9CC3-806F113BEA1A}"/>
              </a:ext>
            </a:extLst>
          </p:cNvPr>
          <p:cNvSpPr>
            <a:spLocks noGrp="1"/>
          </p:cNvSpPr>
          <p:nvPr>
            <p:ph type="dt" sz="half" idx="10"/>
          </p:nvPr>
        </p:nvSpPr>
        <p:spPr/>
        <p:txBody>
          <a:bodyPr/>
          <a:lstStyle/>
          <a:p>
            <a:fld id="{A9A6D8C6-D499-4CD7-9080-1E49221F37AC}" type="datetimeFigureOut">
              <a:rPr lang="en-IN" smtClean="0"/>
              <a:t>09-08-2022</a:t>
            </a:fld>
            <a:endParaRPr lang="en-IN"/>
          </a:p>
        </p:txBody>
      </p:sp>
      <p:sp>
        <p:nvSpPr>
          <p:cNvPr id="5" name="Footer Placeholder 4">
            <a:extLst>
              <a:ext uri="{FF2B5EF4-FFF2-40B4-BE49-F238E27FC236}">
                <a16:creationId xmlns:a16="http://schemas.microsoft.com/office/drawing/2014/main" id="{E1E2A163-F793-4223-BB34-95E1158A32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428612-989E-4103-8C0A-AE8545359EA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038909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26E7C-81BD-41C5-A452-6EAE546BEA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0A3E81-14F8-423D-89EE-2F45CDA78C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B42597-3B5D-4601-A6D6-EBC51E025C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FD93759-B0B1-420D-802F-2A00B6E7E36B}"/>
              </a:ext>
            </a:extLst>
          </p:cNvPr>
          <p:cNvSpPr>
            <a:spLocks noGrp="1"/>
          </p:cNvSpPr>
          <p:nvPr>
            <p:ph type="dt" sz="half" idx="10"/>
          </p:nvPr>
        </p:nvSpPr>
        <p:spPr/>
        <p:txBody>
          <a:bodyPr/>
          <a:lstStyle/>
          <a:p>
            <a:fld id="{A9A6D8C6-D499-4CD7-9080-1E49221F37AC}" type="datetimeFigureOut">
              <a:rPr lang="en-IN" smtClean="0"/>
              <a:t>09-08-2022</a:t>
            </a:fld>
            <a:endParaRPr lang="en-IN"/>
          </a:p>
        </p:txBody>
      </p:sp>
      <p:sp>
        <p:nvSpPr>
          <p:cNvPr id="6" name="Footer Placeholder 5">
            <a:extLst>
              <a:ext uri="{FF2B5EF4-FFF2-40B4-BE49-F238E27FC236}">
                <a16:creationId xmlns:a16="http://schemas.microsoft.com/office/drawing/2014/main" id="{25B0346A-06DC-4552-B787-4C8B08AB23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BF1500-8649-42D5-9FDA-C1D17C4D94F0}"/>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4034390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2F412-893B-4BAD-9222-2B1499D076A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5A0AF1-2C0F-4F48-95A7-587ADBDD5C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A275F0-B4A2-4CC0-8567-B5C1F6B1C3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064487-5112-4E99-97F5-E6FB03C999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F1B33D-9DA7-4A41-9D7E-55B54A350D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A059A3A-2B9F-44EF-8BEB-A56BB5ED834E}"/>
              </a:ext>
            </a:extLst>
          </p:cNvPr>
          <p:cNvSpPr>
            <a:spLocks noGrp="1"/>
          </p:cNvSpPr>
          <p:nvPr>
            <p:ph type="dt" sz="half" idx="10"/>
          </p:nvPr>
        </p:nvSpPr>
        <p:spPr/>
        <p:txBody>
          <a:bodyPr/>
          <a:lstStyle/>
          <a:p>
            <a:fld id="{A9A6D8C6-D499-4CD7-9080-1E49221F37AC}" type="datetimeFigureOut">
              <a:rPr lang="en-IN" smtClean="0"/>
              <a:t>09-08-2022</a:t>
            </a:fld>
            <a:endParaRPr lang="en-IN"/>
          </a:p>
        </p:txBody>
      </p:sp>
      <p:sp>
        <p:nvSpPr>
          <p:cNvPr id="8" name="Footer Placeholder 7">
            <a:extLst>
              <a:ext uri="{FF2B5EF4-FFF2-40B4-BE49-F238E27FC236}">
                <a16:creationId xmlns:a16="http://schemas.microsoft.com/office/drawing/2014/main" id="{DBC381BD-6C74-4F7F-A9BE-9676A13034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F8E0753-A0F0-4FB0-B4C8-1CE1FB324306}"/>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916256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A6D91-5FCC-4172-82EC-B8B46E21C6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C1A1DF3-2E3D-456D-948C-D24614EC4E63}"/>
              </a:ext>
            </a:extLst>
          </p:cNvPr>
          <p:cNvSpPr>
            <a:spLocks noGrp="1"/>
          </p:cNvSpPr>
          <p:nvPr>
            <p:ph type="dt" sz="half" idx="10"/>
          </p:nvPr>
        </p:nvSpPr>
        <p:spPr/>
        <p:txBody>
          <a:bodyPr/>
          <a:lstStyle/>
          <a:p>
            <a:fld id="{A9A6D8C6-D499-4CD7-9080-1E49221F37AC}" type="datetimeFigureOut">
              <a:rPr lang="en-IN" smtClean="0"/>
              <a:t>09-08-2022</a:t>
            </a:fld>
            <a:endParaRPr lang="en-IN"/>
          </a:p>
        </p:txBody>
      </p:sp>
      <p:sp>
        <p:nvSpPr>
          <p:cNvPr id="4" name="Footer Placeholder 3">
            <a:extLst>
              <a:ext uri="{FF2B5EF4-FFF2-40B4-BE49-F238E27FC236}">
                <a16:creationId xmlns:a16="http://schemas.microsoft.com/office/drawing/2014/main" id="{FFF6B5A1-AAE5-4FB6-8D27-7FA65D4FF0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25F4B5-2898-429F-A970-BD324CCD4D5F}"/>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194213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BD9A7A-58E5-458E-B4CB-AAD67A5EFFA5}"/>
              </a:ext>
            </a:extLst>
          </p:cNvPr>
          <p:cNvSpPr>
            <a:spLocks noGrp="1"/>
          </p:cNvSpPr>
          <p:nvPr>
            <p:ph type="dt" sz="half" idx="10"/>
          </p:nvPr>
        </p:nvSpPr>
        <p:spPr/>
        <p:txBody>
          <a:bodyPr/>
          <a:lstStyle/>
          <a:p>
            <a:fld id="{A9A6D8C6-D499-4CD7-9080-1E49221F37AC}" type="datetimeFigureOut">
              <a:rPr lang="en-IN" smtClean="0"/>
              <a:t>09-08-2022</a:t>
            </a:fld>
            <a:endParaRPr lang="en-IN"/>
          </a:p>
        </p:txBody>
      </p:sp>
      <p:sp>
        <p:nvSpPr>
          <p:cNvPr id="3" name="Footer Placeholder 2">
            <a:extLst>
              <a:ext uri="{FF2B5EF4-FFF2-40B4-BE49-F238E27FC236}">
                <a16:creationId xmlns:a16="http://schemas.microsoft.com/office/drawing/2014/main" id="{C5C573B6-26EF-4C85-9BFA-8E2C47573B0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0196F7-8B52-4A6B-88CC-0016D2E9145D}"/>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3667179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83CEF-4060-42D5-9F68-DE162E3931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8DD1A7-6A23-4F5F-BA62-68195DB5A9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C1F8DE1-12BC-40D5-B4EC-82693692D1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9A25DB-4F54-4E03-B958-776A1ED550DA}"/>
              </a:ext>
            </a:extLst>
          </p:cNvPr>
          <p:cNvSpPr>
            <a:spLocks noGrp="1"/>
          </p:cNvSpPr>
          <p:nvPr>
            <p:ph type="dt" sz="half" idx="10"/>
          </p:nvPr>
        </p:nvSpPr>
        <p:spPr/>
        <p:txBody>
          <a:bodyPr/>
          <a:lstStyle/>
          <a:p>
            <a:fld id="{A9A6D8C6-D499-4CD7-9080-1E49221F37AC}" type="datetimeFigureOut">
              <a:rPr lang="en-IN" smtClean="0"/>
              <a:t>09-08-2022</a:t>
            </a:fld>
            <a:endParaRPr lang="en-IN"/>
          </a:p>
        </p:txBody>
      </p:sp>
      <p:sp>
        <p:nvSpPr>
          <p:cNvPr id="6" name="Footer Placeholder 5">
            <a:extLst>
              <a:ext uri="{FF2B5EF4-FFF2-40B4-BE49-F238E27FC236}">
                <a16:creationId xmlns:a16="http://schemas.microsoft.com/office/drawing/2014/main" id="{AB9EE867-6B1D-4AB1-823C-4C55C05542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58D8D8-5BAA-4C89-86FF-156DE9FF60D2}"/>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2408171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4267-CB7C-486F-B7E5-A67402E527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ECC613C-82B2-4DA7-8479-FE33C936FB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B1EB17-1800-4819-9A81-43527BD60B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6F945-E87E-4530-826D-37E9CD42F531}"/>
              </a:ext>
            </a:extLst>
          </p:cNvPr>
          <p:cNvSpPr>
            <a:spLocks noGrp="1"/>
          </p:cNvSpPr>
          <p:nvPr>
            <p:ph type="dt" sz="half" idx="10"/>
          </p:nvPr>
        </p:nvSpPr>
        <p:spPr/>
        <p:txBody>
          <a:bodyPr/>
          <a:lstStyle/>
          <a:p>
            <a:fld id="{A9A6D8C6-D499-4CD7-9080-1E49221F37AC}" type="datetimeFigureOut">
              <a:rPr lang="en-IN" smtClean="0"/>
              <a:t>09-08-2022</a:t>
            </a:fld>
            <a:endParaRPr lang="en-IN"/>
          </a:p>
        </p:txBody>
      </p:sp>
      <p:sp>
        <p:nvSpPr>
          <p:cNvPr id="6" name="Footer Placeholder 5">
            <a:extLst>
              <a:ext uri="{FF2B5EF4-FFF2-40B4-BE49-F238E27FC236}">
                <a16:creationId xmlns:a16="http://schemas.microsoft.com/office/drawing/2014/main" id="{8CA5A578-E4DC-4ADA-A3C8-CC1F75DCC3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95C3EA-F3A9-43A4-B771-E7310A6CE299}"/>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493361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8D649-0B86-4932-A3F3-2FE55007CB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4D4290-2212-455F-8CFA-5A5F8721C6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1A63E5-67C8-4D42-9B0C-B6DC98350156}"/>
              </a:ext>
            </a:extLst>
          </p:cNvPr>
          <p:cNvSpPr>
            <a:spLocks noGrp="1"/>
          </p:cNvSpPr>
          <p:nvPr>
            <p:ph type="dt" sz="half" idx="10"/>
          </p:nvPr>
        </p:nvSpPr>
        <p:spPr/>
        <p:txBody>
          <a:bodyPr/>
          <a:lstStyle/>
          <a:p>
            <a:fld id="{A9A6D8C6-D499-4CD7-9080-1E49221F37AC}" type="datetimeFigureOut">
              <a:rPr lang="en-IN" smtClean="0"/>
              <a:t>09-08-2022</a:t>
            </a:fld>
            <a:endParaRPr lang="en-IN"/>
          </a:p>
        </p:txBody>
      </p:sp>
      <p:sp>
        <p:nvSpPr>
          <p:cNvPr id="5" name="Footer Placeholder 4">
            <a:extLst>
              <a:ext uri="{FF2B5EF4-FFF2-40B4-BE49-F238E27FC236}">
                <a16:creationId xmlns:a16="http://schemas.microsoft.com/office/drawing/2014/main" id="{CF9C1DB8-AB24-4B9A-987D-B58E0B2697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D6F6B7-C0C5-4DA4-85BD-BA138E178698}"/>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1737326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843A7B-802E-420A-9054-9999508BF2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B54851-8002-4904-9716-F86E789C92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E64EF9-F89F-4495-AF22-E6571AACCFF7}"/>
              </a:ext>
            </a:extLst>
          </p:cNvPr>
          <p:cNvSpPr>
            <a:spLocks noGrp="1"/>
          </p:cNvSpPr>
          <p:nvPr>
            <p:ph type="dt" sz="half" idx="10"/>
          </p:nvPr>
        </p:nvSpPr>
        <p:spPr/>
        <p:txBody>
          <a:bodyPr/>
          <a:lstStyle/>
          <a:p>
            <a:fld id="{A9A6D8C6-D499-4CD7-9080-1E49221F37AC}" type="datetimeFigureOut">
              <a:rPr lang="en-IN" smtClean="0"/>
              <a:t>09-08-2022</a:t>
            </a:fld>
            <a:endParaRPr lang="en-IN"/>
          </a:p>
        </p:txBody>
      </p:sp>
      <p:sp>
        <p:nvSpPr>
          <p:cNvPr id="5" name="Footer Placeholder 4">
            <a:extLst>
              <a:ext uri="{FF2B5EF4-FFF2-40B4-BE49-F238E27FC236}">
                <a16:creationId xmlns:a16="http://schemas.microsoft.com/office/drawing/2014/main" id="{FF5C9A7B-9DBF-4061-A285-6A47367E2C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325262-DBEE-43EC-817A-584E0D57329E}"/>
              </a:ext>
            </a:extLst>
          </p:cNvPr>
          <p:cNvSpPr>
            <a:spLocks noGrp="1"/>
          </p:cNvSpPr>
          <p:nvPr>
            <p:ph type="sldNum" sz="quarter" idx="12"/>
          </p:nvPr>
        </p:nvSpPr>
        <p:spPr/>
        <p:txBody>
          <a:bodyPr/>
          <a:lstStyle/>
          <a:p>
            <a:fld id="{B1345B19-1A90-476D-85DA-9750C8D70378}" type="slidenum">
              <a:rPr lang="en-IN" smtClean="0"/>
              <a:t>‹#›</a:t>
            </a:fld>
            <a:endParaRPr lang="en-IN"/>
          </a:p>
        </p:txBody>
      </p:sp>
    </p:spTree>
    <p:extLst>
      <p:ext uri="{BB962C8B-B14F-4D97-AF65-F5344CB8AC3E}">
        <p14:creationId xmlns:p14="http://schemas.microsoft.com/office/powerpoint/2010/main" val="564218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AAC875-E80F-4309-96CB-689383C5A2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443B97-0C9D-4EDE-8B0A-9A8B5E148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2391E8-6A8E-49B6-83EA-13F47E755F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A6D8C6-D499-4CD7-9080-1E49221F37AC}" type="datetimeFigureOut">
              <a:rPr lang="en-IN" smtClean="0"/>
              <a:t>09-08-2022</a:t>
            </a:fld>
            <a:endParaRPr lang="en-IN"/>
          </a:p>
        </p:txBody>
      </p:sp>
      <p:sp>
        <p:nvSpPr>
          <p:cNvPr id="5" name="Footer Placeholder 4">
            <a:extLst>
              <a:ext uri="{FF2B5EF4-FFF2-40B4-BE49-F238E27FC236}">
                <a16:creationId xmlns:a16="http://schemas.microsoft.com/office/drawing/2014/main" id="{27983029-60F6-4D33-B1B3-66F771FB3C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4D5A56-975D-4176-A871-66C018D2F0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345B19-1A90-476D-85DA-9750C8D70378}" type="slidenum">
              <a:rPr lang="en-IN" smtClean="0"/>
              <a:t>‹#›</a:t>
            </a:fld>
            <a:endParaRPr lang="en-IN"/>
          </a:p>
        </p:txBody>
      </p:sp>
    </p:spTree>
    <p:extLst>
      <p:ext uri="{BB962C8B-B14F-4D97-AF65-F5344CB8AC3E}">
        <p14:creationId xmlns:p14="http://schemas.microsoft.com/office/powerpoint/2010/main" val="894267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5E26-A669-419F-9BF7-0ED888F286B1}"/>
              </a:ext>
            </a:extLst>
          </p:cNvPr>
          <p:cNvSpPr>
            <a:spLocks noGrp="1"/>
          </p:cNvSpPr>
          <p:nvPr>
            <p:ph type="title"/>
          </p:nvPr>
        </p:nvSpPr>
        <p:spPr>
          <a:xfrm>
            <a:off x="838200" y="365126"/>
            <a:ext cx="10515600" cy="682439"/>
          </a:xfrm>
        </p:spPr>
        <p:txBody>
          <a:bodyPr>
            <a:normAutofit fontScale="90000"/>
          </a:bodyPr>
          <a:lstStyle/>
          <a:p>
            <a:br>
              <a:rPr lang="en-IN" b="1" i="0" u="none" strike="noStrike" dirty="0">
                <a:solidFill>
                  <a:srgbClr val="000000"/>
                </a:solidFill>
                <a:effectLst/>
                <a:latin typeface="Calibri" panose="020F0502020204030204" pitchFamily="34" charset="0"/>
                <a:cs typeface="Calibri" panose="020F0502020204030204" pitchFamily="34" charset="0"/>
              </a:rPr>
            </a:br>
            <a:br>
              <a:rPr lang="en-IN" b="1" i="0" u="none" strike="noStrike" dirty="0">
                <a:solidFill>
                  <a:srgbClr val="000000"/>
                </a:solidFill>
                <a:effectLst/>
                <a:latin typeface="Calibri" panose="020F0502020204030204" pitchFamily="34" charset="0"/>
                <a:cs typeface="Calibri" panose="020F0502020204030204" pitchFamily="34" charset="0"/>
              </a:rPr>
            </a:br>
            <a:r>
              <a:rPr lang="en-IN" b="1" i="0" dirty="0">
                <a:solidFill>
                  <a:srgbClr val="273239"/>
                </a:solidFill>
                <a:effectLst/>
                <a:latin typeface="sofia-pro"/>
              </a:rPr>
              <a:t>Hibernate </a:t>
            </a:r>
            <a:r>
              <a:rPr lang="en-IN" b="1" dirty="0">
                <a:solidFill>
                  <a:srgbClr val="273239"/>
                </a:solidFill>
                <a:latin typeface="sofia-pro"/>
              </a:rPr>
              <a:t>Architecture</a:t>
            </a:r>
            <a:br>
              <a:rPr lang="en-IN" b="1" i="0" dirty="0">
                <a:solidFill>
                  <a:srgbClr val="273239"/>
                </a:solidFill>
                <a:effectLst/>
                <a:latin typeface="sofia-pro"/>
              </a:rPr>
            </a:br>
            <a:br>
              <a:rPr lang="en-IN" b="0" i="0" u="none" strike="noStrike" dirty="0">
                <a:solidFill>
                  <a:srgbClr val="000000"/>
                </a:solidFill>
                <a:effectLst/>
                <a:latin typeface="Titillium Web"/>
              </a:rPr>
            </a:br>
            <a:endParaRPr lang="en-IN" b="1" dirty="0"/>
          </a:p>
        </p:txBody>
      </p:sp>
      <p:sp>
        <p:nvSpPr>
          <p:cNvPr id="3" name="Content Placeholder 2">
            <a:extLst>
              <a:ext uri="{FF2B5EF4-FFF2-40B4-BE49-F238E27FC236}">
                <a16:creationId xmlns:a16="http://schemas.microsoft.com/office/drawing/2014/main" id="{26944CBF-1994-4BCB-B42D-99E05EB49456}"/>
              </a:ext>
            </a:extLst>
          </p:cNvPr>
          <p:cNvSpPr>
            <a:spLocks noGrp="1"/>
          </p:cNvSpPr>
          <p:nvPr>
            <p:ph idx="1"/>
          </p:nvPr>
        </p:nvSpPr>
        <p:spPr>
          <a:xfrm>
            <a:off x="838200" y="1136342"/>
            <a:ext cx="10515600" cy="5504155"/>
          </a:xfrm>
        </p:spPr>
        <p:txBody>
          <a:bodyPr>
            <a:normAutofit/>
          </a:bodyPr>
          <a:lstStyle/>
          <a:p>
            <a:r>
              <a:rPr lang="en-US" sz="1600" dirty="0"/>
              <a:t>Hibernate is a middleware used for object-relational mapping and for performing efficient object persistence. To understand about the architecture of Hibernate, let's first take a look at how Hibernate fits in the development of an application, between an application and the database server.</a:t>
            </a:r>
          </a:p>
          <a:p>
            <a:r>
              <a:rPr lang="en-US" sz="1600" dirty="0"/>
              <a:t>A Java application code comprises of all the classes that define the business logic of application. These classes communicate with the Hibernate.</a:t>
            </a:r>
          </a:p>
          <a:p>
            <a:r>
              <a:rPr lang="en-US" sz="1600" dirty="0"/>
              <a:t>Next comes, the Hibernate and its core interfaces, using which we could persist(store and retrieve) the objects of our business layer classes by communicating with the database server.</a:t>
            </a:r>
          </a:p>
          <a:p>
            <a:r>
              <a:rPr lang="en-US" sz="1600" dirty="0"/>
              <a:t>Hibernate uses the Java core API, Java Database Connectivity(JDBC), Java Transaction API(JTA), Java Naming and Directory Interface(JNDI) to communicate with database in order to persist the state of object by performing create, read, update, delete(CRUD) operations.</a:t>
            </a:r>
          </a:p>
        </p:txBody>
      </p:sp>
    </p:spTree>
    <p:extLst>
      <p:ext uri="{BB962C8B-B14F-4D97-AF65-F5344CB8AC3E}">
        <p14:creationId xmlns:p14="http://schemas.microsoft.com/office/powerpoint/2010/main" val="3062579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50B455-99A1-461D-A503-27FD11DCD60E}"/>
              </a:ext>
            </a:extLst>
          </p:cNvPr>
          <p:cNvPicPr>
            <a:picLocks noChangeAspect="1"/>
          </p:cNvPicPr>
          <p:nvPr/>
        </p:nvPicPr>
        <p:blipFill>
          <a:blip r:embed="rId2"/>
          <a:stretch>
            <a:fillRect/>
          </a:stretch>
        </p:blipFill>
        <p:spPr>
          <a:xfrm>
            <a:off x="273104" y="1178863"/>
            <a:ext cx="11645792" cy="4298659"/>
          </a:xfrm>
          <a:prstGeom prst="rect">
            <a:avLst/>
          </a:prstGeom>
        </p:spPr>
      </p:pic>
    </p:spTree>
    <p:extLst>
      <p:ext uri="{BB962C8B-B14F-4D97-AF65-F5344CB8AC3E}">
        <p14:creationId xmlns:p14="http://schemas.microsoft.com/office/powerpoint/2010/main" val="4004011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33397-31EA-49E3-AB07-E77F31746CCE}"/>
              </a:ext>
            </a:extLst>
          </p:cNvPr>
          <p:cNvSpPr>
            <a:spLocks noGrp="1"/>
          </p:cNvSpPr>
          <p:nvPr>
            <p:ph type="title"/>
          </p:nvPr>
        </p:nvSpPr>
        <p:spPr>
          <a:xfrm>
            <a:off x="838200" y="365126"/>
            <a:ext cx="10515600" cy="646928"/>
          </a:xfrm>
        </p:spPr>
        <p:txBody>
          <a:bodyPr>
            <a:normAutofit fontScale="90000"/>
          </a:bodyPr>
          <a:lstStyle/>
          <a:p>
            <a:r>
              <a:rPr lang="en-IN" b="1" i="0" dirty="0">
                <a:solidFill>
                  <a:srgbClr val="273239"/>
                </a:solidFill>
                <a:effectLst/>
                <a:latin typeface="urw-din"/>
              </a:rPr>
              <a:t>Configuration</a:t>
            </a:r>
            <a:endParaRPr lang="en-IN" b="1" dirty="0"/>
          </a:p>
        </p:txBody>
      </p:sp>
      <p:sp>
        <p:nvSpPr>
          <p:cNvPr id="3" name="Content Placeholder 2">
            <a:extLst>
              <a:ext uri="{FF2B5EF4-FFF2-40B4-BE49-F238E27FC236}">
                <a16:creationId xmlns:a16="http://schemas.microsoft.com/office/drawing/2014/main" id="{5ED77E79-6C5E-4BD0-92D4-D7F17F7E6B3E}"/>
              </a:ext>
            </a:extLst>
          </p:cNvPr>
          <p:cNvSpPr>
            <a:spLocks noGrp="1"/>
          </p:cNvSpPr>
          <p:nvPr>
            <p:ph idx="1"/>
          </p:nvPr>
        </p:nvSpPr>
        <p:spPr>
          <a:xfrm>
            <a:off x="838200" y="1367161"/>
            <a:ext cx="10515600" cy="4809802"/>
          </a:xfrm>
        </p:spPr>
        <p:txBody>
          <a:bodyPr>
            <a:normAutofit lnSpcReduction="10000"/>
          </a:bodyPr>
          <a:lstStyle/>
          <a:p>
            <a:r>
              <a:rPr lang="en-US" dirty="0"/>
              <a:t>Configuration is a class which is present in </a:t>
            </a:r>
            <a:r>
              <a:rPr lang="en-US" dirty="0" err="1"/>
              <a:t>org.hibernate.cfg</a:t>
            </a:r>
            <a:r>
              <a:rPr lang="en-US" dirty="0"/>
              <a:t> package. It activates Hibernate framework. It reads both configuration file and mapping files.</a:t>
            </a:r>
          </a:p>
          <a:p>
            <a:r>
              <a:rPr lang="en-US" dirty="0"/>
              <a:t>It activate Hibernate Framework</a:t>
            </a:r>
          </a:p>
          <a:p>
            <a:pPr marL="0" indent="0">
              <a:buNone/>
            </a:pPr>
            <a:r>
              <a:rPr lang="en-US" dirty="0"/>
              <a:t>	Configuration </a:t>
            </a:r>
            <a:r>
              <a:rPr lang="en-US" dirty="0" err="1"/>
              <a:t>cfg</a:t>
            </a:r>
            <a:r>
              <a:rPr lang="en-US" dirty="0"/>
              <a:t>=new Configuration();</a:t>
            </a:r>
          </a:p>
          <a:p>
            <a:pPr marL="0" indent="0">
              <a:buNone/>
            </a:pPr>
            <a:r>
              <a:rPr lang="en-US" dirty="0"/>
              <a:t>	It read both </a:t>
            </a:r>
            <a:r>
              <a:rPr lang="en-US" dirty="0" err="1"/>
              <a:t>cfg</a:t>
            </a:r>
            <a:r>
              <a:rPr lang="en-US" dirty="0"/>
              <a:t> file and mapping files</a:t>
            </a:r>
          </a:p>
          <a:p>
            <a:pPr marL="0" indent="0">
              <a:buNone/>
            </a:pPr>
            <a:r>
              <a:rPr lang="en-US" dirty="0"/>
              <a:t>	</a:t>
            </a:r>
            <a:r>
              <a:rPr lang="en-US" dirty="0" err="1"/>
              <a:t>cfg.configure</a:t>
            </a:r>
            <a:r>
              <a:rPr lang="en-US" dirty="0"/>
              <a:t>();</a:t>
            </a:r>
          </a:p>
          <a:p>
            <a:r>
              <a:rPr lang="en-US" dirty="0"/>
              <a:t>It checks whether the config file is syntactically correct or not.</a:t>
            </a:r>
          </a:p>
          <a:p>
            <a:r>
              <a:rPr lang="en-US" dirty="0"/>
              <a:t>If the config file is not valid then it will throw an exception. If it is valid then it creates a meta-data in memory and returns the meta-data to object to represent the config file.</a:t>
            </a:r>
            <a:endParaRPr lang="en-IN" dirty="0"/>
          </a:p>
        </p:txBody>
      </p:sp>
    </p:spTree>
    <p:extLst>
      <p:ext uri="{BB962C8B-B14F-4D97-AF65-F5344CB8AC3E}">
        <p14:creationId xmlns:p14="http://schemas.microsoft.com/office/powerpoint/2010/main" val="2517245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33397-31EA-49E3-AB07-E77F31746CCE}"/>
              </a:ext>
            </a:extLst>
          </p:cNvPr>
          <p:cNvSpPr>
            <a:spLocks noGrp="1"/>
          </p:cNvSpPr>
          <p:nvPr>
            <p:ph type="title"/>
          </p:nvPr>
        </p:nvSpPr>
        <p:spPr>
          <a:xfrm>
            <a:off x="838200" y="365126"/>
            <a:ext cx="10515600" cy="646928"/>
          </a:xfrm>
        </p:spPr>
        <p:txBody>
          <a:bodyPr>
            <a:normAutofit fontScale="90000"/>
          </a:bodyPr>
          <a:lstStyle/>
          <a:p>
            <a:r>
              <a:rPr lang="en-IN" b="1" i="0" dirty="0" err="1">
                <a:solidFill>
                  <a:srgbClr val="273239"/>
                </a:solidFill>
                <a:effectLst/>
                <a:latin typeface="urw-din"/>
              </a:rPr>
              <a:t>SessionFactory</a:t>
            </a:r>
            <a:endParaRPr lang="en-IN" b="1" dirty="0"/>
          </a:p>
        </p:txBody>
      </p:sp>
      <p:sp>
        <p:nvSpPr>
          <p:cNvPr id="3" name="Content Placeholder 2">
            <a:extLst>
              <a:ext uri="{FF2B5EF4-FFF2-40B4-BE49-F238E27FC236}">
                <a16:creationId xmlns:a16="http://schemas.microsoft.com/office/drawing/2014/main" id="{5ED77E79-6C5E-4BD0-92D4-D7F17F7E6B3E}"/>
              </a:ext>
            </a:extLst>
          </p:cNvPr>
          <p:cNvSpPr>
            <a:spLocks noGrp="1"/>
          </p:cNvSpPr>
          <p:nvPr>
            <p:ph idx="1"/>
          </p:nvPr>
        </p:nvSpPr>
        <p:spPr>
          <a:xfrm>
            <a:off x="838200" y="1367161"/>
            <a:ext cx="10515600" cy="4809802"/>
          </a:xfrm>
        </p:spPr>
        <p:txBody>
          <a:bodyPr>
            <a:normAutofit/>
          </a:bodyPr>
          <a:lstStyle/>
          <a:p>
            <a:r>
              <a:rPr lang="en-US" dirty="0" err="1"/>
              <a:t>SessionFactory</a:t>
            </a:r>
            <a:r>
              <a:rPr lang="en-US" dirty="0"/>
              <a:t> is an Interface which is present in </a:t>
            </a:r>
            <a:r>
              <a:rPr lang="en-US" dirty="0" err="1"/>
              <a:t>org.hibernate</a:t>
            </a:r>
            <a:r>
              <a:rPr lang="en-US" dirty="0"/>
              <a:t> package and it is used to create Session Object.</a:t>
            </a:r>
          </a:p>
          <a:p>
            <a:r>
              <a:rPr lang="en-US" dirty="0"/>
              <a:t>It is immutable and thread-safe in nature.</a:t>
            </a:r>
          </a:p>
          <a:p>
            <a:r>
              <a:rPr lang="en-US" dirty="0" err="1"/>
              <a:t>buildSessionFactory</a:t>
            </a:r>
            <a:r>
              <a:rPr lang="en-US" dirty="0"/>
              <a:t>() method gathers the meta-data which is in the </a:t>
            </a:r>
            <a:r>
              <a:rPr lang="en-US" dirty="0" err="1"/>
              <a:t>cfg</a:t>
            </a:r>
            <a:r>
              <a:rPr lang="en-US" dirty="0"/>
              <a:t> Object. </a:t>
            </a:r>
          </a:p>
          <a:p>
            <a:r>
              <a:rPr lang="en-US" dirty="0"/>
              <a:t>From </a:t>
            </a:r>
            <a:r>
              <a:rPr lang="en-US" dirty="0" err="1"/>
              <a:t>cfg</a:t>
            </a:r>
            <a:r>
              <a:rPr lang="en-US" dirty="0"/>
              <a:t> object it takes the JDBC information and create a JDBC Connection.</a:t>
            </a:r>
          </a:p>
          <a:p>
            <a:pPr marL="0" indent="0">
              <a:buNone/>
            </a:pPr>
            <a:r>
              <a:rPr lang="en-US" dirty="0"/>
              <a:t> </a:t>
            </a:r>
            <a:r>
              <a:rPr lang="en-US" dirty="0" err="1"/>
              <a:t>SessionFactory</a:t>
            </a:r>
            <a:r>
              <a:rPr lang="en-US" dirty="0"/>
              <a:t> factory=</a:t>
            </a:r>
            <a:r>
              <a:rPr lang="en-US" dirty="0" err="1"/>
              <a:t>cfg.buildSessionFactory</a:t>
            </a:r>
            <a:r>
              <a:rPr lang="en-US" dirty="0"/>
              <a:t>();</a:t>
            </a:r>
            <a:endParaRPr lang="en-IN" dirty="0"/>
          </a:p>
        </p:txBody>
      </p:sp>
    </p:spTree>
    <p:extLst>
      <p:ext uri="{BB962C8B-B14F-4D97-AF65-F5344CB8AC3E}">
        <p14:creationId xmlns:p14="http://schemas.microsoft.com/office/powerpoint/2010/main" val="1789661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33397-31EA-49E3-AB07-E77F31746CCE}"/>
              </a:ext>
            </a:extLst>
          </p:cNvPr>
          <p:cNvSpPr>
            <a:spLocks noGrp="1"/>
          </p:cNvSpPr>
          <p:nvPr>
            <p:ph type="title"/>
          </p:nvPr>
        </p:nvSpPr>
        <p:spPr>
          <a:xfrm>
            <a:off x="838200" y="365126"/>
            <a:ext cx="10515600" cy="646928"/>
          </a:xfrm>
        </p:spPr>
        <p:txBody>
          <a:bodyPr>
            <a:normAutofit fontScale="90000"/>
          </a:bodyPr>
          <a:lstStyle/>
          <a:p>
            <a:r>
              <a:rPr lang="en-IN" b="1" dirty="0"/>
              <a:t>Session</a:t>
            </a:r>
          </a:p>
        </p:txBody>
      </p:sp>
      <p:sp>
        <p:nvSpPr>
          <p:cNvPr id="3" name="Content Placeholder 2">
            <a:extLst>
              <a:ext uri="{FF2B5EF4-FFF2-40B4-BE49-F238E27FC236}">
                <a16:creationId xmlns:a16="http://schemas.microsoft.com/office/drawing/2014/main" id="{5ED77E79-6C5E-4BD0-92D4-D7F17F7E6B3E}"/>
              </a:ext>
            </a:extLst>
          </p:cNvPr>
          <p:cNvSpPr>
            <a:spLocks noGrp="1"/>
          </p:cNvSpPr>
          <p:nvPr>
            <p:ph idx="1"/>
          </p:nvPr>
        </p:nvSpPr>
        <p:spPr>
          <a:xfrm>
            <a:off x="838200" y="1367161"/>
            <a:ext cx="10515600" cy="4809802"/>
          </a:xfrm>
        </p:spPr>
        <p:txBody>
          <a:bodyPr>
            <a:normAutofit/>
          </a:bodyPr>
          <a:lstStyle/>
          <a:p>
            <a:r>
              <a:rPr lang="en-US" dirty="0"/>
              <a:t>Session is an interface which is present in </a:t>
            </a:r>
            <a:r>
              <a:rPr lang="en-US" dirty="0" err="1"/>
              <a:t>org.hibernate</a:t>
            </a:r>
            <a:r>
              <a:rPr lang="en-US" dirty="0"/>
              <a:t> package. Session object is created based upon </a:t>
            </a:r>
            <a:r>
              <a:rPr lang="en-US" dirty="0" err="1"/>
              <a:t>SessionFactory</a:t>
            </a:r>
            <a:r>
              <a:rPr lang="en-US" dirty="0"/>
              <a:t> object i.e. factory.</a:t>
            </a:r>
          </a:p>
          <a:p>
            <a:r>
              <a:rPr lang="en-US" dirty="0"/>
              <a:t>It opens the Connection/Session with Database software through Hibernate Framework.</a:t>
            </a:r>
          </a:p>
          <a:p>
            <a:r>
              <a:rPr lang="en-US" dirty="0"/>
              <a:t>It is a light-weight object and it is not thread-safe.</a:t>
            </a:r>
          </a:p>
          <a:p>
            <a:r>
              <a:rPr lang="en-US" dirty="0"/>
              <a:t>Session object is used to perform CRUD operations.</a:t>
            </a:r>
          </a:p>
          <a:p>
            <a:pPr marL="0" indent="0">
              <a:buNone/>
            </a:pPr>
            <a:r>
              <a:rPr lang="en-US" dirty="0"/>
              <a:t>	Session session=</a:t>
            </a:r>
            <a:r>
              <a:rPr lang="en-US" dirty="0" err="1"/>
              <a:t>factory.buildSession</a:t>
            </a:r>
            <a:r>
              <a:rPr lang="en-US" dirty="0"/>
              <a:t>();</a:t>
            </a:r>
            <a:endParaRPr lang="en-IN" dirty="0"/>
          </a:p>
        </p:txBody>
      </p:sp>
    </p:spTree>
    <p:extLst>
      <p:ext uri="{BB962C8B-B14F-4D97-AF65-F5344CB8AC3E}">
        <p14:creationId xmlns:p14="http://schemas.microsoft.com/office/powerpoint/2010/main" val="1806765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33397-31EA-49E3-AB07-E77F31746CCE}"/>
              </a:ext>
            </a:extLst>
          </p:cNvPr>
          <p:cNvSpPr>
            <a:spLocks noGrp="1"/>
          </p:cNvSpPr>
          <p:nvPr>
            <p:ph type="title"/>
          </p:nvPr>
        </p:nvSpPr>
        <p:spPr>
          <a:xfrm>
            <a:off x="838200" y="365126"/>
            <a:ext cx="10515600" cy="646928"/>
          </a:xfrm>
        </p:spPr>
        <p:txBody>
          <a:bodyPr>
            <a:normAutofit fontScale="90000"/>
          </a:bodyPr>
          <a:lstStyle/>
          <a:p>
            <a:r>
              <a:rPr lang="en-IN" b="1" dirty="0"/>
              <a:t>Transaction</a:t>
            </a:r>
          </a:p>
        </p:txBody>
      </p:sp>
      <p:sp>
        <p:nvSpPr>
          <p:cNvPr id="3" name="Content Placeholder 2">
            <a:extLst>
              <a:ext uri="{FF2B5EF4-FFF2-40B4-BE49-F238E27FC236}">
                <a16:creationId xmlns:a16="http://schemas.microsoft.com/office/drawing/2014/main" id="{5ED77E79-6C5E-4BD0-92D4-D7F17F7E6B3E}"/>
              </a:ext>
            </a:extLst>
          </p:cNvPr>
          <p:cNvSpPr>
            <a:spLocks noGrp="1"/>
          </p:cNvSpPr>
          <p:nvPr>
            <p:ph idx="1"/>
          </p:nvPr>
        </p:nvSpPr>
        <p:spPr>
          <a:xfrm>
            <a:off x="838200" y="1367161"/>
            <a:ext cx="10515600" cy="4809802"/>
          </a:xfrm>
        </p:spPr>
        <p:txBody>
          <a:bodyPr>
            <a:normAutofit/>
          </a:bodyPr>
          <a:lstStyle/>
          <a:p>
            <a:r>
              <a:rPr lang="en-US" dirty="0"/>
              <a:t>Transaction object is used whenever we perform any operation and based upon that operation there is some change in database.</a:t>
            </a:r>
          </a:p>
          <a:p>
            <a:r>
              <a:rPr lang="en-US" dirty="0"/>
              <a:t>Transaction object is used to give the instruction to the database to make the changes that happen because of operation as a permanent by using commit() method.</a:t>
            </a:r>
          </a:p>
          <a:p>
            <a:pPr marL="0" indent="0">
              <a:buNone/>
            </a:pPr>
            <a:r>
              <a:rPr lang="en-US" dirty="0"/>
              <a:t>	Transaction </a:t>
            </a:r>
            <a:r>
              <a:rPr lang="en-US" dirty="0" err="1"/>
              <a:t>tx</a:t>
            </a:r>
            <a:r>
              <a:rPr lang="en-US" dirty="0"/>
              <a:t>=</a:t>
            </a:r>
            <a:r>
              <a:rPr lang="en-US" dirty="0" err="1"/>
              <a:t>session.beginTransaction</a:t>
            </a:r>
            <a:r>
              <a:rPr lang="en-US" dirty="0"/>
              <a:t>();</a:t>
            </a:r>
          </a:p>
          <a:p>
            <a:pPr marL="0" indent="0">
              <a:buNone/>
            </a:pPr>
            <a:r>
              <a:rPr lang="en-US" dirty="0"/>
              <a:t>	</a:t>
            </a:r>
            <a:r>
              <a:rPr lang="en-US" dirty="0" err="1"/>
              <a:t>tx.commit</a:t>
            </a:r>
            <a:r>
              <a:rPr lang="en-US" dirty="0"/>
              <a:t>();</a:t>
            </a:r>
            <a:endParaRPr lang="en-IN" dirty="0"/>
          </a:p>
        </p:txBody>
      </p:sp>
    </p:spTree>
    <p:extLst>
      <p:ext uri="{BB962C8B-B14F-4D97-AF65-F5344CB8AC3E}">
        <p14:creationId xmlns:p14="http://schemas.microsoft.com/office/powerpoint/2010/main" val="3413547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33397-31EA-49E3-AB07-E77F31746CCE}"/>
              </a:ext>
            </a:extLst>
          </p:cNvPr>
          <p:cNvSpPr>
            <a:spLocks noGrp="1"/>
          </p:cNvSpPr>
          <p:nvPr>
            <p:ph type="title"/>
          </p:nvPr>
        </p:nvSpPr>
        <p:spPr>
          <a:xfrm>
            <a:off x="838200" y="365126"/>
            <a:ext cx="10515600" cy="646928"/>
          </a:xfrm>
        </p:spPr>
        <p:txBody>
          <a:bodyPr>
            <a:normAutofit fontScale="90000"/>
          </a:bodyPr>
          <a:lstStyle/>
          <a:p>
            <a:r>
              <a:rPr lang="en-IN" b="1" dirty="0"/>
              <a:t>Query</a:t>
            </a:r>
          </a:p>
        </p:txBody>
      </p:sp>
      <p:sp>
        <p:nvSpPr>
          <p:cNvPr id="3" name="Content Placeholder 2">
            <a:extLst>
              <a:ext uri="{FF2B5EF4-FFF2-40B4-BE49-F238E27FC236}">
                <a16:creationId xmlns:a16="http://schemas.microsoft.com/office/drawing/2014/main" id="{5ED77E79-6C5E-4BD0-92D4-D7F17F7E6B3E}"/>
              </a:ext>
            </a:extLst>
          </p:cNvPr>
          <p:cNvSpPr>
            <a:spLocks noGrp="1"/>
          </p:cNvSpPr>
          <p:nvPr>
            <p:ph idx="1"/>
          </p:nvPr>
        </p:nvSpPr>
        <p:spPr>
          <a:xfrm>
            <a:off x="838200" y="1367161"/>
            <a:ext cx="10515600" cy="4809802"/>
          </a:xfrm>
        </p:spPr>
        <p:txBody>
          <a:bodyPr>
            <a:normAutofit/>
          </a:bodyPr>
          <a:lstStyle/>
          <a:p>
            <a:r>
              <a:rPr lang="en-US" dirty="0"/>
              <a:t>Query is an interface that present inside </a:t>
            </a:r>
            <a:r>
              <a:rPr lang="en-US" dirty="0" err="1"/>
              <a:t>org.hibernate</a:t>
            </a:r>
            <a:r>
              <a:rPr lang="en-US" dirty="0"/>
              <a:t> package.</a:t>
            </a:r>
          </a:p>
          <a:p>
            <a:r>
              <a:rPr lang="en-US" dirty="0"/>
              <a:t>A Query instance is obtained by calling </a:t>
            </a:r>
            <a:r>
              <a:rPr lang="en-US" dirty="0" err="1"/>
              <a:t>Session.createQuery</a:t>
            </a:r>
            <a:r>
              <a:rPr lang="en-US" dirty="0"/>
              <a:t>().</a:t>
            </a:r>
          </a:p>
          <a:p>
            <a:r>
              <a:rPr lang="en-US" dirty="0"/>
              <a:t>This interface exposes some extra functionality beyond that provided by </a:t>
            </a:r>
            <a:r>
              <a:rPr lang="en-US" dirty="0" err="1"/>
              <a:t>Session.iterate</a:t>
            </a:r>
            <a:r>
              <a:rPr lang="en-US" dirty="0"/>
              <a:t>() and </a:t>
            </a:r>
            <a:r>
              <a:rPr lang="en-US" dirty="0" err="1"/>
              <a:t>Session.find</a:t>
            </a:r>
            <a:r>
              <a:rPr lang="en-US" dirty="0"/>
              <a:t>():</a:t>
            </a:r>
          </a:p>
          <a:p>
            <a:r>
              <a:rPr lang="en-US" dirty="0"/>
              <a:t>A particular page of the result set may be selected by calling </a:t>
            </a:r>
            <a:r>
              <a:rPr lang="en-US" dirty="0" err="1"/>
              <a:t>setMaxResults</a:t>
            </a:r>
            <a:r>
              <a:rPr lang="en-US" dirty="0"/>
              <a:t>(), </a:t>
            </a:r>
            <a:r>
              <a:rPr lang="en-US" dirty="0" err="1"/>
              <a:t>setFirstResult</a:t>
            </a:r>
            <a:r>
              <a:rPr lang="en-US" dirty="0"/>
              <a:t>().</a:t>
            </a:r>
          </a:p>
          <a:p>
            <a:r>
              <a:rPr lang="en-US" dirty="0"/>
              <a:t>Named query parameters may be used.</a:t>
            </a:r>
          </a:p>
          <a:p>
            <a:pPr marL="0" indent="0">
              <a:buNone/>
            </a:pPr>
            <a:r>
              <a:rPr lang="en-US" dirty="0"/>
              <a:t>	Query query=</a:t>
            </a:r>
            <a:r>
              <a:rPr lang="en-US" dirty="0" err="1"/>
              <a:t>session.createQuery</a:t>
            </a:r>
            <a:r>
              <a:rPr lang="en-US" dirty="0"/>
              <a:t>();</a:t>
            </a:r>
            <a:endParaRPr lang="en-IN" dirty="0"/>
          </a:p>
        </p:txBody>
      </p:sp>
    </p:spTree>
    <p:extLst>
      <p:ext uri="{BB962C8B-B14F-4D97-AF65-F5344CB8AC3E}">
        <p14:creationId xmlns:p14="http://schemas.microsoft.com/office/powerpoint/2010/main" val="3393769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33397-31EA-49E3-AB07-E77F31746CCE}"/>
              </a:ext>
            </a:extLst>
          </p:cNvPr>
          <p:cNvSpPr>
            <a:spLocks noGrp="1"/>
          </p:cNvSpPr>
          <p:nvPr>
            <p:ph type="title"/>
          </p:nvPr>
        </p:nvSpPr>
        <p:spPr>
          <a:xfrm>
            <a:off x="838200" y="365126"/>
            <a:ext cx="10515600" cy="646928"/>
          </a:xfrm>
        </p:spPr>
        <p:txBody>
          <a:bodyPr>
            <a:normAutofit fontScale="90000"/>
          </a:bodyPr>
          <a:lstStyle/>
          <a:p>
            <a:r>
              <a:rPr lang="en-IN" b="1" dirty="0"/>
              <a:t>Criteria</a:t>
            </a:r>
          </a:p>
        </p:txBody>
      </p:sp>
      <p:sp>
        <p:nvSpPr>
          <p:cNvPr id="3" name="Content Placeholder 2">
            <a:extLst>
              <a:ext uri="{FF2B5EF4-FFF2-40B4-BE49-F238E27FC236}">
                <a16:creationId xmlns:a16="http://schemas.microsoft.com/office/drawing/2014/main" id="{5ED77E79-6C5E-4BD0-92D4-D7F17F7E6B3E}"/>
              </a:ext>
            </a:extLst>
          </p:cNvPr>
          <p:cNvSpPr>
            <a:spLocks noGrp="1"/>
          </p:cNvSpPr>
          <p:nvPr>
            <p:ph idx="1"/>
          </p:nvPr>
        </p:nvSpPr>
        <p:spPr>
          <a:xfrm>
            <a:off x="838200" y="1367161"/>
            <a:ext cx="10515600" cy="4809802"/>
          </a:xfrm>
        </p:spPr>
        <p:txBody>
          <a:bodyPr>
            <a:normAutofit/>
          </a:bodyPr>
          <a:lstStyle/>
          <a:p>
            <a:r>
              <a:rPr lang="en-US" dirty="0"/>
              <a:t>Criteria is a simplified API for retrieving entities by composing Criterion objects.</a:t>
            </a:r>
          </a:p>
          <a:p>
            <a:r>
              <a:rPr lang="en-US" dirty="0"/>
              <a:t>The Session is a factory for Criteria. Criterion instances are usually obtained via the factory methods on Restrictions.</a:t>
            </a:r>
          </a:p>
          <a:p>
            <a:pPr marL="0" indent="0">
              <a:buNone/>
            </a:pPr>
            <a:r>
              <a:rPr lang="en-US" dirty="0"/>
              <a:t>	Criteria criteria=</a:t>
            </a:r>
            <a:r>
              <a:rPr lang="en-US" dirty="0" err="1"/>
              <a:t>session.createCriteria</a:t>
            </a:r>
            <a:r>
              <a:rPr lang="en-US" dirty="0"/>
              <a:t>();</a:t>
            </a:r>
            <a:endParaRPr lang="en-IN" dirty="0"/>
          </a:p>
        </p:txBody>
      </p:sp>
    </p:spTree>
    <p:extLst>
      <p:ext uri="{BB962C8B-B14F-4D97-AF65-F5344CB8AC3E}">
        <p14:creationId xmlns:p14="http://schemas.microsoft.com/office/powerpoint/2010/main" val="2716914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33397-31EA-49E3-AB07-E77F31746CCE}"/>
              </a:ext>
            </a:extLst>
          </p:cNvPr>
          <p:cNvSpPr>
            <a:spLocks noGrp="1"/>
          </p:cNvSpPr>
          <p:nvPr>
            <p:ph type="title"/>
          </p:nvPr>
        </p:nvSpPr>
        <p:spPr>
          <a:xfrm>
            <a:off x="838200" y="204186"/>
            <a:ext cx="10515600" cy="1029810"/>
          </a:xfrm>
        </p:spPr>
        <p:txBody>
          <a:bodyPr>
            <a:normAutofit/>
          </a:bodyPr>
          <a:lstStyle/>
          <a:p>
            <a:r>
              <a:rPr lang="en-US" sz="3200" b="1" dirty="0"/>
              <a:t>Flow of working during operation in Hibernate Framework :</a:t>
            </a:r>
            <a:endParaRPr lang="en-IN" sz="3200" b="1" dirty="0"/>
          </a:p>
        </p:txBody>
      </p:sp>
      <p:sp>
        <p:nvSpPr>
          <p:cNvPr id="3" name="Content Placeholder 2">
            <a:extLst>
              <a:ext uri="{FF2B5EF4-FFF2-40B4-BE49-F238E27FC236}">
                <a16:creationId xmlns:a16="http://schemas.microsoft.com/office/drawing/2014/main" id="{5ED77E79-6C5E-4BD0-92D4-D7F17F7E6B3E}"/>
              </a:ext>
            </a:extLst>
          </p:cNvPr>
          <p:cNvSpPr>
            <a:spLocks noGrp="1"/>
          </p:cNvSpPr>
          <p:nvPr>
            <p:ph idx="1"/>
          </p:nvPr>
        </p:nvSpPr>
        <p:spPr>
          <a:xfrm>
            <a:off x="838200" y="1367161"/>
            <a:ext cx="10515600" cy="4809802"/>
          </a:xfrm>
        </p:spPr>
        <p:txBody>
          <a:bodyPr>
            <a:normAutofit/>
          </a:bodyPr>
          <a:lstStyle/>
          <a:p>
            <a:r>
              <a:rPr lang="en-US" dirty="0"/>
              <a:t>Suppose We want to insert an Object to the database. Here Object is nothing but persistence logic which we write on java program and create an object of that program. </a:t>
            </a:r>
          </a:p>
          <a:p>
            <a:r>
              <a:rPr lang="en-US" dirty="0"/>
              <a:t>If we want to insert that object in the database or we want to retrieve the object from the database. Now the question is that how hibernate save the Object to the database or retrieve the object from the database. </a:t>
            </a:r>
          </a:p>
          <a:p>
            <a:r>
              <a:rPr lang="en-US" dirty="0"/>
              <a:t>There are several layers through which Hibernate framework go to achieve the above task. Let </a:t>
            </a:r>
            <a:r>
              <a:rPr lang="en-US"/>
              <a:t>us understand </a:t>
            </a:r>
            <a:r>
              <a:rPr lang="en-US" dirty="0"/>
              <a:t>the layers/flow of Hibernate framework during performing operations:</a:t>
            </a:r>
            <a:endParaRPr lang="en-IN" dirty="0"/>
          </a:p>
        </p:txBody>
      </p:sp>
    </p:spTree>
    <p:extLst>
      <p:ext uri="{BB962C8B-B14F-4D97-AF65-F5344CB8AC3E}">
        <p14:creationId xmlns:p14="http://schemas.microsoft.com/office/powerpoint/2010/main" val="102727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137F391-36F2-46EA-AAAE-C7CA238484E3}"/>
              </a:ext>
            </a:extLst>
          </p:cNvPr>
          <p:cNvPicPr>
            <a:picLocks noGrp="1" noChangeAspect="1"/>
          </p:cNvPicPr>
          <p:nvPr>
            <p:ph idx="1"/>
          </p:nvPr>
        </p:nvPicPr>
        <p:blipFill>
          <a:blip r:embed="rId2"/>
          <a:stretch>
            <a:fillRect/>
          </a:stretch>
        </p:blipFill>
        <p:spPr>
          <a:xfrm>
            <a:off x="2885243" y="109341"/>
            <a:ext cx="5334582" cy="6040989"/>
          </a:xfrm>
        </p:spPr>
      </p:pic>
    </p:spTree>
    <p:extLst>
      <p:ext uri="{BB962C8B-B14F-4D97-AF65-F5344CB8AC3E}">
        <p14:creationId xmlns:p14="http://schemas.microsoft.com/office/powerpoint/2010/main" val="1029955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D77E79-6C5E-4BD0-92D4-D7F17F7E6B3E}"/>
              </a:ext>
            </a:extLst>
          </p:cNvPr>
          <p:cNvSpPr>
            <a:spLocks noGrp="1"/>
          </p:cNvSpPr>
          <p:nvPr>
            <p:ph idx="1"/>
          </p:nvPr>
        </p:nvSpPr>
        <p:spPr>
          <a:xfrm>
            <a:off x="838200" y="470517"/>
            <a:ext cx="10515600" cy="5706446"/>
          </a:xfrm>
        </p:spPr>
        <p:txBody>
          <a:bodyPr>
            <a:normAutofit fontScale="92500" lnSpcReduction="20000"/>
          </a:bodyPr>
          <a:lstStyle/>
          <a:p>
            <a:r>
              <a:rPr lang="en-US" dirty="0"/>
              <a:t>Stage I: In first stage, we will write the persistence logic to perform some specific operations to the database with the help of Hibernate Configuration file and Hibernate mapping file. And after that we create an object of the particular class on which we wrote the persistence logic.</a:t>
            </a:r>
          </a:p>
          <a:p>
            <a:r>
              <a:rPr lang="en-US" dirty="0"/>
              <a:t>Stage II: In second stage, our class which contains the persistence logic will interact with the hibernate framework where hibernate framework gives some abstraction do perform some task. Now here the picture of java class is over. Now Hibernate is responsible to perform the persistence logic with the help of layers which is below of Hibernate framework or we can say that the layers which are the internal implementation of Hibernate.</a:t>
            </a:r>
          </a:p>
          <a:p>
            <a:r>
              <a:rPr lang="en-US" dirty="0"/>
              <a:t>Stage </a:t>
            </a:r>
            <a:r>
              <a:rPr lang="en-US" err="1"/>
              <a:t>III</a:t>
            </a:r>
            <a:r>
              <a:rPr lang="en-US"/>
              <a:t>: In </a:t>
            </a:r>
            <a:r>
              <a:rPr lang="en-US" dirty="0"/>
              <a:t>third stage, our hibernate framework interact which JDBC, JNDI, JTA </a:t>
            </a:r>
            <a:r>
              <a:rPr lang="en-US" dirty="0" err="1"/>
              <a:t>etc</a:t>
            </a:r>
            <a:r>
              <a:rPr lang="en-US" dirty="0"/>
              <a:t> to go to the database to perform that persistence logic.</a:t>
            </a:r>
          </a:p>
          <a:p>
            <a:r>
              <a:rPr lang="en-US" dirty="0"/>
              <a:t>Stage IV &amp; V:In fourth &amp; fifth stage, hibernate is interact with Database with the help of JDBC driver. Now here hibernate perform that persistence logic which is nothing but CRUD operation. If our persistence logic is to retrieve an record then in the reverse order it will display on the console of our java program in terms of Object.</a:t>
            </a:r>
          </a:p>
        </p:txBody>
      </p:sp>
    </p:spTree>
    <p:extLst>
      <p:ext uri="{BB962C8B-B14F-4D97-AF65-F5344CB8AC3E}">
        <p14:creationId xmlns:p14="http://schemas.microsoft.com/office/powerpoint/2010/main" val="35483264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9642</TotalTime>
  <Words>917</Words>
  <Application>Microsoft Office PowerPoint</Application>
  <PresentationFormat>Widescreen</PresentationFormat>
  <Paragraphs>49</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sofia-pro</vt:lpstr>
      <vt:lpstr>Titillium Web</vt:lpstr>
      <vt:lpstr>urw-din</vt:lpstr>
      <vt:lpstr>Office Theme</vt:lpstr>
      <vt:lpstr>  Hibernate Architecture  </vt:lpstr>
      <vt:lpstr>PowerPoint Presentation</vt:lpstr>
      <vt:lpstr>Configuration</vt:lpstr>
      <vt:lpstr>SessionFactory</vt:lpstr>
      <vt:lpstr>Session</vt:lpstr>
      <vt:lpstr>Transaction</vt:lpstr>
      <vt:lpstr>Query</vt:lpstr>
      <vt:lpstr>Criteria</vt:lpstr>
      <vt:lpstr>Flow of working during operation in Hibernate Framework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prashant gaikwad</dc:creator>
  <cp:lastModifiedBy>prashant gaikwad</cp:lastModifiedBy>
  <cp:revision>110</cp:revision>
  <dcterms:created xsi:type="dcterms:W3CDTF">2021-08-12T14:59:47Z</dcterms:created>
  <dcterms:modified xsi:type="dcterms:W3CDTF">2022-08-10T04:21:04Z</dcterms:modified>
</cp:coreProperties>
</file>